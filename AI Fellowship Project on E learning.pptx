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5"/>
  </p:notesMasterIdLst>
  <p:sldIdLst>
    <p:sldId id="256" r:id="rId2"/>
    <p:sldId id="257" r:id="rId3"/>
    <p:sldId id="258" r:id="rId4"/>
    <p:sldId id="259" r:id="rId5"/>
    <p:sldId id="267" r:id="rId6"/>
    <p:sldId id="268" r:id="rId7"/>
    <p:sldId id="269" r:id="rId8"/>
    <p:sldId id="260" r:id="rId9"/>
    <p:sldId id="261" r:id="rId10"/>
    <p:sldId id="270" r:id="rId11"/>
    <p:sldId id="277" r:id="rId12"/>
    <p:sldId id="275" r:id="rId13"/>
    <p:sldId id="276" r:id="rId14"/>
    <p:sldId id="271" r:id="rId15"/>
    <p:sldId id="272" r:id="rId16"/>
    <p:sldId id="278" r:id="rId17"/>
    <p:sldId id="273" r:id="rId18"/>
    <p:sldId id="279" r:id="rId19"/>
    <p:sldId id="274" r:id="rId20"/>
    <p:sldId id="263" r:id="rId21"/>
    <p:sldId id="264" r:id="rId22"/>
    <p:sldId id="265" r:id="rId23"/>
    <p:sldId id="266" r:id="rId24"/>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34CBDC38-0F0C-EF0A-5169-FC033B4B9FA1}" v="4" dt="2026-02-19T06:35:51.132"/>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76" d="100"/>
          <a:sy n="76" d="100"/>
        </p:scale>
        <p:origin x="56" y="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microsoft.com/office/2015/10/relationships/revisionInfo" Target="revisionInfo.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viewProps" Target="viewProps.xml"/><Relationship Id="rId30"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Umamaheshwari R" userId="S::uma@edunetfoundation.org::5013a120-0240-46bd-a5d8-a54ab11ae5fe" providerId="AD" clId="Web-{34CBDC38-0F0C-EF0A-5169-FC033B4B9FA1}"/>
    <pc:docChg chg="modSld">
      <pc:chgData name="Umamaheshwari R" userId="S::uma@edunetfoundation.org::5013a120-0240-46bd-a5d8-a54ab11ae5fe" providerId="AD" clId="Web-{34CBDC38-0F0C-EF0A-5169-FC033B4B9FA1}" dt="2026-02-19T06:35:48.913" v="2" actId="20577"/>
      <pc:docMkLst>
        <pc:docMk/>
      </pc:docMkLst>
      <pc:sldChg chg="modSp">
        <pc:chgData name="Umamaheshwari R" userId="S::uma@edunetfoundation.org::5013a120-0240-46bd-a5d8-a54ab11ae5fe" providerId="AD" clId="Web-{34CBDC38-0F0C-EF0A-5169-FC033B4B9FA1}" dt="2026-02-19T06:35:48.913" v="2" actId="20577"/>
        <pc:sldMkLst>
          <pc:docMk/>
          <pc:sldMk cId="0" sldId="266"/>
        </pc:sldMkLst>
        <pc:spChg chg="mod">
          <ac:chgData name="Umamaheshwari R" userId="S::uma@edunetfoundation.org::5013a120-0240-46bd-a5d8-a54ab11ae5fe" providerId="AD" clId="Web-{34CBDC38-0F0C-EF0A-5169-FC033B4B9FA1}" dt="2026-02-19T06:35:48.913" v="2" actId="20577"/>
          <ac:spMkLst>
            <pc:docMk/>
            <pc:sldMk cId="0" sldId="266"/>
            <ac:spMk id="6"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35065441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C76571-BF7B-D978-BFFC-C942587C0EA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0D6ECD0-04EF-1590-2832-CC2792E37BA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50B8C6F-192E-BD0C-87A4-4F1DF97BA83F}"/>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B320EF04-CECC-C013-C6F0-A6776FA6D807}"/>
              </a:ext>
            </a:extLst>
          </p:cNvPr>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63438317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EA9305-9EE5-BB2D-C859-C32F931364E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DA7190E-2AFD-9C40-C398-C33FEEF688C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EE58CF4-FD16-65C0-B667-6A3AF4294AAB}"/>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6905F1B2-8B2A-8954-75E7-2F1D3364D1BD}"/>
              </a:ext>
            </a:extLst>
          </p:cNvPr>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15944648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010A03-66F7-942A-EE30-CA4E62A092A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1130822-75E4-EF58-6E86-E916ECAF3E9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64C889F-F148-9D4C-703F-F487B293C68E}"/>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D291E5D1-C7DA-F138-F967-B3A671731DFA}"/>
              </a:ext>
            </a:extLst>
          </p:cNvPr>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1267778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BCB987-5D57-AB68-EED0-43F90492D52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5086557-8FC7-DB4A-CC9B-DC92F569D7A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6D79147-F64F-29F7-C2F9-9A21D45726CA}"/>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CD0B376F-306F-9938-2635-755B4EE403C0}"/>
              </a:ext>
            </a:extLst>
          </p:cNvPr>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303311204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BF00CF-ADBB-0C2E-3BE3-FE8799E28D6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FF3D180-DF73-4A02-3E77-E4A2B845B20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2102AEB-E23B-0620-63A7-2F7C15CDD325}"/>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594AAAC1-D9D3-3149-38CD-D2D70214037F}"/>
              </a:ext>
            </a:extLst>
          </p:cNvPr>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336265153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95AA95-189E-FB9D-A848-6070C39634D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69B2C3C-8309-EF8A-2E9A-E1A0EFB4989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5693000-4003-7E98-12D9-951237283486}"/>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980C1041-85BB-2428-47B5-B068C95B4F56}"/>
              </a:ext>
            </a:extLst>
          </p:cNvPr>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418858117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A25D77-65E1-254D-B62C-900CE776F3F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4A562C4-7472-041A-4870-35791C02852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463528A-6BF1-3AE5-BC2D-9E69767A38F4}"/>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21EB70D7-603B-389B-2E64-A585B655AD09}"/>
              </a:ext>
            </a:extLst>
          </p:cNvPr>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258539270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0A2266-D25C-EADB-BE92-5613E330588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A32AC65-5372-6FDD-294C-EA74368E85B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A9F7571-562A-FB35-FD11-04DE139D4784}"/>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59E5DD43-59D9-FFF4-9B07-720F832073D9}"/>
              </a:ext>
            </a:extLst>
          </p:cNvPr>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313985038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07F76C-9E7F-61DA-A18F-E842468F9D3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4BD2A7E-F8D4-4932-8FBB-7814EC2DD19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EDE1D6B-B057-F166-5F5D-A725D9FD908C}"/>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3121CF38-F584-E35E-EE8D-FB8C7EE181B8}"/>
              </a:ext>
            </a:extLst>
          </p:cNvPr>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268468572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5E099A-D412-E9D1-893E-AD50DC85A4F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9936D62-4238-1838-1C84-294D5651BDC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2117C1A-DDC0-C0C4-0337-E68A518E0A1D}"/>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EEAE1881-4275-8A1F-B20A-4E5F0934241A}"/>
              </a:ext>
            </a:extLst>
          </p:cNvPr>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54463549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0B5313-9C51-B309-673B-1DDB9756468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17FE725-9BA1-9BA7-C437-9CF5EAB526E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5C10295-174D-E42A-BD49-4AF6D9288CCF}"/>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BC403C7D-DDCD-922E-0072-6FE3C56CCC94}"/>
              </a:ext>
            </a:extLst>
          </p:cNvPr>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398446774"/>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2BDE6B-1EA1-C6BE-6487-97B6C3593A5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1A6327E-204D-5A90-B9D4-B609222F82C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6DFF99B-C81A-9D76-32ED-DAC87A054970}"/>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FB59B567-E119-803F-35F8-5DFC861670DF}"/>
              </a:ext>
            </a:extLst>
          </p:cNvPr>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333964940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C4E60A-71D6-A150-5982-0B6C4D42A9E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EA9B927-7571-B244-477C-23826DE3068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5DDCA50-329A-7BC4-7E74-A36C5E295F79}"/>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66EC7CB6-3432-D500-5AB1-9E198F3698B2}"/>
              </a:ext>
            </a:extLst>
          </p:cNvPr>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654282718"/>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3" Type="http://schemas.openxmlformats.org/officeDocument/2006/relationships/hyperlink" Target="https://drive.google.com/file/d/1W_nhR0rbFnwODVFroQHt8lrYctWEOFwq/view?usp=sharing" TargetMode="External"/><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685800"/>
          </a:xfrm>
          <a:prstGeom prst="rect">
            <a:avLst/>
          </a:prstGeom>
          <a:solidFill>
            <a:srgbClr val="FFFFFF"/>
          </a:solidFill>
          <a:ln/>
        </p:spPr>
      </p:sp>
      <p:sp>
        <p:nvSpPr>
          <p:cNvPr id="3" name="Shape 1"/>
          <p:cNvSpPr/>
          <p:nvPr/>
        </p:nvSpPr>
        <p:spPr>
          <a:xfrm>
            <a:off x="320040" y="91440"/>
            <a:ext cx="4572000" cy="502920"/>
          </a:xfrm>
          <a:prstGeom prst="rect">
            <a:avLst/>
          </a:prstGeom>
          <a:solidFill>
            <a:srgbClr val="FFFFFF"/>
          </a:solidFill>
          <a:ln w="12700">
            <a:solidFill>
              <a:srgbClr val="CCCCCC"/>
            </a:solidFill>
            <a:prstDash val="solid"/>
          </a:ln>
        </p:spPr>
      </p:sp>
      <p:sp>
        <p:nvSpPr>
          <p:cNvPr id="4" name="Text 2"/>
          <p:cNvSpPr/>
          <p:nvPr/>
        </p:nvSpPr>
        <p:spPr>
          <a:xfrm>
            <a:off x="365760" y="137160"/>
            <a:ext cx="4480560" cy="411480"/>
          </a:xfrm>
          <a:prstGeom prst="rect">
            <a:avLst/>
          </a:prstGeom>
          <a:noFill/>
          <a:ln/>
        </p:spPr>
        <p:txBody>
          <a:bodyPr wrap="square" rtlCol="0" anchor="ctr"/>
          <a:lstStyle/>
          <a:p>
            <a:pPr marL="0" indent="0">
              <a:buNone/>
            </a:pPr>
            <a:r>
              <a:rPr lang="en-US" sz="950">
                <a:solidFill>
                  <a:srgbClr val="607D8B"/>
                </a:solidFill>
                <a:latin typeface="Calibri" pitchFamily="34" charset="0"/>
                <a:ea typeface="Calibri" pitchFamily="34" charset="-122"/>
                <a:cs typeface="Calibri" pitchFamily="34" charset="-120"/>
              </a:rPr>
              <a:t> LinkedIn  </a:t>
            </a:r>
            <a:r>
              <a:rPr lang="en-US" sz="950" err="1">
                <a:solidFill>
                  <a:srgbClr val="607D8B"/>
                </a:solidFill>
                <a:latin typeface="Calibri" pitchFamily="34" charset="0"/>
                <a:ea typeface="Calibri" pitchFamily="34" charset="-122"/>
                <a:cs typeface="Calibri" pitchFamily="34" charset="-120"/>
              </a:rPr>
              <a:t>Edunet</a:t>
            </a:r>
            <a:r>
              <a:rPr lang="en-US" sz="950">
                <a:solidFill>
                  <a:srgbClr val="607D8B"/>
                </a:solidFill>
                <a:latin typeface="Calibri" pitchFamily="34" charset="0"/>
                <a:ea typeface="Calibri" pitchFamily="34" charset="-122"/>
                <a:cs typeface="Calibri" pitchFamily="34" charset="-120"/>
              </a:rPr>
              <a:t>   </a:t>
            </a:r>
            <a:endParaRPr lang="en-US" sz="950"/>
          </a:p>
        </p:txBody>
      </p:sp>
      <p:sp>
        <p:nvSpPr>
          <p:cNvPr id="5" name="Shape 3"/>
          <p:cNvSpPr/>
          <p:nvPr/>
        </p:nvSpPr>
        <p:spPr>
          <a:xfrm>
            <a:off x="5943600" y="0"/>
            <a:ext cx="3200400" cy="5143500"/>
          </a:xfrm>
          <a:prstGeom prst="rect">
            <a:avLst/>
          </a:prstGeom>
          <a:solidFill>
            <a:srgbClr val="1B3A8A"/>
          </a:solidFill>
          <a:ln/>
        </p:spPr>
      </p:sp>
      <p:sp>
        <p:nvSpPr>
          <p:cNvPr id="6" name="Shape 4"/>
          <p:cNvSpPr/>
          <p:nvPr/>
        </p:nvSpPr>
        <p:spPr>
          <a:xfrm>
            <a:off x="5486400" y="0"/>
            <a:ext cx="502920" cy="5143500"/>
          </a:xfrm>
          <a:prstGeom prst="rect">
            <a:avLst/>
          </a:prstGeom>
          <a:solidFill>
            <a:srgbClr val="1565C0"/>
          </a:solidFill>
          <a:ln/>
        </p:spPr>
      </p:sp>
      <p:sp>
        <p:nvSpPr>
          <p:cNvPr id="9" name="Shape 7"/>
          <p:cNvSpPr/>
          <p:nvPr/>
        </p:nvSpPr>
        <p:spPr>
          <a:xfrm>
            <a:off x="6126480" y="3108960"/>
            <a:ext cx="2834640" cy="109728"/>
          </a:xfrm>
          <a:prstGeom prst="rect">
            <a:avLst/>
          </a:prstGeom>
          <a:solidFill>
            <a:srgbClr val="4FC3F7"/>
          </a:solidFill>
          <a:ln/>
        </p:spPr>
      </p:sp>
      <p:sp>
        <p:nvSpPr>
          <p:cNvPr id="10" name="Shape 8"/>
          <p:cNvSpPr/>
          <p:nvPr/>
        </p:nvSpPr>
        <p:spPr>
          <a:xfrm>
            <a:off x="6400800" y="3291840"/>
            <a:ext cx="2468880" cy="109728"/>
          </a:xfrm>
          <a:prstGeom prst="rect">
            <a:avLst/>
          </a:prstGeom>
          <a:solidFill>
            <a:srgbClr val="4FC3F7"/>
          </a:solidFill>
          <a:ln/>
        </p:spPr>
      </p:sp>
      <p:sp>
        <p:nvSpPr>
          <p:cNvPr id="11" name="Shape 9"/>
          <p:cNvSpPr/>
          <p:nvPr/>
        </p:nvSpPr>
        <p:spPr>
          <a:xfrm>
            <a:off x="6675120" y="3474720"/>
            <a:ext cx="2103120" cy="109728"/>
          </a:xfrm>
          <a:prstGeom prst="rect">
            <a:avLst/>
          </a:prstGeom>
          <a:solidFill>
            <a:srgbClr val="4FC3F7"/>
          </a:solidFill>
          <a:ln/>
        </p:spPr>
      </p:sp>
      <p:sp>
        <p:nvSpPr>
          <p:cNvPr id="12" name="Text 10"/>
          <p:cNvSpPr/>
          <p:nvPr/>
        </p:nvSpPr>
        <p:spPr>
          <a:xfrm>
            <a:off x="320040" y="960120"/>
            <a:ext cx="5029200" cy="1463040"/>
          </a:xfrm>
          <a:prstGeom prst="rect">
            <a:avLst/>
          </a:prstGeom>
          <a:noFill/>
          <a:ln/>
        </p:spPr>
        <p:txBody>
          <a:bodyPr wrap="square" rtlCol="0" anchor="ctr"/>
          <a:lstStyle/>
          <a:p>
            <a:pPr marL="0" indent="0">
              <a:buNone/>
            </a:pPr>
            <a:r>
              <a:rPr lang="en-US" sz="2800" b="1" dirty="0">
                <a:solidFill>
                  <a:srgbClr val="1B3A8A"/>
                </a:solidFill>
                <a:latin typeface="Calibri" pitchFamily="34" charset="0"/>
                <a:ea typeface="Calibri" pitchFamily="34" charset="-122"/>
                <a:cs typeface="Calibri" pitchFamily="34" charset="-120"/>
              </a:rPr>
              <a:t>Analysis of E‑Learning System Adoption Using Technology Acceptance Model (TAM)</a:t>
            </a:r>
          </a:p>
          <a:p>
            <a:pPr marL="0" indent="0">
              <a:buNone/>
            </a:pPr>
            <a:r>
              <a:rPr lang="en-US" sz="1600" dirty="0"/>
              <a:t>A Data‑Driven Study Based on Student Survey Responses</a:t>
            </a:r>
          </a:p>
        </p:txBody>
      </p:sp>
      <p:sp>
        <p:nvSpPr>
          <p:cNvPr id="13" name="Shape 11"/>
          <p:cNvSpPr/>
          <p:nvPr/>
        </p:nvSpPr>
        <p:spPr>
          <a:xfrm>
            <a:off x="320040" y="2578608"/>
            <a:ext cx="3840480" cy="384048"/>
          </a:xfrm>
          <a:prstGeom prst="rect">
            <a:avLst/>
          </a:prstGeom>
          <a:solidFill>
            <a:srgbClr val="1565C0"/>
          </a:solidFill>
          <a:ln/>
        </p:spPr>
      </p:sp>
      <p:sp>
        <p:nvSpPr>
          <p:cNvPr id="14" name="Shape 12"/>
          <p:cNvSpPr/>
          <p:nvPr/>
        </p:nvSpPr>
        <p:spPr>
          <a:xfrm>
            <a:off x="4160520" y="2578608"/>
            <a:ext cx="274320" cy="384048"/>
          </a:xfrm>
          <a:prstGeom prst="rect">
            <a:avLst/>
          </a:prstGeom>
          <a:solidFill>
            <a:srgbClr val="1B3A8A"/>
          </a:solidFill>
          <a:ln/>
        </p:spPr>
      </p:sp>
      <p:sp>
        <p:nvSpPr>
          <p:cNvPr id="15" name="Text 13"/>
          <p:cNvSpPr/>
          <p:nvPr/>
        </p:nvSpPr>
        <p:spPr>
          <a:xfrm>
            <a:off x="320040" y="2578608"/>
            <a:ext cx="3840480" cy="384048"/>
          </a:xfrm>
          <a:prstGeom prst="rect">
            <a:avLst/>
          </a:prstGeom>
          <a:noFill/>
          <a:ln/>
        </p:spPr>
        <p:txBody>
          <a:bodyPr wrap="square" rtlCol="0" anchor="ctr"/>
          <a:lstStyle/>
          <a:p>
            <a:pPr marL="0" indent="0">
              <a:buNone/>
            </a:pPr>
            <a:r>
              <a:rPr lang="en-US" sz="1300" b="1" kern="0" spc="200">
                <a:solidFill>
                  <a:srgbClr val="FFFFFF"/>
                </a:solidFill>
                <a:latin typeface="Calibri" pitchFamily="34" charset="0"/>
                <a:ea typeface="Calibri" pitchFamily="34" charset="-122"/>
                <a:cs typeface="Calibri" pitchFamily="34" charset="-120"/>
              </a:rPr>
              <a:t>P R E S E N T A T I O N   2 0 2 6</a:t>
            </a:r>
            <a:endParaRPr lang="en-US" sz="1300"/>
          </a:p>
        </p:txBody>
      </p:sp>
      <p:sp>
        <p:nvSpPr>
          <p:cNvPr id="16" name="Shape 14"/>
          <p:cNvSpPr/>
          <p:nvPr/>
        </p:nvSpPr>
        <p:spPr>
          <a:xfrm>
            <a:off x="320040" y="3611880"/>
            <a:ext cx="411480" cy="411480"/>
          </a:xfrm>
          <a:prstGeom prst="ellipse">
            <a:avLst/>
          </a:prstGeom>
          <a:solidFill>
            <a:srgbClr val="ECEFF1"/>
          </a:solidFill>
          <a:ln w="19050">
            <a:solidFill>
              <a:srgbClr val="1B3A8A"/>
            </a:solidFill>
            <a:prstDash val="solid"/>
          </a:ln>
        </p:spPr>
      </p:sp>
      <p:sp>
        <p:nvSpPr>
          <p:cNvPr id="17" name="Text 15"/>
          <p:cNvSpPr/>
          <p:nvPr/>
        </p:nvSpPr>
        <p:spPr>
          <a:xfrm>
            <a:off x="320040" y="3621024"/>
            <a:ext cx="411480" cy="393192"/>
          </a:xfrm>
          <a:prstGeom prst="rect">
            <a:avLst/>
          </a:prstGeom>
          <a:noFill/>
          <a:ln/>
        </p:spPr>
        <p:txBody>
          <a:bodyPr wrap="square" rtlCol="0" anchor="ctr"/>
          <a:lstStyle/>
          <a:p>
            <a:pPr marL="0" indent="0" algn="ctr">
              <a:buNone/>
            </a:pPr>
            <a:r>
              <a:rPr lang="en-US" sz="1600">
                <a:solidFill>
                  <a:srgbClr val="000000"/>
                </a:solidFill>
              </a:rPr>
              <a:t>👤</a:t>
            </a:r>
            <a:endParaRPr lang="en-US" sz="1600"/>
          </a:p>
        </p:txBody>
      </p:sp>
      <p:sp>
        <p:nvSpPr>
          <p:cNvPr id="18" name="Text 16"/>
          <p:cNvSpPr/>
          <p:nvPr/>
        </p:nvSpPr>
        <p:spPr>
          <a:xfrm>
            <a:off x="777240" y="3611880"/>
            <a:ext cx="1828800" cy="201168"/>
          </a:xfrm>
          <a:prstGeom prst="rect">
            <a:avLst/>
          </a:prstGeom>
          <a:noFill/>
          <a:ln/>
        </p:spPr>
        <p:txBody>
          <a:bodyPr wrap="square" rtlCol="0" anchor="ctr"/>
          <a:lstStyle/>
          <a:p>
            <a:pPr marL="0" indent="0">
              <a:buNone/>
            </a:pPr>
            <a:r>
              <a:rPr lang="en-US" sz="900">
                <a:solidFill>
                  <a:srgbClr val="607D8B"/>
                </a:solidFill>
                <a:latin typeface="Calibri" pitchFamily="34" charset="0"/>
                <a:ea typeface="Calibri" pitchFamily="34" charset="-122"/>
                <a:cs typeface="Calibri" pitchFamily="34" charset="-120"/>
              </a:rPr>
              <a:t>Student Name</a:t>
            </a:r>
            <a:endParaRPr lang="en-US" sz="900"/>
          </a:p>
        </p:txBody>
      </p:sp>
      <p:sp>
        <p:nvSpPr>
          <p:cNvPr id="19" name="Text 17"/>
          <p:cNvSpPr/>
          <p:nvPr/>
        </p:nvSpPr>
        <p:spPr>
          <a:xfrm>
            <a:off x="777240" y="3794760"/>
            <a:ext cx="1828800" cy="228600"/>
          </a:xfrm>
          <a:prstGeom prst="rect">
            <a:avLst/>
          </a:prstGeom>
          <a:noFill/>
          <a:ln/>
        </p:spPr>
        <p:txBody>
          <a:bodyPr wrap="square" rtlCol="0" anchor="ctr"/>
          <a:lstStyle/>
          <a:p>
            <a:pPr marL="0" indent="0">
              <a:buNone/>
            </a:pPr>
            <a:r>
              <a:rPr lang="en-US" sz="1100" b="1" dirty="0" err="1">
                <a:solidFill>
                  <a:srgbClr val="1B3A8A"/>
                </a:solidFill>
                <a:latin typeface="Calibri" pitchFamily="34" charset="0"/>
                <a:ea typeface="Calibri" pitchFamily="34" charset="-122"/>
                <a:cs typeface="Calibri" pitchFamily="34" charset="-120"/>
              </a:rPr>
              <a:t>Dr.Preeti</a:t>
            </a:r>
            <a:r>
              <a:rPr lang="en-US" sz="1100" b="1" dirty="0">
                <a:solidFill>
                  <a:srgbClr val="1B3A8A"/>
                </a:solidFill>
                <a:latin typeface="Calibri" pitchFamily="34" charset="0"/>
                <a:ea typeface="Calibri" pitchFamily="34" charset="-122"/>
                <a:cs typeface="Calibri" pitchFamily="34" charset="-120"/>
              </a:rPr>
              <a:t> Singh</a:t>
            </a:r>
            <a:endParaRPr lang="en-US" sz="1100" dirty="0"/>
          </a:p>
        </p:txBody>
      </p:sp>
      <p:sp>
        <p:nvSpPr>
          <p:cNvPr id="20" name="Shape 18"/>
          <p:cNvSpPr/>
          <p:nvPr/>
        </p:nvSpPr>
        <p:spPr>
          <a:xfrm>
            <a:off x="2834640" y="3611880"/>
            <a:ext cx="411480" cy="411480"/>
          </a:xfrm>
          <a:prstGeom prst="ellipse">
            <a:avLst/>
          </a:prstGeom>
          <a:solidFill>
            <a:srgbClr val="ECEFF1"/>
          </a:solidFill>
          <a:ln w="19050">
            <a:solidFill>
              <a:srgbClr val="1B3A8A"/>
            </a:solidFill>
            <a:prstDash val="solid"/>
          </a:ln>
        </p:spPr>
      </p:sp>
      <p:sp>
        <p:nvSpPr>
          <p:cNvPr id="21" name="Text 19"/>
          <p:cNvSpPr/>
          <p:nvPr/>
        </p:nvSpPr>
        <p:spPr>
          <a:xfrm>
            <a:off x="2834640" y="3621024"/>
            <a:ext cx="411480" cy="393192"/>
          </a:xfrm>
          <a:prstGeom prst="rect">
            <a:avLst/>
          </a:prstGeom>
          <a:noFill/>
          <a:ln/>
        </p:spPr>
        <p:txBody>
          <a:bodyPr wrap="square" rtlCol="0" anchor="ctr"/>
          <a:lstStyle/>
          <a:p>
            <a:pPr marL="0" indent="0" algn="ctr">
              <a:buNone/>
            </a:pPr>
            <a:r>
              <a:rPr lang="en-US" sz="1600">
                <a:solidFill>
                  <a:srgbClr val="000000"/>
                </a:solidFill>
              </a:rPr>
              <a:t>✉</a:t>
            </a:r>
            <a:endParaRPr lang="en-US" sz="1600"/>
          </a:p>
        </p:txBody>
      </p:sp>
      <p:sp>
        <p:nvSpPr>
          <p:cNvPr id="22" name="Text 20"/>
          <p:cNvSpPr/>
          <p:nvPr/>
        </p:nvSpPr>
        <p:spPr>
          <a:xfrm>
            <a:off x="3291840" y="3611880"/>
            <a:ext cx="1828800" cy="201168"/>
          </a:xfrm>
          <a:prstGeom prst="rect">
            <a:avLst/>
          </a:prstGeom>
          <a:noFill/>
          <a:ln/>
        </p:spPr>
        <p:txBody>
          <a:bodyPr wrap="square" rtlCol="0" anchor="ctr"/>
          <a:lstStyle/>
          <a:p>
            <a:pPr marL="0" indent="0">
              <a:buNone/>
            </a:pPr>
            <a:r>
              <a:rPr lang="en-US" sz="900">
                <a:solidFill>
                  <a:srgbClr val="607D8B"/>
                </a:solidFill>
                <a:latin typeface="Calibri" pitchFamily="34" charset="0"/>
                <a:ea typeface="Calibri" pitchFamily="34" charset="-122"/>
                <a:cs typeface="Calibri" pitchFamily="34" charset="-120"/>
              </a:rPr>
              <a:t>Student Email</a:t>
            </a:r>
            <a:endParaRPr lang="en-US" sz="900"/>
          </a:p>
        </p:txBody>
      </p:sp>
      <p:sp>
        <p:nvSpPr>
          <p:cNvPr id="23" name="Text 21"/>
          <p:cNvSpPr/>
          <p:nvPr/>
        </p:nvSpPr>
        <p:spPr>
          <a:xfrm>
            <a:off x="3291840" y="3794760"/>
            <a:ext cx="1828800" cy="228600"/>
          </a:xfrm>
          <a:prstGeom prst="rect">
            <a:avLst/>
          </a:prstGeom>
          <a:noFill/>
          <a:ln/>
        </p:spPr>
        <p:txBody>
          <a:bodyPr wrap="square" rtlCol="0" anchor="ctr"/>
          <a:lstStyle/>
          <a:p>
            <a:pPr marL="0" indent="0">
              <a:buNone/>
            </a:pPr>
            <a:r>
              <a:rPr lang="en-US" sz="1100" b="1" dirty="0">
                <a:solidFill>
                  <a:srgbClr val="1B3A8A"/>
                </a:solidFill>
                <a:latin typeface="Calibri" pitchFamily="34" charset="0"/>
                <a:ea typeface="Calibri" pitchFamily="34" charset="-122"/>
                <a:cs typeface="Calibri" pitchFamily="34" charset="-120"/>
              </a:rPr>
              <a:t>preeti.singh@itmgoi.in</a:t>
            </a:r>
            <a:endParaRPr lang="en-US" sz="1100" dirty="0"/>
          </a:p>
        </p:txBody>
      </p:sp>
      <p:sp>
        <p:nvSpPr>
          <p:cNvPr id="24" name="Shape 22"/>
          <p:cNvSpPr/>
          <p:nvPr/>
        </p:nvSpPr>
        <p:spPr>
          <a:xfrm>
            <a:off x="277722" y="4384041"/>
            <a:ext cx="411480" cy="411480"/>
          </a:xfrm>
          <a:prstGeom prst="ellipse">
            <a:avLst/>
          </a:prstGeom>
          <a:solidFill>
            <a:srgbClr val="ECEFF1"/>
          </a:solidFill>
          <a:ln w="19050">
            <a:solidFill>
              <a:srgbClr val="1B3A8A"/>
            </a:solidFill>
            <a:prstDash val="solid"/>
          </a:ln>
        </p:spPr>
      </p:sp>
      <p:sp>
        <p:nvSpPr>
          <p:cNvPr id="25" name="Text 23"/>
          <p:cNvSpPr/>
          <p:nvPr/>
        </p:nvSpPr>
        <p:spPr>
          <a:xfrm>
            <a:off x="277722" y="4393185"/>
            <a:ext cx="411480" cy="393192"/>
          </a:xfrm>
          <a:prstGeom prst="rect">
            <a:avLst/>
          </a:prstGeom>
          <a:noFill/>
          <a:ln/>
        </p:spPr>
        <p:txBody>
          <a:bodyPr wrap="square" rtlCol="0" anchor="ctr"/>
          <a:lstStyle/>
          <a:p>
            <a:pPr marL="0" indent="0" algn="ctr">
              <a:buNone/>
            </a:pPr>
            <a:r>
              <a:rPr lang="en-US" sz="1600">
                <a:solidFill>
                  <a:srgbClr val="000000"/>
                </a:solidFill>
              </a:rPr>
              <a:t>📖</a:t>
            </a:r>
            <a:endParaRPr lang="en-US" sz="1600"/>
          </a:p>
        </p:txBody>
      </p:sp>
      <p:sp>
        <p:nvSpPr>
          <p:cNvPr id="27" name="Text 25"/>
          <p:cNvSpPr/>
          <p:nvPr/>
        </p:nvSpPr>
        <p:spPr>
          <a:xfrm>
            <a:off x="782333" y="4478866"/>
            <a:ext cx="1828800" cy="228600"/>
          </a:xfrm>
          <a:prstGeom prst="rect">
            <a:avLst/>
          </a:prstGeom>
          <a:noFill/>
          <a:ln/>
        </p:spPr>
        <p:txBody>
          <a:bodyPr wrap="square" rtlCol="0" anchor="ctr"/>
          <a:lstStyle/>
          <a:p>
            <a:pPr marL="0" indent="0">
              <a:buNone/>
            </a:pPr>
            <a:r>
              <a:rPr lang="en-US" sz="1100" b="1" dirty="0">
                <a:solidFill>
                  <a:srgbClr val="1B3A8A"/>
                </a:solidFill>
                <a:latin typeface="Calibri" pitchFamily="34" charset="0"/>
                <a:ea typeface="Calibri" pitchFamily="34" charset="-122"/>
                <a:cs typeface="Calibri" pitchFamily="34" charset="-120"/>
              </a:rPr>
              <a:t>Mr. Adarsh</a:t>
            </a:r>
            <a:endParaRPr lang="en-US" sz="1100" dirty="0"/>
          </a:p>
        </p:txBody>
      </p:sp>
      <p:sp>
        <p:nvSpPr>
          <p:cNvPr id="28" name="Shape 26"/>
          <p:cNvSpPr/>
          <p:nvPr/>
        </p:nvSpPr>
        <p:spPr>
          <a:xfrm>
            <a:off x="0" y="4983480"/>
            <a:ext cx="9144000" cy="160020"/>
          </a:xfrm>
          <a:prstGeom prst="rect">
            <a:avLst/>
          </a:prstGeom>
          <a:solidFill>
            <a:srgbClr val="1B3A8A"/>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02920"/>
          </a:xfrm>
          <a:prstGeom prst="rect">
            <a:avLst/>
          </a:prstGeom>
          <a:solidFill>
            <a:srgbClr val="1B3A8A"/>
          </a:solidFill>
          <a:ln/>
        </p:spPr>
      </p:sp>
      <p:sp>
        <p:nvSpPr>
          <p:cNvPr id="3" name="Text 1"/>
          <p:cNvSpPr/>
          <p:nvPr/>
        </p:nvSpPr>
        <p:spPr>
          <a:xfrm>
            <a:off x="7772400" y="45720"/>
            <a:ext cx="1280160" cy="411480"/>
          </a:xfrm>
          <a:prstGeom prst="rect">
            <a:avLst/>
          </a:prstGeom>
          <a:noFill/>
          <a:ln/>
        </p:spPr>
        <p:txBody>
          <a:bodyPr wrap="square" rtlCol="0" anchor="ctr"/>
          <a:lstStyle/>
          <a:p>
            <a:pPr marL="0" indent="0" algn="r">
              <a:buNone/>
            </a:pPr>
            <a:r>
              <a:rPr lang="en-US" sz="800" b="1">
                <a:solidFill>
                  <a:srgbClr val="4FC3F7"/>
                </a:solidFill>
                <a:latin typeface="Calibri" pitchFamily="34" charset="0"/>
                <a:ea typeface="Calibri" pitchFamily="34" charset="-122"/>
                <a:cs typeface="Calibri" pitchFamily="34" charset="-120"/>
              </a:rPr>
              <a:t>edunet</a:t>
            </a:r>
            <a:endParaRPr lang="en-US" sz="800"/>
          </a:p>
          <a:p>
            <a:pPr marL="0" indent="0" algn="r">
              <a:buNone/>
            </a:pPr>
            <a:r>
              <a:rPr lang="en-US" sz="800" b="1">
                <a:solidFill>
                  <a:srgbClr val="4FC3F7"/>
                </a:solidFill>
                <a:latin typeface="Calibri" pitchFamily="34" charset="0"/>
                <a:ea typeface="Calibri" pitchFamily="34" charset="-122"/>
                <a:cs typeface="Calibri" pitchFamily="34" charset="-120"/>
              </a:rPr>
              <a:t>foundation</a:t>
            </a:r>
            <a:endParaRPr lang="en-US" sz="800"/>
          </a:p>
        </p:txBody>
      </p:sp>
      <p:sp>
        <p:nvSpPr>
          <p:cNvPr id="4" name="Text 2"/>
          <p:cNvSpPr/>
          <p:nvPr/>
        </p:nvSpPr>
        <p:spPr>
          <a:xfrm>
            <a:off x="320040" y="621792"/>
            <a:ext cx="8229600" cy="438912"/>
          </a:xfrm>
          <a:prstGeom prst="rect">
            <a:avLst/>
          </a:prstGeom>
          <a:noFill/>
          <a:ln/>
        </p:spPr>
        <p:txBody>
          <a:bodyPr wrap="square" rtlCol="0" anchor="ctr"/>
          <a:lstStyle/>
          <a:p>
            <a:pPr marL="0" indent="0">
              <a:buNone/>
            </a:pPr>
            <a:r>
              <a:rPr lang="en-US" sz="2200" b="1">
                <a:solidFill>
                  <a:srgbClr val="1B3A8A"/>
                </a:solidFill>
                <a:latin typeface="Calibri" pitchFamily="34" charset="0"/>
                <a:ea typeface="Calibri" pitchFamily="34" charset="-122"/>
                <a:cs typeface="Calibri" pitchFamily="34" charset="-120"/>
              </a:rPr>
              <a:t>OUTLINE</a:t>
            </a:r>
            <a:endParaRPr lang="en-US" sz="2200"/>
          </a:p>
        </p:txBody>
      </p:sp>
      <p:sp>
        <p:nvSpPr>
          <p:cNvPr id="5" name="Shape 3"/>
          <p:cNvSpPr/>
          <p:nvPr/>
        </p:nvSpPr>
        <p:spPr>
          <a:xfrm>
            <a:off x="0" y="4983480"/>
            <a:ext cx="9144000" cy="160020"/>
          </a:xfrm>
          <a:prstGeom prst="rect">
            <a:avLst/>
          </a:prstGeom>
          <a:solidFill>
            <a:srgbClr val="1B3A8A"/>
          </a:solidFill>
          <a:ln/>
        </p:spPr>
      </p:sp>
      <p:sp>
        <p:nvSpPr>
          <p:cNvPr id="6" name="Text 4"/>
          <p:cNvSpPr/>
          <p:nvPr/>
        </p:nvSpPr>
        <p:spPr>
          <a:xfrm>
            <a:off x="457200" y="1234440"/>
            <a:ext cx="4389120" cy="402336"/>
          </a:xfrm>
          <a:prstGeom prst="rect">
            <a:avLst/>
          </a:prstGeom>
          <a:noFill/>
          <a:ln/>
        </p:spPr>
        <p:txBody>
          <a:bodyPr wrap="square" rtlCol="0" anchor="ctr"/>
          <a:lstStyle/>
          <a:p>
            <a:pPr marL="0" indent="0">
              <a:buNone/>
            </a:pPr>
            <a:r>
              <a:rPr lang="en-US" sz="1300" b="1">
                <a:solidFill>
                  <a:srgbClr val="1565C0"/>
                </a:solidFill>
                <a:latin typeface="Calibri" pitchFamily="34" charset="0"/>
                <a:ea typeface="Calibri" pitchFamily="34" charset="-122"/>
                <a:cs typeface="Calibri" pitchFamily="34" charset="-120"/>
              </a:rPr>
              <a:t>• </a:t>
            </a:r>
            <a:r>
              <a:rPr lang="en-US" sz="1300">
                <a:solidFill>
                  <a:srgbClr val="1A1A2E"/>
                </a:solidFill>
                <a:latin typeface="Calibri" pitchFamily="34" charset="0"/>
                <a:ea typeface="Calibri" pitchFamily="34" charset="-122"/>
                <a:cs typeface="Calibri" pitchFamily="34" charset="-120"/>
              </a:rPr>
              <a:t>Abstract of the Project</a:t>
            </a:r>
            <a:endParaRPr lang="en-US" sz="1300"/>
          </a:p>
        </p:txBody>
      </p:sp>
      <p:sp>
        <p:nvSpPr>
          <p:cNvPr id="7" name="Text 5"/>
          <p:cNvSpPr/>
          <p:nvPr/>
        </p:nvSpPr>
        <p:spPr>
          <a:xfrm>
            <a:off x="457200" y="1664208"/>
            <a:ext cx="4389120" cy="402336"/>
          </a:xfrm>
          <a:prstGeom prst="rect">
            <a:avLst/>
          </a:prstGeom>
          <a:noFill/>
          <a:ln/>
        </p:spPr>
        <p:txBody>
          <a:bodyPr wrap="square" rtlCol="0" anchor="ctr"/>
          <a:lstStyle/>
          <a:p>
            <a:pPr marL="0" indent="0">
              <a:buNone/>
            </a:pPr>
            <a:r>
              <a:rPr lang="en-US" sz="1300" b="1">
                <a:solidFill>
                  <a:srgbClr val="1565C0"/>
                </a:solidFill>
                <a:latin typeface="Calibri" pitchFamily="34" charset="0"/>
                <a:ea typeface="Calibri" pitchFamily="34" charset="-122"/>
                <a:cs typeface="Calibri" pitchFamily="34" charset="-120"/>
              </a:rPr>
              <a:t>• </a:t>
            </a:r>
            <a:r>
              <a:rPr lang="en-US" sz="1300">
                <a:solidFill>
                  <a:srgbClr val="1A1A2E"/>
                </a:solidFill>
                <a:latin typeface="Calibri" pitchFamily="34" charset="0"/>
                <a:ea typeface="Calibri" pitchFamily="34" charset="-122"/>
                <a:cs typeface="Calibri" pitchFamily="34" charset="-120"/>
              </a:rPr>
              <a:t>Problem Statement</a:t>
            </a:r>
            <a:endParaRPr lang="en-US" sz="1300"/>
          </a:p>
        </p:txBody>
      </p:sp>
      <p:sp>
        <p:nvSpPr>
          <p:cNvPr id="8" name="Text 6"/>
          <p:cNvSpPr/>
          <p:nvPr/>
        </p:nvSpPr>
        <p:spPr>
          <a:xfrm>
            <a:off x="457200" y="2093976"/>
            <a:ext cx="4389120" cy="402336"/>
          </a:xfrm>
          <a:prstGeom prst="rect">
            <a:avLst/>
          </a:prstGeom>
          <a:noFill/>
          <a:ln/>
        </p:spPr>
        <p:txBody>
          <a:bodyPr wrap="square" rtlCol="0" anchor="ctr"/>
          <a:lstStyle/>
          <a:p>
            <a:pPr marL="0" indent="0">
              <a:buNone/>
            </a:pPr>
            <a:r>
              <a:rPr lang="en-US" sz="1300" b="1">
                <a:solidFill>
                  <a:srgbClr val="1565C0"/>
                </a:solidFill>
                <a:latin typeface="Calibri" pitchFamily="34" charset="0"/>
                <a:ea typeface="Calibri" pitchFamily="34" charset="-122"/>
                <a:cs typeface="Calibri" pitchFamily="34" charset="-120"/>
              </a:rPr>
              <a:t>• </a:t>
            </a:r>
            <a:r>
              <a:rPr lang="en-US" sz="1300">
                <a:solidFill>
                  <a:srgbClr val="1A1A2E"/>
                </a:solidFill>
                <a:latin typeface="Calibri" pitchFamily="34" charset="0"/>
                <a:ea typeface="Calibri" pitchFamily="34" charset="-122"/>
                <a:cs typeface="Calibri" pitchFamily="34" charset="-120"/>
              </a:rPr>
              <a:t>Proposed Solution</a:t>
            </a:r>
            <a:endParaRPr lang="en-US" sz="1300"/>
          </a:p>
        </p:txBody>
      </p:sp>
      <p:sp>
        <p:nvSpPr>
          <p:cNvPr id="9" name="Text 7"/>
          <p:cNvSpPr/>
          <p:nvPr/>
        </p:nvSpPr>
        <p:spPr>
          <a:xfrm>
            <a:off x="457200" y="2523744"/>
            <a:ext cx="4389120" cy="402336"/>
          </a:xfrm>
          <a:prstGeom prst="rect">
            <a:avLst/>
          </a:prstGeom>
          <a:noFill/>
          <a:ln/>
        </p:spPr>
        <p:txBody>
          <a:bodyPr wrap="square" rtlCol="0" anchor="ctr"/>
          <a:lstStyle/>
          <a:p>
            <a:pPr marL="0" indent="0">
              <a:buNone/>
            </a:pPr>
            <a:r>
              <a:rPr lang="en-US" sz="1300" b="1">
                <a:solidFill>
                  <a:srgbClr val="1565C0"/>
                </a:solidFill>
                <a:latin typeface="Calibri" pitchFamily="34" charset="0"/>
                <a:ea typeface="Calibri" pitchFamily="34" charset="-122"/>
                <a:cs typeface="Calibri" pitchFamily="34" charset="-120"/>
              </a:rPr>
              <a:t>• </a:t>
            </a:r>
            <a:r>
              <a:rPr lang="en-US" sz="1300">
                <a:solidFill>
                  <a:srgbClr val="1A1A2E"/>
                </a:solidFill>
                <a:latin typeface="Calibri" pitchFamily="34" charset="0"/>
                <a:ea typeface="Calibri" pitchFamily="34" charset="-122"/>
                <a:cs typeface="Calibri" pitchFamily="34" charset="-120"/>
              </a:rPr>
              <a:t>System Architecture</a:t>
            </a:r>
            <a:endParaRPr lang="en-US" sz="1300"/>
          </a:p>
        </p:txBody>
      </p:sp>
      <p:sp>
        <p:nvSpPr>
          <p:cNvPr id="10" name="Text 8"/>
          <p:cNvSpPr/>
          <p:nvPr/>
        </p:nvSpPr>
        <p:spPr>
          <a:xfrm>
            <a:off x="457200" y="2953512"/>
            <a:ext cx="4389120" cy="402336"/>
          </a:xfrm>
          <a:prstGeom prst="rect">
            <a:avLst/>
          </a:prstGeom>
          <a:noFill/>
          <a:ln/>
        </p:spPr>
        <p:txBody>
          <a:bodyPr wrap="square" rtlCol="0" anchor="ctr"/>
          <a:lstStyle/>
          <a:p>
            <a:pPr marL="0" indent="0">
              <a:buNone/>
            </a:pPr>
            <a:r>
              <a:rPr lang="en-US" sz="1300" b="1">
                <a:solidFill>
                  <a:srgbClr val="1565C0"/>
                </a:solidFill>
                <a:latin typeface="Calibri" pitchFamily="34" charset="0"/>
                <a:ea typeface="Calibri" pitchFamily="34" charset="-122"/>
                <a:cs typeface="Calibri" pitchFamily="34" charset="-120"/>
              </a:rPr>
              <a:t>• </a:t>
            </a:r>
            <a:r>
              <a:rPr lang="en-US" sz="1300">
                <a:solidFill>
                  <a:srgbClr val="1A1A2E"/>
                </a:solidFill>
                <a:latin typeface="Calibri" pitchFamily="34" charset="0"/>
                <a:ea typeface="Calibri" pitchFamily="34" charset="-122"/>
                <a:cs typeface="Calibri" pitchFamily="34" charset="-120"/>
              </a:rPr>
              <a:t>Live Demo of the Project</a:t>
            </a:r>
            <a:endParaRPr lang="en-US" sz="1300"/>
          </a:p>
        </p:txBody>
      </p:sp>
      <p:sp>
        <p:nvSpPr>
          <p:cNvPr id="11" name="Text 9"/>
          <p:cNvSpPr/>
          <p:nvPr/>
        </p:nvSpPr>
        <p:spPr>
          <a:xfrm>
            <a:off x="457200" y="3383280"/>
            <a:ext cx="4389120" cy="402336"/>
          </a:xfrm>
          <a:prstGeom prst="rect">
            <a:avLst/>
          </a:prstGeom>
          <a:noFill/>
          <a:ln/>
        </p:spPr>
        <p:txBody>
          <a:bodyPr wrap="square" rtlCol="0" anchor="ctr"/>
          <a:lstStyle/>
          <a:p>
            <a:pPr marL="0" indent="0">
              <a:buNone/>
            </a:pPr>
            <a:r>
              <a:rPr lang="en-US" sz="1300" b="1">
                <a:solidFill>
                  <a:srgbClr val="1565C0"/>
                </a:solidFill>
                <a:latin typeface="Calibri" pitchFamily="34" charset="0"/>
                <a:ea typeface="Calibri" pitchFamily="34" charset="-122"/>
                <a:cs typeface="Calibri" pitchFamily="34" charset="-120"/>
              </a:rPr>
              <a:t>• </a:t>
            </a:r>
            <a:r>
              <a:rPr lang="en-US" sz="1300">
                <a:solidFill>
                  <a:srgbClr val="1A1A2E"/>
                </a:solidFill>
                <a:latin typeface="Calibri" pitchFamily="34" charset="0"/>
                <a:ea typeface="Calibri" pitchFamily="34" charset="-122"/>
                <a:cs typeface="Calibri" pitchFamily="34" charset="-120"/>
              </a:rPr>
              <a:t>Embedded Video of Project</a:t>
            </a:r>
            <a:endParaRPr lang="en-US" sz="1300"/>
          </a:p>
        </p:txBody>
      </p:sp>
      <p:sp>
        <p:nvSpPr>
          <p:cNvPr id="12" name="Text 10"/>
          <p:cNvSpPr/>
          <p:nvPr/>
        </p:nvSpPr>
        <p:spPr>
          <a:xfrm>
            <a:off x="457200" y="3813048"/>
            <a:ext cx="4389120" cy="402336"/>
          </a:xfrm>
          <a:prstGeom prst="rect">
            <a:avLst/>
          </a:prstGeom>
          <a:noFill/>
          <a:ln/>
        </p:spPr>
        <p:txBody>
          <a:bodyPr wrap="square" rtlCol="0" anchor="ctr"/>
          <a:lstStyle/>
          <a:p>
            <a:pPr marL="0" indent="0">
              <a:buNone/>
            </a:pPr>
            <a:r>
              <a:rPr lang="en-US" sz="1300" b="1">
                <a:solidFill>
                  <a:srgbClr val="1565C0"/>
                </a:solidFill>
                <a:latin typeface="Calibri" pitchFamily="34" charset="0"/>
                <a:ea typeface="Calibri" pitchFamily="34" charset="-122"/>
                <a:cs typeface="Calibri" pitchFamily="34" charset="-120"/>
              </a:rPr>
              <a:t>• </a:t>
            </a:r>
            <a:r>
              <a:rPr lang="en-US" sz="1300">
                <a:solidFill>
                  <a:srgbClr val="1A1A2E"/>
                </a:solidFill>
                <a:latin typeface="Calibri" pitchFamily="34" charset="0"/>
                <a:ea typeface="Calibri" pitchFamily="34" charset="-122"/>
                <a:cs typeface="Calibri" pitchFamily="34" charset="-120"/>
              </a:rPr>
              <a:t>Conclusion</a:t>
            </a:r>
            <a:endParaRPr lang="en-US" sz="1300"/>
          </a:p>
        </p:txBody>
      </p:sp>
      <p:sp>
        <p:nvSpPr>
          <p:cNvPr id="13" name="Text 11"/>
          <p:cNvSpPr/>
          <p:nvPr/>
        </p:nvSpPr>
        <p:spPr>
          <a:xfrm>
            <a:off x="457200" y="4242816"/>
            <a:ext cx="4389120" cy="402336"/>
          </a:xfrm>
          <a:prstGeom prst="rect">
            <a:avLst/>
          </a:prstGeom>
          <a:noFill/>
          <a:ln/>
        </p:spPr>
        <p:txBody>
          <a:bodyPr wrap="square" rtlCol="0" anchor="ctr"/>
          <a:lstStyle/>
          <a:p>
            <a:pPr marL="0" indent="0">
              <a:buNone/>
            </a:pPr>
            <a:r>
              <a:rPr lang="en-US" sz="1300" b="1">
                <a:solidFill>
                  <a:srgbClr val="1565C0"/>
                </a:solidFill>
                <a:latin typeface="Calibri" pitchFamily="34" charset="0"/>
                <a:ea typeface="Calibri" pitchFamily="34" charset="-122"/>
                <a:cs typeface="Calibri" pitchFamily="34" charset="-120"/>
              </a:rPr>
              <a:t>• </a:t>
            </a:r>
            <a:r>
              <a:rPr lang="en-US" sz="1300">
                <a:solidFill>
                  <a:srgbClr val="1A1A2E"/>
                </a:solidFill>
                <a:latin typeface="Calibri" pitchFamily="34" charset="0"/>
                <a:ea typeface="Calibri" pitchFamily="34" charset="-122"/>
                <a:cs typeface="Calibri" pitchFamily="34" charset="-120"/>
              </a:rPr>
              <a:t>Future Scope</a:t>
            </a:r>
            <a:endParaRPr lang="en-US" sz="130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02920"/>
          </a:xfrm>
          <a:prstGeom prst="rect">
            <a:avLst/>
          </a:prstGeom>
          <a:solidFill>
            <a:srgbClr val="1B3A8A"/>
          </a:solidFill>
          <a:ln/>
        </p:spPr>
      </p:sp>
      <p:sp>
        <p:nvSpPr>
          <p:cNvPr id="3" name="Text 1"/>
          <p:cNvSpPr/>
          <p:nvPr/>
        </p:nvSpPr>
        <p:spPr>
          <a:xfrm>
            <a:off x="7772400" y="45720"/>
            <a:ext cx="1280160" cy="411480"/>
          </a:xfrm>
          <a:prstGeom prst="rect">
            <a:avLst/>
          </a:prstGeom>
          <a:noFill/>
          <a:ln/>
        </p:spPr>
        <p:txBody>
          <a:bodyPr wrap="square" rtlCol="0" anchor="ctr"/>
          <a:lstStyle/>
          <a:p>
            <a:pPr marL="0" indent="0" algn="r">
              <a:buNone/>
            </a:pPr>
            <a:r>
              <a:rPr lang="en-US" sz="800" b="1">
                <a:solidFill>
                  <a:srgbClr val="4FC3F7"/>
                </a:solidFill>
                <a:latin typeface="Calibri" pitchFamily="34" charset="0"/>
                <a:ea typeface="Calibri" pitchFamily="34" charset="-122"/>
                <a:cs typeface="Calibri" pitchFamily="34" charset="-120"/>
              </a:rPr>
              <a:t>edunet</a:t>
            </a:r>
            <a:endParaRPr lang="en-US" sz="800"/>
          </a:p>
          <a:p>
            <a:pPr marL="0" indent="0" algn="r">
              <a:buNone/>
            </a:pPr>
            <a:r>
              <a:rPr lang="en-US" sz="800" b="1">
                <a:solidFill>
                  <a:srgbClr val="4FC3F7"/>
                </a:solidFill>
                <a:latin typeface="Calibri" pitchFamily="34" charset="0"/>
                <a:ea typeface="Calibri" pitchFamily="34" charset="-122"/>
                <a:cs typeface="Calibri" pitchFamily="34" charset="-120"/>
              </a:rPr>
              <a:t>foundation</a:t>
            </a:r>
            <a:endParaRPr lang="en-US" sz="800"/>
          </a:p>
        </p:txBody>
      </p:sp>
      <p:sp>
        <p:nvSpPr>
          <p:cNvPr id="4" name="Text 2"/>
          <p:cNvSpPr/>
          <p:nvPr/>
        </p:nvSpPr>
        <p:spPr>
          <a:xfrm>
            <a:off x="320040" y="621792"/>
            <a:ext cx="8229600" cy="438912"/>
          </a:xfrm>
          <a:prstGeom prst="rect">
            <a:avLst/>
          </a:prstGeom>
          <a:noFill/>
          <a:ln/>
        </p:spPr>
        <p:txBody>
          <a:bodyPr wrap="square" rtlCol="0" anchor="ctr"/>
          <a:lstStyle/>
          <a:p>
            <a:pPr marL="0" indent="0">
              <a:buNone/>
            </a:pPr>
            <a:r>
              <a:rPr lang="en-US" sz="2200" b="1">
                <a:solidFill>
                  <a:srgbClr val="1B3A8A"/>
                </a:solidFill>
                <a:latin typeface="Calibri" pitchFamily="34" charset="0"/>
                <a:ea typeface="Calibri" pitchFamily="34" charset="-122"/>
                <a:cs typeface="Calibri" pitchFamily="34" charset="-120"/>
              </a:rPr>
              <a:t>Abstract</a:t>
            </a:r>
            <a:endParaRPr lang="en-US" sz="2200"/>
          </a:p>
        </p:txBody>
      </p:sp>
      <p:sp>
        <p:nvSpPr>
          <p:cNvPr id="5" name="Shape 3"/>
          <p:cNvSpPr/>
          <p:nvPr/>
        </p:nvSpPr>
        <p:spPr>
          <a:xfrm>
            <a:off x="0" y="4983480"/>
            <a:ext cx="9144000" cy="160020"/>
          </a:xfrm>
          <a:prstGeom prst="rect">
            <a:avLst/>
          </a:prstGeom>
          <a:solidFill>
            <a:srgbClr val="1B3A8A"/>
          </a:solidFill>
          <a:ln/>
        </p:spPr>
      </p:sp>
      <p:sp>
        <p:nvSpPr>
          <p:cNvPr id="8" name="TextBox 7">
            <a:extLst>
              <a:ext uri="{FF2B5EF4-FFF2-40B4-BE49-F238E27FC236}">
                <a16:creationId xmlns:a16="http://schemas.microsoft.com/office/drawing/2014/main" id="{A78130BE-1828-6286-F2C9-1942C19F80ED}"/>
              </a:ext>
            </a:extLst>
          </p:cNvPr>
          <p:cNvSpPr txBox="1"/>
          <p:nvPr/>
        </p:nvSpPr>
        <p:spPr>
          <a:xfrm>
            <a:off x="320040" y="1179576"/>
            <a:ext cx="8318634" cy="3416320"/>
          </a:xfrm>
          <a:prstGeom prst="rect">
            <a:avLst/>
          </a:prstGeom>
          <a:noFill/>
        </p:spPr>
        <p:txBody>
          <a:bodyPr wrap="square">
            <a:spAutoFit/>
          </a:bodyPr>
          <a:lstStyle/>
          <a:p>
            <a:pPr algn="just"/>
            <a:r>
              <a:rPr lang="en-US" sz="2400" dirty="0"/>
              <a:t>This project analyzes students’ adoption of e‑learning systems using the Technology Acceptance Model (TAM). Data was collected through a structured questionnaire covering beliefs, perceived usefulness, perceived ease of use, self‑efficacy, and behavioral intention. The responses were analyzed using Power BI dashboards and DAX measures to generate meaningful insights. The findings indicate a strong positive perception toward e‑learning platforms, supporting the relevance of TAM constructs in understanding technology adoption in education</a:t>
            </a:r>
            <a:endParaRPr lang="en-IN" sz="2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02920"/>
          </a:xfrm>
          <a:prstGeom prst="rect">
            <a:avLst/>
          </a:prstGeom>
          <a:solidFill>
            <a:srgbClr val="1B3A8A"/>
          </a:solidFill>
          <a:ln/>
        </p:spPr>
      </p:sp>
      <p:sp>
        <p:nvSpPr>
          <p:cNvPr id="3" name="Text 1"/>
          <p:cNvSpPr/>
          <p:nvPr/>
        </p:nvSpPr>
        <p:spPr>
          <a:xfrm>
            <a:off x="7772400" y="45720"/>
            <a:ext cx="1280160" cy="411480"/>
          </a:xfrm>
          <a:prstGeom prst="rect">
            <a:avLst/>
          </a:prstGeom>
          <a:noFill/>
          <a:ln/>
        </p:spPr>
        <p:txBody>
          <a:bodyPr wrap="square" rtlCol="0" anchor="ctr"/>
          <a:lstStyle/>
          <a:p>
            <a:pPr marL="0" indent="0" algn="r">
              <a:buNone/>
            </a:pPr>
            <a:r>
              <a:rPr lang="en-US" sz="800" b="1">
                <a:solidFill>
                  <a:srgbClr val="4FC3F7"/>
                </a:solidFill>
                <a:latin typeface="Calibri" pitchFamily="34" charset="0"/>
                <a:ea typeface="Calibri" pitchFamily="34" charset="-122"/>
                <a:cs typeface="Calibri" pitchFamily="34" charset="-120"/>
              </a:rPr>
              <a:t>edunet</a:t>
            </a:r>
            <a:endParaRPr lang="en-US" sz="800"/>
          </a:p>
          <a:p>
            <a:pPr marL="0" indent="0" algn="r">
              <a:buNone/>
            </a:pPr>
            <a:r>
              <a:rPr lang="en-US" sz="800" b="1">
                <a:solidFill>
                  <a:srgbClr val="4FC3F7"/>
                </a:solidFill>
                <a:latin typeface="Calibri" pitchFamily="34" charset="0"/>
                <a:ea typeface="Calibri" pitchFamily="34" charset="-122"/>
                <a:cs typeface="Calibri" pitchFamily="34" charset="-120"/>
              </a:rPr>
              <a:t>foundation</a:t>
            </a:r>
            <a:endParaRPr lang="en-US" sz="800"/>
          </a:p>
        </p:txBody>
      </p:sp>
      <p:sp>
        <p:nvSpPr>
          <p:cNvPr id="4" name="Text 2"/>
          <p:cNvSpPr/>
          <p:nvPr/>
        </p:nvSpPr>
        <p:spPr>
          <a:xfrm>
            <a:off x="320040" y="621792"/>
            <a:ext cx="8229600" cy="438912"/>
          </a:xfrm>
          <a:prstGeom prst="rect">
            <a:avLst/>
          </a:prstGeom>
          <a:noFill/>
          <a:ln/>
        </p:spPr>
        <p:txBody>
          <a:bodyPr wrap="square" rtlCol="0" anchor="ctr"/>
          <a:lstStyle/>
          <a:p>
            <a:pPr marL="0" indent="0">
              <a:buNone/>
            </a:pPr>
            <a:r>
              <a:rPr lang="en-US" sz="2400" b="1" dirty="0">
                <a:solidFill>
                  <a:srgbClr val="1B3A8A"/>
                </a:solidFill>
                <a:latin typeface="Calibri" pitchFamily="34" charset="0"/>
                <a:ea typeface="Calibri" pitchFamily="34" charset="-122"/>
                <a:cs typeface="Calibri" pitchFamily="34" charset="-120"/>
              </a:rPr>
              <a:t>Problem Statement</a:t>
            </a:r>
            <a:endParaRPr lang="en-US" sz="2400" dirty="0"/>
          </a:p>
        </p:txBody>
      </p:sp>
      <p:sp>
        <p:nvSpPr>
          <p:cNvPr id="5" name="Shape 3"/>
          <p:cNvSpPr/>
          <p:nvPr/>
        </p:nvSpPr>
        <p:spPr>
          <a:xfrm>
            <a:off x="0" y="4983480"/>
            <a:ext cx="9144000" cy="160020"/>
          </a:xfrm>
          <a:prstGeom prst="rect">
            <a:avLst/>
          </a:prstGeom>
          <a:solidFill>
            <a:srgbClr val="1B3A8A"/>
          </a:solidFill>
          <a:ln/>
        </p:spPr>
      </p:sp>
      <p:sp>
        <p:nvSpPr>
          <p:cNvPr id="7" name="TextBox 6">
            <a:extLst>
              <a:ext uri="{FF2B5EF4-FFF2-40B4-BE49-F238E27FC236}">
                <a16:creationId xmlns:a16="http://schemas.microsoft.com/office/drawing/2014/main" id="{C95E56E0-96D0-3DB0-57E8-5D5BC4E5F07F}"/>
              </a:ext>
            </a:extLst>
          </p:cNvPr>
          <p:cNvSpPr txBox="1"/>
          <p:nvPr/>
        </p:nvSpPr>
        <p:spPr>
          <a:xfrm>
            <a:off x="320039" y="1420596"/>
            <a:ext cx="8571297" cy="2677656"/>
          </a:xfrm>
          <a:prstGeom prst="rect">
            <a:avLst/>
          </a:prstGeom>
          <a:noFill/>
        </p:spPr>
        <p:txBody>
          <a:bodyPr wrap="square">
            <a:spAutoFit/>
          </a:bodyPr>
          <a:lstStyle/>
          <a:p>
            <a:pPr marL="342900" indent="-342900">
              <a:buFont typeface="Arial" panose="020B0604020202020204" pitchFamily="34" charset="0"/>
              <a:buChar char="•"/>
            </a:pPr>
            <a:r>
              <a:rPr lang="en-US" sz="2400" dirty="0"/>
              <a:t>Rapid adoption of e‑learning platforms lacks systematic evaluation of user acceptance</a:t>
            </a:r>
          </a:p>
          <a:p>
            <a:pPr marL="342900" indent="-342900">
              <a:buFont typeface="Arial" panose="020B0604020202020204" pitchFamily="34" charset="0"/>
              <a:buChar char="•"/>
            </a:pPr>
            <a:r>
              <a:rPr lang="en-US" sz="2400" dirty="0"/>
              <a:t>Institutions need data‑driven insights into learner perceptions</a:t>
            </a:r>
          </a:p>
          <a:p>
            <a:pPr marL="342900" indent="-342900">
              <a:buFont typeface="Arial" panose="020B0604020202020204" pitchFamily="34" charset="0"/>
              <a:buChar char="•"/>
            </a:pPr>
            <a:r>
              <a:rPr lang="en-US" sz="2400" dirty="0"/>
              <a:t>Traditional analysis methods are time‑consuming and less interactive</a:t>
            </a:r>
          </a:p>
          <a:p>
            <a:pPr marL="342900" indent="-342900">
              <a:buFont typeface="Arial" panose="020B0604020202020204" pitchFamily="34" charset="0"/>
              <a:buChar char="•"/>
            </a:pPr>
            <a:r>
              <a:rPr lang="en-US" sz="2400" dirty="0"/>
              <a:t>There is a need for visual, analytical dashboards to support academic decision‑making</a:t>
            </a:r>
            <a:endParaRPr lang="en-IN" sz="2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75FCCD7C-0011-B288-766E-935BD765F86C}"/>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82EF2C6E-B9AC-5C19-40A5-7EA5D99B2B88}"/>
              </a:ext>
            </a:extLst>
          </p:cNvPr>
          <p:cNvSpPr/>
          <p:nvPr/>
        </p:nvSpPr>
        <p:spPr>
          <a:xfrm>
            <a:off x="0" y="0"/>
            <a:ext cx="9144000" cy="502920"/>
          </a:xfrm>
          <a:prstGeom prst="rect">
            <a:avLst/>
          </a:prstGeom>
          <a:solidFill>
            <a:srgbClr val="1B3A8A"/>
          </a:solidFill>
          <a:ln/>
        </p:spPr>
      </p:sp>
      <p:sp>
        <p:nvSpPr>
          <p:cNvPr id="3" name="Text 1">
            <a:extLst>
              <a:ext uri="{FF2B5EF4-FFF2-40B4-BE49-F238E27FC236}">
                <a16:creationId xmlns:a16="http://schemas.microsoft.com/office/drawing/2014/main" id="{D2096F0D-8CE7-2754-5979-CCA1D00EB3E7}"/>
              </a:ext>
            </a:extLst>
          </p:cNvPr>
          <p:cNvSpPr/>
          <p:nvPr/>
        </p:nvSpPr>
        <p:spPr>
          <a:xfrm>
            <a:off x="7772400" y="45720"/>
            <a:ext cx="1280160" cy="411480"/>
          </a:xfrm>
          <a:prstGeom prst="rect">
            <a:avLst/>
          </a:prstGeom>
          <a:noFill/>
          <a:ln/>
        </p:spPr>
        <p:txBody>
          <a:bodyPr wrap="square" rtlCol="0" anchor="ctr"/>
          <a:lstStyle/>
          <a:p>
            <a:pPr marL="0" indent="0" algn="r">
              <a:buNone/>
            </a:pPr>
            <a:r>
              <a:rPr lang="en-US" sz="800" b="1">
                <a:solidFill>
                  <a:srgbClr val="4FC3F7"/>
                </a:solidFill>
                <a:latin typeface="Calibri" pitchFamily="34" charset="0"/>
                <a:ea typeface="Calibri" pitchFamily="34" charset="-122"/>
                <a:cs typeface="Calibri" pitchFamily="34" charset="-120"/>
              </a:rPr>
              <a:t>edunet</a:t>
            </a:r>
            <a:endParaRPr lang="en-US" sz="800"/>
          </a:p>
          <a:p>
            <a:pPr marL="0" indent="0" algn="r">
              <a:buNone/>
            </a:pPr>
            <a:r>
              <a:rPr lang="en-US" sz="800" b="1">
                <a:solidFill>
                  <a:srgbClr val="4FC3F7"/>
                </a:solidFill>
                <a:latin typeface="Calibri" pitchFamily="34" charset="0"/>
                <a:ea typeface="Calibri" pitchFamily="34" charset="-122"/>
                <a:cs typeface="Calibri" pitchFamily="34" charset="-120"/>
              </a:rPr>
              <a:t>foundation</a:t>
            </a:r>
            <a:endParaRPr lang="en-US" sz="800"/>
          </a:p>
        </p:txBody>
      </p:sp>
      <p:sp>
        <p:nvSpPr>
          <p:cNvPr id="4" name="Text 2">
            <a:extLst>
              <a:ext uri="{FF2B5EF4-FFF2-40B4-BE49-F238E27FC236}">
                <a16:creationId xmlns:a16="http://schemas.microsoft.com/office/drawing/2014/main" id="{3FEA1306-F665-51E5-3F17-B112736E91A6}"/>
              </a:ext>
            </a:extLst>
          </p:cNvPr>
          <p:cNvSpPr/>
          <p:nvPr/>
        </p:nvSpPr>
        <p:spPr>
          <a:xfrm>
            <a:off x="320040" y="621792"/>
            <a:ext cx="8229600" cy="438912"/>
          </a:xfrm>
          <a:prstGeom prst="rect">
            <a:avLst/>
          </a:prstGeom>
          <a:noFill/>
          <a:ln/>
        </p:spPr>
        <p:txBody>
          <a:bodyPr wrap="square" rtlCol="0" anchor="ctr"/>
          <a:lstStyle/>
          <a:p>
            <a:pPr marL="0" indent="0">
              <a:buNone/>
            </a:pPr>
            <a:r>
              <a:rPr lang="en-US" sz="2800" b="1" dirty="0">
                <a:solidFill>
                  <a:srgbClr val="1B3A8A"/>
                </a:solidFill>
                <a:latin typeface="Calibri" pitchFamily="34" charset="0"/>
                <a:ea typeface="Calibri" pitchFamily="34" charset="-122"/>
                <a:cs typeface="Calibri" pitchFamily="34" charset="-120"/>
              </a:rPr>
              <a:t>Objective</a:t>
            </a:r>
            <a:endParaRPr lang="en-US" sz="2800" dirty="0"/>
          </a:p>
        </p:txBody>
      </p:sp>
      <p:sp>
        <p:nvSpPr>
          <p:cNvPr id="5" name="Shape 3">
            <a:extLst>
              <a:ext uri="{FF2B5EF4-FFF2-40B4-BE49-F238E27FC236}">
                <a16:creationId xmlns:a16="http://schemas.microsoft.com/office/drawing/2014/main" id="{C624F1D4-4565-D305-AE6E-263E0F3BF572}"/>
              </a:ext>
            </a:extLst>
          </p:cNvPr>
          <p:cNvSpPr/>
          <p:nvPr/>
        </p:nvSpPr>
        <p:spPr>
          <a:xfrm>
            <a:off x="0" y="4983480"/>
            <a:ext cx="9144000" cy="160020"/>
          </a:xfrm>
          <a:prstGeom prst="rect">
            <a:avLst/>
          </a:prstGeom>
          <a:solidFill>
            <a:srgbClr val="1B3A8A"/>
          </a:solidFill>
          <a:ln/>
        </p:spPr>
      </p:sp>
      <p:sp>
        <p:nvSpPr>
          <p:cNvPr id="7" name="TextBox 6">
            <a:extLst>
              <a:ext uri="{FF2B5EF4-FFF2-40B4-BE49-F238E27FC236}">
                <a16:creationId xmlns:a16="http://schemas.microsoft.com/office/drawing/2014/main" id="{C38E9C34-8056-F990-E337-A9F24A74FEB8}"/>
              </a:ext>
            </a:extLst>
          </p:cNvPr>
          <p:cNvSpPr txBox="1"/>
          <p:nvPr/>
        </p:nvSpPr>
        <p:spPr>
          <a:xfrm>
            <a:off x="320039" y="1420596"/>
            <a:ext cx="8571297" cy="3108543"/>
          </a:xfrm>
          <a:prstGeom prst="rect">
            <a:avLst/>
          </a:prstGeom>
          <a:noFill/>
        </p:spPr>
        <p:txBody>
          <a:bodyPr wrap="square">
            <a:spAutoFit/>
          </a:bodyPr>
          <a:lstStyle/>
          <a:p>
            <a:pPr marL="342900" indent="-342900">
              <a:buFont typeface="Arial" panose="020B0604020202020204" pitchFamily="34" charset="0"/>
              <a:buChar char="•"/>
            </a:pPr>
            <a:r>
              <a:rPr lang="en-US" sz="2800" dirty="0"/>
              <a:t>To analyze student perception toward e‑learning systems</a:t>
            </a:r>
          </a:p>
          <a:p>
            <a:pPr marL="342900" indent="-342900">
              <a:buFont typeface="Arial" panose="020B0604020202020204" pitchFamily="34" charset="0"/>
              <a:buChar char="•"/>
            </a:pPr>
            <a:r>
              <a:rPr lang="en-US" sz="2800" dirty="0"/>
              <a:t>To evaluate TAM constructs: BEL, PUE, PEE, PSE, and BIE</a:t>
            </a:r>
          </a:p>
          <a:p>
            <a:pPr marL="342900" indent="-342900">
              <a:buFont typeface="Arial" panose="020B0604020202020204" pitchFamily="34" charset="0"/>
              <a:buChar char="•"/>
            </a:pPr>
            <a:r>
              <a:rPr lang="en-US" sz="2800" dirty="0"/>
              <a:t>To visualize adoption patterns using interactive dashboards</a:t>
            </a:r>
          </a:p>
          <a:p>
            <a:pPr marL="342900" indent="-342900">
              <a:buFont typeface="Arial" panose="020B0604020202020204" pitchFamily="34" charset="0"/>
              <a:buChar char="•"/>
            </a:pPr>
            <a:r>
              <a:rPr lang="en-US" sz="2800" dirty="0"/>
              <a:t>To identify relationships between perceived usefulness, ease of use, and intention to use</a:t>
            </a:r>
            <a:endParaRPr lang="en-IN" sz="2800" dirty="0"/>
          </a:p>
        </p:txBody>
      </p:sp>
    </p:spTree>
    <p:extLst>
      <p:ext uri="{BB962C8B-B14F-4D97-AF65-F5344CB8AC3E}">
        <p14:creationId xmlns:p14="http://schemas.microsoft.com/office/powerpoint/2010/main" val="387093750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8D15DEF5-7E30-0DEC-804A-62D7F95D5FBD}"/>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9F552AB6-9231-5213-A4D7-3557432EBEEB}"/>
              </a:ext>
            </a:extLst>
          </p:cNvPr>
          <p:cNvSpPr/>
          <p:nvPr/>
        </p:nvSpPr>
        <p:spPr>
          <a:xfrm>
            <a:off x="0" y="0"/>
            <a:ext cx="9144000" cy="502920"/>
          </a:xfrm>
          <a:prstGeom prst="rect">
            <a:avLst/>
          </a:prstGeom>
          <a:solidFill>
            <a:srgbClr val="1B3A8A"/>
          </a:solidFill>
          <a:ln/>
        </p:spPr>
      </p:sp>
      <p:sp>
        <p:nvSpPr>
          <p:cNvPr id="3" name="Text 1">
            <a:extLst>
              <a:ext uri="{FF2B5EF4-FFF2-40B4-BE49-F238E27FC236}">
                <a16:creationId xmlns:a16="http://schemas.microsoft.com/office/drawing/2014/main" id="{3E616058-8D96-1577-269F-EECC3C1E5A20}"/>
              </a:ext>
            </a:extLst>
          </p:cNvPr>
          <p:cNvSpPr/>
          <p:nvPr/>
        </p:nvSpPr>
        <p:spPr>
          <a:xfrm>
            <a:off x="7772400" y="45720"/>
            <a:ext cx="1280160" cy="411480"/>
          </a:xfrm>
          <a:prstGeom prst="rect">
            <a:avLst/>
          </a:prstGeom>
          <a:noFill/>
          <a:ln/>
        </p:spPr>
        <p:txBody>
          <a:bodyPr wrap="square" rtlCol="0" anchor="ctr"/>
          <a:lstStyle/>
          <a:p>
            <a:pPr marL="0" indent="0" algn="r">
              <a:buNone/>
            </a:pPr>
            <a:r>
              <a:rPr lang="en-US" sz="800" b="1">
                <a:solidFill>
                  <a:srgbClr val="4FC3F7"/>
                </a:solidFill>
                <a:latin typeface="Calibri" pitchFamily="34" charset="0"/>
                <a:ea typeface="Calibri" pitchFamily="34" charset="-122"/>
                <a:cs typeface="Calibri" pitchFamily="34" charset="-120"/>
              </a:rPr>
              <a:t>edunet</a:t>
            </a:r>
            <a:endParaRPr lang="en-US" sz="800"/>
          </a:p>
          <a:p>
            <a:pPr marL="0" indent="0" algn="r">
              <a:buNone/>
            </a:pPr>
            <a:r>
              <a:rPr lang="en-US" sz="800" b="1">
                <a:solidFill>
                  <a:srgbClr val="4FC3F7"/>
                </a:solidFill>
                <a:latin typeface="Calibri" pitchFamily="34" charset="0"/>
                <a:ea typeface="Calibri" pitchFamily="34" charset="-122"/>
                <a:cs typeface="Calibri" pitchFamily="34" charset="-120"/>
              </a:rPr>
              <a:t>foundation</a:t>
            </a:r>
            <a:endParaRPr lang="en-US" sz="800"/>
          </a:p>
        </p:txBody>
      </p:sp>
      <p:sp>
        <p:nvSpPr>
          <p:cNvPr id="4" name="Text 2">
            <a:extLst>
              <a:ext uri="{FF2B5EF4-FFF2-40B4-BE49-F238E27FC236}">
                <a16:creationId xmlns:a16="http://schemas.microsoft.com/office/drawing/2014/main" id="{95F9A3CF-69D2-28BB-EF1C-9246E71248FE}"/>
              </a:ext>
            </a:extLst>
          </p:cNvPr>
          <p:cNvSpPr/>
          <p:nvPr/>
        </p:nvSpPr>
        <p:spPr>
          <a:xfrm>
            <a:off x="320040" y="621792"/>
            <a:ext cx="8229600" cy="438912"/>
          </a:xfrm>
          <a:prstGeom prst="rect">
            <a:avLst/>
          </a:prstGeom>
          <a:noFill/>
          <a:ln/>
        </p:spPr>
        <p:txBody>
          <a:bodyPr wrap="square" rtlCol="0" anchor="ctr"/>
          <a:lstStyle/>
          <a:p>
            <a:pPr marL="0" indent="0">
              <a:buNone/>
            </a:pPr>
            <a:r>
              <a:rPr lang="en-US" sz="2800" b="1" dirty="0">
                <a:solidFill>
                  <a:srgbClr val="1B3A8A"/>
                </a:solidFill>
                <a:latin typeface="Calibri" pitchFamily="34" charset="0"/>
                <a:ea typeface="Calibri" pitchFamily="34" charset="-122"/>
                <a:cs typeface="Calibri" pitchFamily="34" charset="-120"/>
              </a:rPr>
              <a:t>Dataset Description</a:t>
            </a:r>
            <a:endParaRPr lang="en-US" sz="2800" dirty="0"/>
          </a:p>
        </p:txBody>
      </p:sp>
      <p:sp>
        <p:nvSpPr>
          <p:cNvPr id="5" name="Shape 3">
            <a:extLst>
              <a:ext uri="{FF2B5EF4-FFF2-40B4-BE49-F238E27FC236}">
                <a16:creationId xmlns:a16="http://schemas.microsoft.com/office/drawing/2014/main" id="{52354D23-0D18-0B21-26C3-ABA0F5E32EDA}"/>
              </a:ext>
            </a:extLst>
          </p:cNvPr>
          <p:cNvSpPr/>
          <p:nvPr/>
        </p:nvSpPr>
        <p:spPr>
          <a:xfrm>
            <a:off x="0" y="4983480"/>
            <a:ext cx="9144000" cy="160020"/>
          </a:xfrm>
          <a:prstGeom prst="rect">
            <a:avLst/>
          </a:prstGeom>
          <a:solidFill>
            <a:srgbClr val="1B3A8A"/>
          </a:solidFill>
          <a:ln/>
        </p:spPr>
      </p:sp>
      <p:sp>
        <p:nvSpPr>
          <p:cNvPr id="7" name="TextBox 6">
            <a:extLst>
              <a:ext uri="{FF2B5EF4-FFF2-40B4-BE49-F238E27FC236}">
                <a16:creationId xmlns:a16="http://schemas.microsoft.com/office/drawing/2014/main" id="{84C8F2EE-D1B3-84A4-80F2-C5ACC1B97B87}"/>
              </a:ext>
            </a:extLst>
          </p:cNvPr>
          <p:cNvSpPr txBox="1"/>
          <p:nvPr/>
        </p:nvSpPr>
        <p:spPr>
          <a:xfrm>
            <a:off x="320039" y="1420596"/>
            <a:ext cx="8571297" cy="3046988"/>
          </a:xfrm>
          <a:prstGeom prst="rect">
            <a:avLst/>
          </a:prstGeom>
          <a:noFill/>
        </p:spPr>
        <p:txBody>
          <a:bodyPr wrap="square">
            <a:spAutoFit/>
          </a:bodyPr>
          <a:lstStyle/>
          <a:p>
            <a:pPr marL="342900" indent="-342900">
              <a:buFont typeface="Arial" panose="020B0604020202020204" pitchFamily="34" charset="0"/>
              <a:buChar char="•"/>
            </a:pPr>
            <a:r>
              <a:rPr lang="en-US" sz="2400" dirty="0"/>
              <a:t>Source: Google Form Survey</a:t>
            </a:r>
          </a:p>
          <a:p>
            <a:pPr marL="342900" indent="-342900">
              <a:buFont typeface="Arial" panose="020B0604020202020204" pitchFamily="34" charset="0"/>
              <a:buChar char="•"/>
            </a:pPr>
            <a:r>
              <a:rPr lang="en-US" sz="2400" dirty="0"/>
              <a:t>Respondents: Students from various courses and academic levels</a:t>
            </a:r>
          </a:p>
          <a:p>
            <a:pPr marL="342900" indent="-342900">
              <a:buFont typeface="Arial" panose="020B0604020202020204" pitchFamily="34" charset="0"/>
              <a:buChar char="•"/>
            </a:pPr>
            <a:r>
              <a:rPr lang="en-US" sz="2400" dirty="0"/>
              <a:t>Scale: 5‑point Likert Scale (1 = Strongly Disagree, 5 = Strongly Agree)</a:t>
            </a:r>
          </a:p>
          <a:p>
            <a:pPr marL="342900" indent="-342900">
              <a:buFont typeface="Arial" panose="020B0604020202020204" pitchFamily="34" charset="0"/>
              <a:buChar char="•"/>
            </a:pPr>
            <a:r>
              <a:rPr lang="en-US" sz="2400" dirty="0"/>
              <a:t>Major </a:t>
            </a:r>
            <a:r>
              <a:rPr lang="en-US" sz="2400" dirty="0" err="1"/>
              <a:t>Sections:Demographics</a:t>
            </a:r>
            <a:r>
              <a:rPr lang="en-US" sz="2400" dirty="0"/>
              <a:t> (Age, Gender, Course) BEL (Benefits of E‑learning)PUE (Perceived Usefulness) PEE (Perceived Ease of Use)PSE (Self‑Efficacy) BIE (Behavioral Intention)</a:t>
            </a:r>
            <a:endParaRPr lang="en-IN" sz="2400" dirty="0"/>
          </a:p>
        </p:txBody>
      </p:sp>
    </p:spTree>
    <p:extLst>
      <p:ext uri="{BB962C8B-B14F-4D97-AF65-F5344CB8AC3E}">
        <p14:creationId xmlns:p14="http://schemas.microsoft.com/office/powerpoint/2010/main" val="92146270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A7EF2E13-4A70-4640-F7A9-F0711A134997}"/>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C3296B9F-C46E-8B45-3734-0D6689548AF6}"/>
              </a:ext>
            </a:extLst>
          </p:cNvPr>
          <p:cNvSpPr/>
          <p:nvPr/>
        </p:nvSpPr>
        <p:spPr>
          <a:xfrm>
            <a:off x="0" y="0"/>
            <a:ext cx="9144000" cy="502920"/>
          </a:xfrm>
          <a:prstGeom prst="rect">
            <a:avLst/>
          </a:prstGeom>
          <a:solidFill>
            <a:srgbClr val="1B3A8A"/>
          </a:solidFill>
          <a:ln/>
        </p:spPr>
      </p:sp>
      <p:sp>
        <p:nvSpPr>
          <p:cNvPr id="3" name="Text 1">
            <a:extLst>
              <a:ext uri="{FF2B5EF4-FFF2-40B4-BE49-F238E27FC236}">
                <a16:creationId xmlns:a16="http://schemas.microsoft.com/office/drawing/2014/main" id="{4DD1FC95-15AC-ADF1-291A-7E10578E2D7A}"/>
              </a:ext>
            </a:extLst>
          </p:cNvPr>
          <p:cNvSpPr/>
          <p:nvPr/>
        </p:nvSpPr>
        <p:spPr>
          <a:xfrm>
            <a:off x="7772400" y="45720"/>
            <a:ext cx="1280160" cy="411480"/>
          </a:xfrm>
          <a:prstGeom prst="rect">
            <a:avLst/>
          </a:prstGeom>
          <a:noFill/>
          <a:ln/>
        </p:spPr>
        <p:txBody>
          <a:bodyPr wrap="square" rtlCol="0" anchor="ctr"/>
          <a:lstStyle/>
          <a:p>
            <a:pPr marL="0" indent="0" algn="r">
              <a:buNone/>
            </a:pPr>
            <a:r>
              <a:rPr lang="en-US" sz="800" b="1">
                <a:solidFill>
                  <a:srgbClr val="4FC3F7"/>
                </a:solidFill>
                <a:latin typeface="Calibri" pitchFamily="34" charset="0"/>
                <a:ea typeface="Calibri" pitchFamily="34" charset="-122"/>
                <a:cs typeface="Calibri" pitchFamily="34" charset="-120"/>
              </a:rPr>
              <a:t>edunet</a:t>
            </a:r>
            <a:endParaRPr lang="en-US" sz="800"/>
          </a:p>
          <a:p>
            <a:pPr marL="0" indent="0" algn="r">
              <a:buNone/>
            </a:pPr>
            <a:r>
              <a:rPr lang="en-US" sz="800" b="1">
                <a:solidFill>
                  <a:srgbClr val="4FC3F7"/>
                </a:solidFill>
                <a:latin typeface="Calibri" pitchFamily="34" charset="0"/>
                <a:ea typeface="Calibri" pitchFamily="34" charset="-122"/>
                <a:cs typeface="Calibri" pitchFamily="34" charset="-120"/>
              </a:rPr>
              <a:t>foundation</a:t>
            </a:r>
            <a:endParaRPr lang="en-US" sz="800"/>
          </a:p>
        </p:txBody>
      </p:sp>
      <p:sp>
        <p:nvSpPr>
          <p:cNvPr id="4" name="Text 2">
            <a:extLst>
              <a:ext uri="{FF2B5EF4-FFF2-40B4-BE49-F238E27FC236}">
                <a16:creationId xmlns:a16="http://schemas.microsoft.com/office/drawing/2014/main" id="{5E6DBD7D-320E-D775-C0C6-3DFCD298D17C}"/>
              </a:ext>
            </a:extLst>
          </p:cNvPr>
          <p:cNvSpPr/>
          <p:nvPr/>
        </p:nvSpPr>
        <p:spPr>
          <a:xfrm>
            <a:off x="320040" y="621792"/>
            <a:ext cx="8229600" cy="438912"/>
          </a:xfrm>
          <a:prstGeom prst="rect">
            <a:avLst/>
          </a:prstGeom>
          <a:noFill/>
          <a:ln/>
        </p:spPr>
        <p:txBody>
          <a:bodyPr wrap="square" rtlCol="0" anchor="ctr"/>
          <a:lstStyle/>
          <a:p>
            <a:pPr marL="0" indent="0">
              <a:buNone/>
            </a:pPr>
            <a:r>
              <a:rPr lang="en-US" sz="2800" b="1" dirty="0">
                <a:solidFill>
                  <a:srgbClr val="1B3A8A"/>
                </a:solidFill>
                <a:latin typeface="Calibri" pitchFamily="34" charset="0"/>
                <a:ea typeface="Calibri" pitchFamily="34" charset="-122"/>
                <a:cs typeface="Calibri" pitchFamily="34" charset="-120"/>
              </a:rPr>
              <a:t>Methodology</a:t>
            </a:r>
            <a:endParaRPr lang="en-US" sz="2800" dirty="0"/>
          </a:p>
        </p:txBody>
      </p:sp>
      <p:sp>
        <p:nvSpPr>
          <p:cNvPr id="5" name="Shape 3">
            <a:extLst>
              <a:ext uri="{FF2B5EF4-FFF2-40B4-BE49-F238E27FC236}">
                <a16:creationId xmlns:a16="http://schemas.microsoft.com/office/drawing/2014/main" id="{4F0E0061-B7C3-C615-59E4-184C5DD0B8CA}"/>
              </a:ext>
            </a:extLst>
          </p:cNvPr>
          <p:cNvSpPr/>
          <p:nvPr/>
        </p:nvSpPr>
        <p:spPr>
          <a:xfrm>
            <a:off x="0" y="4983480"/>
            <a:ext cx="9144000" cy="160020"/>
          </a:xfrm>
          <a:prstGeom prst="rect">
            <a:avLst/>
          </a:prstGeom>
          <a:solidFill>
            <a:srgbClr val="1B3A8A"/>
          </a:solidFill>
          <a:ln/>
        </p:spPr>
      </p:sp>
      <p:sp>
        <p:nvSpPr>
          <p:cNvPr id="7" name="TextBox 6">
            <a:extLst>
              <a:ext uri="{FF2B5EF4-FFF2-40B4-BE49-F238E27FC236}">
                <a16:creationId xmlns:a16="http://schemas.microsoft.com/office/drawing/2014/main" id="{A5080A2A-A3D3-373F-3C32-A86C9EFB33AC}"/>
              </a:ext>
            </a:extLst>
          </p:cNvPr>
          <p:cNvSpPr txBox="1"/>
          <p:nvPr/>
        </p:nvSpPr>
        <p:spPr>
          <a:xfrm>
            <a:off x="320039" y="1420596"/>
            <a:ext cx="8571297" cy="2677656"/>
          </a:xfrm>
          <a:prstGeom prst="rect">
            <a:avLst/>
          </a:prstGeom>
          <a:noFill/>
        </p:spPr>
        <p:txBody>
          <a:bodyPr wrap="square">
            <a:spAutoFit/>
          </a:bodyPr>
          <a:lstStyle/>
          <a:p>
            <a:pPr marL="342900" indent="-342900">
              <a:buFont typeface="Arial" panose="020B0604020202020204" pitchFamily="34" charset="0"/>
              <a:buChar char="•"/>
            </a:pPr>
            <a:r>
              <a:rPr lang="en-US" sz="2800" dirty="0"/>
              <a:t>Importing data into Power BI from Excel</a:t>
            </a:r>
          </a:p>
          <a:p>
            <a:pPr marL="342900" indent="-342900">
              <a:buFont typeface="Arial" panose="020B0604020202020204" pitchFamily="34" charset="0"/>
              <a:buChar char="•"/>
            </a:pPr>
            <a:r>
              <a:rPr lang="en-US" sz="2800" dirty="0"/>
              <a:t>Data cleaning and preparation in Power BI</a:t>
            </a:r>
          </a:p>
          <a:p>
            <a:pPr marL="342900" indent="-342900">
              <a:buFont typeface="Arial" panose="020B0604020202020204" pitchFamily="34" charset="0"/>
              <a:buChar char="•"/>
            </a:pPr>
            <a:r>
              <a:rPr lang="en-US" sz="2800" dirty="0"/>
              <a:t>Creation of composite scores using DAX</a:t>
            </a:r>
          </a:p>
          <a:p>
            <a:pPr marL="342900" indent="-342900">
              <a:buFont typeface="Arial" panose="020B0604020202020204" pitchFamily="34" charset="0"/>
              <a:buChar char="•"/>
            </a:pPr>
            <a:r>
              <a:rPr lang="en-US" sz="2800" dirty="0"/>
              <a:t>Visualization using bar charts, scatter plots, and demographic distributions</a:t>
            </a:r>
          </a:p>
          <a:p>
            <a:pPr marL="342900" indent="-342900">
              <a:buFont typeface="Arial" panose="020B0604020202020204" pitchFamily="34" charset="0"/>
              <a:buChar char="•"/>
            </a:pPr>
            <a:r>
              <a:rPr lang="en-US" sz="2800" dirty="0"/>
              <a:t>Correlation analysis between TAM constructs</a:t>
            </a:r>
            <a:endParaRPr lang="en-IN" sz="2800" dirty="0"/>
          </a:p>
        </p:txBody>
      </p:sp>
    </p:spTree>
    <p:extLst>
      <p:ext uri="{BB962C8B-B14F-4D97-AF65-F5344CB8AC3E}">
        <p14:creationId xmlns:p14="http://schemas.microsoft.com/office/powerpoint/2010/main" val="395285659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02920"/>
          </a:xfrm>
          <a:prstGeom prst="rect">
            <a:avLst/>
          </a:prstGeom>
          <a:solidFill>
            <a:srgbClr val="1B3A8A"/>
          </a:solidFill>
          <a:ln/>
        </p:spPr>
      </p:sp>
      <p:sp>
        <p:nvSpPr>
          <p:cNvPr id="3" name="Text 1"/>
          <p:cNvSpPr/>
          <p:nvPr/>
        </p:nvSpPr>
        <p:spPr>
          <a:xfrm>
            <a:off x="7772400" y="45720"/>
            <a:ext cx="1280160" cy="411480"/>
          </a:xfrm>
          <a:prstGeom prst="rect">
            <a:avLst/>
          </a:prstGeom>
          <a:noFill/>
          <a:ln/>
        </p:spPr>
        <p:txBody>
          <a:bodyPr wrap="square" rtlCol="0" anchor="ctr"/>
          <a:lstStyle/>
          <a:p>
            <a:pPr marL="0" indent="0" algn="r">
              <a:buNone/>
            </a:pPr>
            <a:r>
              <a:rPr lang="en-US" sz="800" b="1">
                <a:solidFill>
                  <a:srgbClr val="4FC3F7"/>
                </a:solidFill>
                <a:latin typeface="Calibri" pitchFamily="34" charset="0"/>
                <a:ea typeface="Calibri" pitchFamily="34" charset="-122"/>
                <a:cs typeface="Calibri" pitchFamily="34" charset="-120"/>
              </a:rPr>
              <a:t>edunet</a:t>
            </a:r>
            <a:endParaRPr lang="en-US" sz="800"/>
          </a:p>
          <a:p>
            <a:pPr marL="0" indent="0" algn="r">
              <a:buNone/>
            </a:pPr>
            <a:r>
              <a:rPr lang="en-US" sz="800" b="1">
                <a:solidFill>
                  <a:srgbClr val="4FC3F7"/>
                </a:solidFill>
                <a:latin typeface="Calibri" pitchFamily="34" charset="0"/>
                <a:ea typeface="Calibri" pitchFamily="34" charset="-122"/>
                <a:cs typeface="Calibri" pitchFamily="34" charset="-120"/>
              </a:rPr>
              <a:t>foundation</a:t>
            </a:r>
            <a:endParaRPr lang="en-US" sz="800"/>
          </a:p>
        </p:txBody>
      </p:sp>
      <p:sp>
        <p:nvSpPr>
          <p:cNvPr id="4" name="Text 2"/>
          <p:cNvSpPr/>
          <p:nvPr/>
        </p:nvSpPr>
        <p:spPr>
          <a:xfrm>
            <a:off x="320040" y="621792"/>
            <a:ext cx="8229600" cy="438912"/>
          </a:xfrm>
          <a:prstGeom prst="rect">
            <a:avLst/>
          </a:prstGeom>
          <a:noFill/>
          <a:ln/>
        </p:spPr>
        <p:txBody>
          <a:bodyPr wrap="square" rtlCol="0" anchor="ctr"/>
          <a:lstStyle/>
          <a:p>
            <a:pPr marL="0" indent="0">
              <a:buNone/>
            </a:pPr>
            <a:r>
              <a:rPr lang="en-US" sz="2400" b="1" dirty="0">
                <a:solidFill>
                  <a:srgbClr val="1B3A8A"/>
                </a:solidFill>
                <a:latin typeface="Calibri" pitchFamily="34" charset="0"/>
                <a:ea typeface="Calibri" pitchFamily="34" charset="-122"/>
                <a:cs typeface="Calibri" pitchFamily="34" charset="-120"/>
              </a:rPr>
              <a:t>Proposed Solution</a:t>
            </a:r>
            <a:endParaRPr lang="en-US" sz="2400" dirty="0"/>
          </a:p>
        </p:txBody>
      </p:sp>
      <p:sp>
        <p:nvSpPr>
          <p:cNvPr id="5" name="Shape 3"/>
          <p:cNvSpPr/>
          <p:nvPr/>
        </p:nvSpPr>
        <p:spPr>
          <a:xfrm>
            <a:off x="0" y="4983480"/>
            <a:ext cx="9144000" cy="160020"/>
          </a:xfrm>
          <a:prstGeom prst="rect">
            <a:avLst/>
          </a:prstGeom>
          <a:solidFill>
            <a:srgbClr val="1B3A8A"/>
          </a:solidFill>
          <a:ln/>
        </p:spPr>
      </p:sp>
      <p:sp>
        <p:nvSpPr>
          <p:cNvPr id="14" name="Text 12"/>
          <p:cNvSpPr/>
          <p:nvPr/>
        </p:nvSpPr>
        <p:spPr>
          <a:xfrm>
            <a:off x="457200" y="1234440"/>
            <a:ext cx="8092440" cy="3474720"/>
          </a:xfrm>
          <a:prstGeom prst="rect">
            <a:avLst/>
          </a:prstGeom>
          <a:noFill/>
          <a:ln/>
        </p:spPr>
        <p:txBody>
          <a:bodyPr wrap="square" rtlCol="0" anchor="t"/>
          <a:lstStyle/>
          <a:p>
            <a:pPr marL="342900" indent="-342900">
              <a:buFont typeface="Arial" panose="020B0604020202020204" pitchFamily="34" charset="0"/>
              <a:buChar char="•"/>
            </a:pPr>
            <a:r>
              <a:rPr lang="en-US" sz="2000" dirty="0">
                <a:solidFill>
                  <a:srgbClr val="1A1A2E"/>
                </a:solidFill>
                <a:latin typeface="Calibri" pitchFamily="34" charset="0"/>
                <a:ea typeface="Calibri" pitchFamily="34" charset="-122"/>
                <a:cs typeface="Calibri" pitchFamily="34" charset="-120"/>
              </a:rPr>
              <a:t>Develop a data‑driven analytical dashboard to evaluate e‑learning adoption using the Technology Acceptance Model (TAM)Collect student responses through a structured survey covering BEL, PUE, PEE, PSE, and BIE</a:t>
            </a:r>
          </a:p>
          <a:p>
            <a:pPr marL="342900" indent="-342900">
              <a:buFont typeface="Arial" panose="020B0604020202020204" pitchFamily="34" charset="0"/>
              <a:buChar char="•"/>
            </a:pPr>
            <a:r>
              <a:rPr lang="en-US" sz="2000" dirty="0">
                <a:solidFill>
                  <a:srgbClr val="1A1A2E"/>
                </a:solidFill>
                <a:latin typeface="Calibri" pitchFamily="34" charset="0"/>
                <a:ea typeface="Calibri" pitchFamily="34" charset="-122"/>
                <a:cs typeface="Calibri" pitchFamily="34" charset="-120"/>
              </a:rPr>
              <a:t>Use Excel and Power BI to clean, process, and analyze survey data</a:t>
            </a:r>
          </a:p>
          <a:p>
            <a:pPr marL="342900" indent="-342900">
              <a:buFont typeface="Arial" panose="020B0604020202020204" pitchFamily="34" charset="0"/>
              <a:buChar char="•"/>
            </a:pPr>
            <a:r>
              <a:rPr lang="en-US" sz="2000" dirty="0">
                <a:solidFill>
                  <a:srgbClr val="1A1A2E"/>
                </a:solidFill>
                <a:latin typeface="Calibri" pitchFamily="34" charset="0"/>
                <a:ea typeface="Calibri" pitchFamily="34" charset="-122"/>
                <a:cs typeface="Calibri" pitchFamily="34" charset="-120"/>
              </a:rPr>
              <a:t>Apply DAX measures to compute mean scores and relationships between constructs</a:t>
            </a:r>
          </a:p>
          <a:p>
            <a:pPr marL="342900" indent="-342900">
              <a:buFont typeface="Arial" panose="020B0604020202020204" pitchFamily="34" charset="0"/>
              <a:buChar char="•"/>
            </a:pPr>
            <a:r>
              <a:rPr lang="en-US" sz="2000" dirty="0">
                <a:solidFill>
                  <a:srgbClr val="1A1A2E"/>
                </a:solidFill>
                <a:latin typeface="Calibri" pitchFamily="34" charset="0"/>
                <a:ea typeface="Calibri" pitchFamily="34" charset="-122"/>
                <a:cs typeface="Calibri" pitchFamily="34" charset="-120"/>
              </a:rPr>
              <a:t>Visualize insights using interactive charts, bar graphs, and scatter plots</a:t>
            </a:r>
          </a:p>
          <a:p>
            <a:pPr marL="342900" indent="-342900">
              <a:buFont typeface="Arial" panose="020B0604020202020204" pitchFamily="34" charset="0"/>
              <a:buChar char="•"/>
            </a:pPr>
            <a:r>
              <a:rPr lang="en-US" sz="2000" dirty="0">
                <a:solidFill>
                  <a:srgbClr val="1A1A2E"/>
                </a:solidFill>
                <a:latin typeface="Calibri" pitchFamily="34" charset="0"/>
                <a:ea typeface="Calibri" pitchFamily="34" charset="-122"/>
                <a:cs typeface="Calibri" pitchFamily="34" charset="-120"/>
              </a:rPr>
              <a:t>Enable institutions to make evidence‑based decisions for improving e‑learning systems</a:t>
            </a:r>
            <a:endParaRPr lang="en-US" sz="2000" dirty="0"/>
          </a:p>
        </p:txBody>
      </p:sp>
      <p:sp>
        <p:nvSpPr>
          <p:cNvPr id="16" name="Text 14"/>
          <p:cNvSpPr/>
          <p:nvPr/>
        </p:nvSpPr>
        <p:spPr>
          <a:xfrm>
            <a:off x="4846320" y="1280160"/>
            <a:ext cx="3931920" cy="1828800"/>
          </a:xfrm>
          <a:prstGeom prst="rect">
            <a:avLst/>
          </a:prstGeom>
          <a:noFill/>
          <a:ln/>
        </p:spPr>
        <p:txBody>
          <a:bodyPr wrap="square" rtlCol="0" anchor="ctr"/>
          <a:lstStyle/>
          <a:p>
            <a:pPr marL="0" indent="0" algn="ctr">
              <a:buNone/>
            </a:pPr>
            <a:endParaRPr lang="en-US" sz="800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02920"/>
          </a:xfrm>
          <a:prstGeom prst="rect">
            <a:avLst/>
          </a:prstGeom>
          <a:solidFill>
            <a:srgbClr val="1B3A8A"/>
          </a:solidFill>
          <a:ln/>
        </p:spPr>
      </p:sp>
      <p:sp>
        <p:nvSpPr>
          <p:cNvPr id="3" name="Text 1"/>
          <p:cNvSpPr/>
          <p:nvPr/>
        </p:nvSpPr>
        <p:spPr>
          <a:xfrm>
            <a:off x="7772400" y="45720"/>
            <a:ext cx="1280160" cy="411480"/>
          </a:xfrm>
          <a:prstGeom prst="rect">
            <a:avLst/>
          </a:prstGeom>
          <a:noFill/>
          <a:ln/>
        </p:spPr>
        <p:txBody>
          <a:bodyPr wrap="square" rtlCol="0" anchor="ctr"/>
          <a:lstStyle/>
          <a:p>
            <a:pPr marL="0" indent="0" algn="r">
              <a:buNone/>
            </a:pPr>
            <a:r>
              <a:rPr lang="en-US" sz="800" b="1">
                <a:solidFill>
                  <a:srgbClr val="4FC3F7"/>
                </a:solidFill>
                <a:latin typeface="Calibri" pitchFamily="34" charset="0"/>
                <a:ea typeface="Calibri" pitchFamily="34" charset="-122"/>
                <a:cs typeface="Calibri" pitchFamily="34" charset="-120"/>
              </a:rPr>
              <a:t>edunet</a:t>
            </a:r>
            <a:endParaRPr lang="en-US" sz="800"/>
          </a:p>
          <a:p>
            <a:pPr marL="0" indent="0" algn="r">
              <a:buNone/>
            </a:pPr>
            <a:r>
              <a:rPr lang="en-US" sz="800" b="1">
                <a:solidFill>
                  <a:srgbClr val="4FC3F7"/>
                </a:solidFill>
                <a:latin typeface="Calibri" pitchFamily="34" charset="0"/>
                <a:ea typeface="Calibri" pitchFamily="34" charset="-122"/>
                <a:cs typeface="Calibri" pitchFamily="34" charset="-120"/>
              </a:rPr>
              <a:t>foundation</a:t>
            </a:r>
            <a:endParaRPr lang="en-US" sz="800"/>
          </a:p>
        </p:txBody>
      </p:sp>
      <p:sp>
        <p:nvSpPr>
          <p:cNvPr id="4" name="Text 2"/>
          <p:cNvSpPr/>
          <p:nvPr/>
        </p:nvSpPr>
        <p:spPr>
          <a:xfrm>
            <a:off x="320040" y="621792"/>
            <a:ext cx="8229600" cy="438912"/>
          </a:xfrm>
          <a:prstGeom prst="rect">
            <a:avLst/>
          </a:prstGeom>
          <a:noFill/>
          <a:ln/>
        </p:spPr>
        <p:txBody>
          <a:bodyPr wrap="square" rtlCol="0" anchor="ctr"/>
          <a:lstStyle/>
          <a:p>
            <a:pPr marL="0" indent="0">
              <a:buNone/>
            </a:pPr>
            <a:r>
              <a:rPr lang="en-US" sz="2200" b="1">
                <a:solidFill>
                  <a:srgbClr val="1B3A8A"/>
                </a:solidFill>
                <a:latin typeface="Calibri" pitchFamily="34" charset="0"/>
                <a:ea typeface="Calibri" pitchFamily="34" charset="-122"/>
                <a:cs typeface="Calibri" pitchFamily="34" charset="-120"/>
              </a:rPr>
              <a:t>System Architecture</a:t>
            </a:r>
            <a:endParaRPr lang="en-US" sz="2200"/>
          </a:p>
        </p:txBody>
      </p:sp>
      <p:sp>
        <p:nvSpPr>
          <p:cNvPr id="5" name="Shape 3"/>
          <p:cNvSpPr/>
          <p:nvPr/>
        </p:nvSpPr>
        <p:spPr>
          <a:xfrm>
            <a:off x="0" y="4983480"/>
            <a:ext cx="9144000" cy="160020"/>
          </a:xfrm>
          <a:prstGeom prst="rect">
            <a:avLst/>
          </a:prstGeom>
          <a:solidFill>
            <a:srgbClr val="1B3A8A"/>
          </a:solidFill>
          <a:ln/>
        </p:spPr>
      </p:sp>
      <p:sp>
        <p:nvSpPr>
          <p:cNvPr id="6" name="Shape 4"/>
          <p:cNvSpPr/>
          <p:nvPr/>
        </p:nvSpPr>
        <p:spPr>
          <a:xfrm>
            <a:off x="274320" y="1097280"/>
            <a:ext cx="4114800" cy="384048"/>
          </a:xfrm>
          <a:prstGeom prst="rect">
            <a:avLst/>
          </a:prstGeom>
          <a:solidFill>
            <a:srgbClr val="1565C0"/>
          </a:solidFill>
          <a:ln/>
        </p:spPr>
      </p:sp>
      <p:sp>
        <p:nvSpPr>
          <p:cNvPr id="7" name="Shape 5"/>
          <p:cNvSpPr/>
          <p:nvPr/>
        </p:nvSpPr>
        <p:spPr>
          <a:xfrm>
            <a:off x="4206240" y="1097280"/>
            <a:ext cx="320040" cy="384048"/>
          </a:xfrm>
          <a:prstGeom prst="rect">
            <a:avLst/>
          </a:prstGeom>
          <a:solidFill>
            <a:srgbClr val="1B3A8A"/>
          </a:solidFill>
          <a:ln/>
        </p:spPr>
      </p:sp>
      <p:sp>
        <p:nvSpPr>
          <p:cNvPr id="8" name="Text 6"/>
          <p:cNvSpPr/>
          <p:nvPr/>
        </p:nvSpPr>
        <p:spPr>
          <a:xfrm>
            <a:off x="365760" y="1133856"/>
            <a:ext cx="3840480" cy="310896"/>
          </a:xfrm>
          <a:prstGeom prst="rect">
            <a:avLst/>
          </a:prstGeom>
          <a:noFill/>
          <a:ln/>
        </p:spPr>
        <p:txBody>
          <a:bodyPr wrap="square" rtlCol="0" anchor="ctr"/>
          <a:lstStyle/>
          <a:p>
            <a:pPr marL="0" indent="0">
              <a:buNone/>
            </a:pPr>
            <a:r>
              <a:rPr lang="en-US" sz="1200" b="1">
                <a:solidFill>
                  <a:srgbClr val="FFFFFF"/>
                </a:solidFill>
                <a:latin typeface="Calibri" pitchFamily="34" charset="0"/>
                <a:ea typeface="Calibri" pitchFamily="34" charset="-122"/>
                <a:cs typeface="Calibri" pitchFamily="34" charset="-120"/>
              </a:rPr>
              <a:t>Data Input / Source</a:t>
            </a:r>
            <a:endParaRPr lang="en-US" sz="1200"/>
          </a:p>
        </p:txBody>
      </p:sp>
      <p:sp>
        <p:nvSpPr>
          <p:cNvPr id="9" name="Text 7"/>
          <p:cNvSpPr/>
          <p:nvPr/>
        </p:nvSpPr>
        <p:spPr>
          <a:xfrm>
            <a:off x="365760" y="1554480"/>
            <a:ext cx="4023360" cy="1188720"/>
          </a:xfrm>
          <a:prstGeom prst="rect">
            <a:avLst/>
          </a:prstGeom>
          <a:noFill/>
          <a:ln/>
        </p:spPr>
        <p:txBody>
          <a:bodyPr wrap="square" rtlCol="0" anchor="t"/>
          <a:lstStyle/>
          <a:p>
            <a:pPr marL="0" indent="0">
              <a:buNone/>
            </a:pPr>
            <a:r>
              <a:rPr lang="en-US" sz="1400" dirty="0">
                <a:solidFill>
                  <a:srgbClr val="1A1A2E"/>
                </a:solidFill>
                <a:latin typeface="Calibri" pitchFamily="34" charset="0"/>
                <a:ea typeface="Calibri" pitchFamily="34" charset="-122"/>
                <a:cs typeface="Calibri" pitchFamily="34" charset="-120"/>
              </a:rPr>
              <a:t>Student survey data collected via Google Forms</a:t>
            </a:r>
          </a:p>
          <a:p>
            <a:pPr marL="0" indent="0">
              <a:buNone/>
            </a:pPr>
            <a:r>
              <a:rPr lang="en-US" sz="1400" dirty="0">
                <a:solidFill>
                  <a:srgbClr val="1A1A2E"/>
                </a:solidFill>
                <a:latin typeface="Calibri" pitchFamily="34" charset="0"/>
                <a:ea typeface="Calibri" pitchFamily="34" charset="-122"/>
                <a:cs typeface="Calibri" pitchFamily="34" charset="-120"/>
              </a:rPr>
              <a:t>Responses stored in Excel (.xlsx) format </a:t>
            </a:r>
          </a:p>
          <a:p>
            <a:pPr marL="0" indent="0">
              <a:buNone/>
            </a:pPr>
            <a:r>
              <a:rPr lang="en-US" sz="1400" dirty="0">
                <a:solidFill>
                  <a:srgbClr val="1A1A2E"/>
                </a:solidFill>
                <a:latin typeface="Calibri" pitchFamily="34" charset="0"/>
                <a:ea typeface="Calibri" pitchFamily="34" charset="-122"/>
                <a:cs typeface="Calibri" pitchFamily="34" charset="-120"/>
              </a:rPr>
              <a:t>Includes demographics and TAM constructs]</a:t>
            </a:r>
            <a:endParaRPr lang="en-US" sz="1400" dirty="0"/>
          </a:p>
        </p:txBody>
      </p:sp>
      <p:sp>
        <p:nvSpPr>
          <p:cNvPr id="10" name="Shape 8"/>
          <p:cNvSpPr/>
          <p:nvPr/>
        </p:nvSpPr>
        <p:spPr>
          <a:xfrm>
            <a:off x="4709160" y="1097280"/>
            <a:ext cx="4114800" cy="384048"/>
          </a:xfrm>
          <a:prstGeom prst="rect">
            <a:avLst/>
          </a:prstGeom>
          <a:solidFill>
            <a:srgbClr val="1565C0"/>
          </a:solidFill>
          <a:ln/>
        </p:spPr>
      </p:sp>
      <p:sp>
        <p:nvSpPr>
          <p:cNvPr id="11" name="Shape 9"/>
          <p:cNvSpPr/>
          <p:nvPr/>
        </p:nvSpPr>
        <p:spPr>
          <a:xfrm>
            <a:off x="8641080" y="1097280"/>
            <a:ext cx="320040" cy="384048"/>
          </a:xfrm>
          <a:prstGeom prst="rect">
            <a:avLst/>
          </a:prstGeom>
          <a:solidFill>
            <a:srgbClr val="1B3A8A"/>
          </a:solidFill>
          <a:ln/>
        </p:spPr>
      </p:sp>
      <p:sp>
        <p:nvSpPr>
          <p:cNvPr id="12" name="Text 10"/>
          <p:cNvSpPr/>
          <p:nvPr/>
        </p:nvSpPr>
        <p:spPr>
          <a:xfrm>
            <a:off x="4800600" y="1133856"/>
            <a:ext cx="3840480" cy="310896"/>
          </a:xfrm>
          <a:prstGeom prst="rect">
            <a:avLst/>
          </a:prstGeom>
          <a:noFill/>
          <a:ln/>
        </p:spPr>
        <p:txBody>
          <a:bodyPr wrap="square" rtlCol="0" anchor="ctr"/>
          <a:lstStyle/>
          <a:p>
            <a:pPr marL="0" indent="0">
              <a:buNone/>
            </a:pPr>
            <a:r>
              <a:rPr lang="en-US" sz="1200" b="1">
                <a:solidFill>
                  <a:srgbClr val="FFFFFF"/>
                </a:solidFill>
                <a:latin typeface="Calibri" pitchFamily="34" charset="0"/>
                <a:ea typeface="Calibri" pitchFamily="34" charset="-122"/>
                <a:cs typeface="Calibri" pitchFamily="34" charset="-120"/>
              </a:rPr>
              <a:t>Processing / Analysis</a:t>
            </a:r>
            <a:endParaRPr lang="en-US" sz="1200"/>
          </a:p>
        </p:txBody>
      </p:sp>
      <p:sp>
        <p:nvSpPr>
          <p:cNvPr id="13" name="Text 11"/>
          <p:cNvSpPr/>
          <p:nvPr/>
        </p:nvSpPr>
        <p:spPr>
          <a:xfrm>
            <a:off x="4800600" y="1554480"/>
            <a:ext cx="4023360" cy="1188720"/>
          </a:xfrm>
          <a:prstGeom prst="rect">
            <a:avLst/>
          </a:prstGeom>
          <a:noFill/>
          <a:ln/>
        </p:spPr>
        <p:txBody>
          <a:bodyPr wrap="square" rtlCol="0" anchor="t"/>
          <a:lstStyle/>
          <a:p>
            <a:pPr marL="0" indent="0">
              <a:buNone/>
            </a:pPr>
            <a:r>
              <a:rPr lang="en-US" sz="1400" dirty="0">
                <a:solidFill>
                  <a:srgbClr val="1A1A2E"/>
                </a:solidFill>
                <a:latin typeface="Calibri" pitchFamily="34" charset="0"/>
                <a:ea typeface="Calibri" pitchFamily="34" charset="-122"/>
                <a:cs typeface="Calibri" pitchFamily="34" charset="-120"/>
              </a:rPr>
              <a:t>Data cleaned and structured</a:t>
            </a:r>
          </a:p>
          <a:p>
            <a:pPr marL="0" indent="0">
              <a:buNone/>
            </a:pPr>
            <a:r>
              <a:rPr lang="en-US" sz="1400" dirty="0">
                <a:solidFill>
                  <a:srgbClr val="1A1A2E"/>
                </a:solidFill>
                <a:latin typeface="Calibri" pitchFamily="34" charset="0"/>
                <a:ea typeface="Calibri" pitchFamily="34" charset="-122"/>
                <a:cs typeface="Calibri" pitchFamily="34" charset="-120"/>
              </a:rPr>
              <a:t>TAM constructs grouped (BEL, PUE, PEE, PSE, BIE)</a:t>
            </a:r>
          </a:p>
          <a:p>
            <a:pPr marL="0" indent="0">
              <a:buNone/>
            </a:pPr>
            <a:r>
              <a:rPr lang="en-US" sz="1400" dirty="0">
                <a:solidFill>
                  <a:srgbClr val="1A1A2E"/>
                </a:solidFill>
                <a:latin typeface="Calibri" pitchFamily="34" charset="0"/>
                <a:ea typeface="Calibri" pitchFamily="34" charset="-122"/>
                <a:cs typeface="Calibri" pitchFamily="34" charset="-120"/>
              </a:rPr>
              <a:t>Mean scores and relationships calculated using DAX</a:t>
            </a:r>
            <a:endParaRPr lang="en-US" sz="1400" dirty="0"/>
          </a:p>
        </p:txBody>
      </p:sp>
      <p:sp>
        <p:nvSpPr>
          <p:cNvPr id="14" name="Shape 12"/>
          <p:cNvSpPr/>
          <p:nvPr/>
        </p:nvSpPr>
        <p:spPr>
          <a:xfrm>
            <a:off x="274320" y="2926080"/>
            <a:ext cx="4114800" cy="384048"/>
          </a:xfrm>
          <a:prstGeom prst="rect">
            <a:avLst/>
          </a:prstGeom>
          <a:solidFill>
            <a:srgbClr val="1565C0"/>
          </a:solidFill>
          <a:ln/>
        </p:spPr>
      </p:sp>
      <p:sp>
        <p:nvSpPr>
          <p:cNvPr id="15" name="Shape 13"/>
          <p:cNvSpPr/>
          <p:nvPr/>
        </p:nvSpPr>
        <p:spPr>
          <a:xfrm>
            <a:off x="4206240" y="2926080"/>
            <a:ext cx="320040" cy="384048"/>
          </a:xfrm>
          <a:prstGeom prst="rect">
            <a:avLst/>
          </a:prstGeom>
          <a:solidFill>
            <a:srgbClr val="1B3A8A"/>
          </a:solidFill>
          <a:ln/>
        </p:spPr>
      </p:sp>
      <p:sp>
        <p:nvSpPr>
          <p:cNvPr id="16" name="Text 14"/>
          <p:cNvSpPr/>
          <p:nvPr/>
        </p:nvSpPr>
        <p:spPr>
          <a:xfrm>
            <a:off x="365760" y="2962656"/>
            <a:ext cx="3840480" cy="310896"/>
          </a:xfrm>
          <a:prstGeom prst="rect">
            <a:avLst/>
          </a:prstGeom>
          <a:noFill/>
          <a:ln/>
        </p:spPr>
        <p:txBody>
          <a:bodyPr wrap="square" rtlCol="0" anchor="ctr"/>
          <a:lstStyle/>
          <a:p>
            <a:pPr marL="0" indent="0">
              <a:buNone/>
            </a:pPr>
            <a:r>
              <a:rPr lang="en-US" sz="1200" b="1">
                <a:solidFill>
                  <a:srgbClr val="FFFFFF"/>
                </a:solidFill>
                <a:latin typeface="Calibri" pitchFamily="34" charset="0"/>
                <a:ea typeface="Calibri" pitchFamily="34" charset="-122"/>
                <a:cs typeface="Calibri" pitchFamily="34" charset="-120"/>
              </a:rPr>
              <a:t>AI / Tool Integration</a:t>
            </a:r>
            <a:endParaRPr lang="en-US" sz="1200"/>
          </a:p>
        </p:txBody>
      </p:sp>
      <p:sp>
        <p:nvSpPr>
          <p:cNvPr id="17" name="Text 15"/>
          <p:cNvSpPr/>
          <p:nvPr/>
        </p:nvSpPr>
        <p:spPr>
          <a:xfrm>
            <a:off x="365760" y="3383280"/>
            <a:ext cx="4023360" cy="1188720"/>
          </a:xfrm>
          <a:prstGeom prst="rect">
            <a:avLst/>
          </a:prstGeom>
          <a:noFill/>
          <a:ln/>
        </p:spPr>
        <p:txBody>
          <a:bodyPr wrap="square" rtlCol="0" anchor="t"/>
          <a:lstStyle/>
          <a:p>
            <a:pPr marL="0" indent="0">
              <a:buNone/>
            </a:pPr>
            <a:r>
              <a:rPr lang="en-US" sz="1400" dirty="0">
                <a:solidFill>
                  <a:srgbClr val="1A1A2E"/>
                </a:solidFill>
                <a:latin typeface="Calibri" pitchFamily="34" charset="0"/>
                <a:ea typeface="Calibri" pitchFamily="34" charset="-122"/>
                <a:cs typeface="Calibri" pitchFamily="34" charset="-120"/>
              </a:rPr>
              <a:t>Excel for data validation</a:t>
            </a:r>
          </a:p>
          <a:p>
            <a:pPr marL="0" indent="0">
              <a:buNone/>
            </a:pPr>
            <a:r>
              <a:rPr lang="en-US" sz="1400" dirty="0">
                <a:solidFill>
                  <a:srgbClr val="1A1A2E"/>
                </a:solidFill>
                <a:latin typeface="Calibri" pitchFamily="34" charset="0"/>
                <a:ea typeface="Calibri" pitchFamily="34" charset="-122"/>
                <a:cs typeface="Calibri" pitchFamily="34" charset="-120"/>
              </a:rPr>
              <a:t>Power BI for modeling and visualization</a:t>
            </a:r>
          </a:p>
          <a:p>
            <a:pPr marL="0" indent="0">
              <a:buNone/>
            </a:pPr>
            <a:r>
              <a:rPr lang="en-US" sz="1400" dirty="0">
                <a:solidFill>
                  <a:srgbClr val="1A1A2E"/>
                </a:solidFill>
                <a:latin typeface="Calibri" pitchFamily="34" charset="0"/>
                <a:ea typeface="Calibri" pitchFamily="34" charset="-122"/>
                <a:cs typeface="Calibri" pitchFamily="34" charset="-120"/>
              </a:rPr>
              <a:t>DAX for calculations and analysis</a:t>
            </a:r>
          </a:p>
          <a:p>
            <a:pPr marL="0" indent="0">
              <a:buNone/>
            </a:pPr>
            <a:r>
              <a:rPr lang="en-US" sz="1400" dirty="0">
                <a:solidFill>
                  <a:srgbClr val="1A1A2E"/>
                </a:solidFill>
                <a:latin typeface="Calibri" pitchFamily="34" charset="0"/>
                <a:ea typeface="Calibri" pitchFamily="34" charset="-122"/>
                <a:cs typeface="Calibri" pitchFamily="34" charset="-120"/>
              </a:rPr>
              <a:t>AI/Copilot used for support and interpretation</a:t>
            </a:r>
            <a:endParaRPr lang="en-US" sz="1400" dirty="0"/>
          </a:p>
        </p:txBody>
      </p:sp>
      <p:sp>
        <p:nvSpPr>
          <p:cNvPr id="18" name="Shape 16"/>
          <p:cNvSpPr/>
          <p:nvPr/>
        </p:nvSpPr>
        <p:spPr>
          <a:xfrm>
            <a:off x="4709160" y="2926080"/>
            <a:ext cx="4114800" cy="384048"/>
          </a:xfrm>
          <a:prstGeom prst="rect">
            <a:avLst/>
          </a:prstGeom>
          <a:solidFill>
            <a:srgbClr val="1565C0"/>
          </a:solidFill>
          <a:ln/>
        </p:spPr>
      </p:sp>
      <p:sp>
        <p:nvSpPr>
          <p:cNvPr id="19" name="Shape 17"/>
          <p:cNvSpPr/>
          <p:nvPr/>
        </p:nvSpPr>
        <p:spPr>
          <a:xfrm>
            <a:off x="8641080" y="2926080"/>
            <a:ext cx="320040" cy="384048"/>
          </a:xfrm>
          <a:prstGeom prst="rect">
            <a:avLst/>
          </a:prstGeom>
          <a:solidFill>
            <a:srgbClr val="1B3A8A"/>
          </a:solidFill>
          <a:ln/>
        </p:spPr>
      </p:sp>
      <p:sp>
        <p:nvSpPr>
          <p:cNvPr id="20" name="Text 18"/>
          <p:cNvSpPr/>
          <p:nvPr/>
        </p:nvSpPr>
        <p:spPr>
          <a:xfrm>
            <a:off x="4800600" y="2962656"/>
            <a:ext cx="3840480" cy="310896"/>
          </a:xfrm>
          <a:prstGeom prst="rect">
            <a:avLst/>
          </a:prstGeom>
          <a:noFill/>
          <a:ln/>
        </p:spPr>
        <p:txBody>
          <a:bodyPr wrap="square" rtlCol="0" anchor="ctr"/>
          <a:lstStyle/>
          <a:p>
            <a:pPr marL="0" indent="0">
              <a:buNone/>
            </a:pPr>
            <a:r>
              <a:rPr lang="en-US" sz="1200" b="1">
                <a:solidFill>
                  <a:srgbClr val="FFFFFF"/>
                </a:solidFill>
                <a:latin typeface="Calibri" pitchFamily="34" charset="0"/>
                <a:ea typeface="Calibri" pitchFamily="34" charset="-122"/>
                <a:cs typeface="Calibri" pitchFamily="34" charset="-120"/>
              </a:rPr>
              <a:t>Output / Dashboard</a:t>
            </a:r>
            <a:endParaRPr lang="en-US" sz="1200"/>
          </a:p>
        </p:txBody>
      </p:sp>
      <p:sp>
        <p:nvSpPr>
          <p:cNvPr id="21" name="Text 19"/>
          <p:cNvSpPr/>
          <p:nvPr/>
        </p:nvSpPr>
        <p:spPr>
          <a:xfrm>
            <a:off x="4800600" y="3383280"/>
            <a:ext cx="4023360" cy="1188720"/>
          </a:xfrm>
          <a:prstGeom prst="rect">
            <a:avLst/>
          </a:prstGeom>
          <a:noFill/>
          <a:ln/>
        </p:spPr>
        <p:txBody>
          <a:bodyPr wrap="square" rtlCol="0" anchor="t"/>
          <a:lstStyle/>
          <a:p>
            <a:pPr marL="0" indent="0">
              <a:buNone/>
            </a:pPr>
            <a:r>
              <a:rPr lang="en-US" sz="1400" dirty="0">
                <a:solidFill>
                  <a:srgbClr val="1A1A2E"/>
                </a:solidFill>
                <a:latin typeface="Calibri" pitchFamily="34" charset="0"/>
                <a:ea typeface="Calibri" pitchFamily="34" charset="-122"/>
                <a:cs typeface="Calibri" pitchFamily="34" charset="-120"/>
              </a:rPr>
              <a:t>Interactive Power BI dashboard</a:t>
            </a:r>
          </a:p>
          <a:p>
            <a:pPr marL="0" indent="0">
              <a:buNone/>
            </a:pPr>
            <a:r>
              <a:rPr lang="en-US" sz="1400" dirty="0">
                <a:solidFill>
                  <a:srgbClr val="1A1A2E"/>
                </a:solidFill>
                <a:latin typeface="Calibri" pitchFamily="34" charset="0"/>
                <a:ea typeface="Calibri" pitchFamily="34" charset="-122"/>
                <a:cs typeface="Calibri" pitchFamily="34" charset="-120"/>
              </a:rPr>
              <a:t>Mean scores, item‑wise analysis, and scatter plots</a:t>
            </a:r>
          </a:p>
          <a:p>
            <a:pPr marL="0" indent="0">
              <a:buNone/>
            </a:pPr>
            <a:r>
              <a:rPr lang="en-US" sz="1400" dirty="0">
                <a:solidFill>
                  <a:srgbClr val="1A1A2E"/>
                </a:solidFill>
                <a:latin typeface="Calibri" pitchFamily="34" charset="0"/>
                <a:ea typeface="Calibri" pitchFamily="34" charset="-122"/>
                <a:cs typeface="Calibri" pitchFamily="34" charset="-120"/>
              </a:rPr>
              <a:t>Filters by age, gender, course, and platform</a:t>
            </a:r>
          </a:p>
          <a:p>
            <a:pPr marL="0" indent="0">
              <a:buNone/>
            </a:pPr>
            <a:r>
              <a:rPr lang="en-US" sz="1400" dirty="0">
                <a:solidFill>
                  <a:srgbClr val="1A1A2E"/>
                </a:solidFill>
                <a:latin typeface="Calibri" pitchFamily="34" charset="0"/>
                <a:ea typeface="Calibri" pitchFamily="34" charset="-122"/>
                <a:cs typeface="Calibri" pitchFamily="34" charset="-120"/>
              </a:rPr>
              <a:t>Insights into e‑learning adoption</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8E190C-2B76-F70B-8D13-4F71068171BE}"/>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175F9F3D-55BC-5478-C23C-2619F593FA70}"/>
              </a:ext>
            </a:extLst>
          </p:cNvPr>
          <p:cNvSpPr/>
          <p:nvPr/>
        </p:nvSpPr>
        <p:spPr>
          <a:xfrm>
            <a:off x="0" y="0"/>
            <a:ext cx="9144000" cy="502920"/>
          </a:xfrm>
          <a:prstGeom prst="rect">
            <a:avLst/>
          </a:prstGeom>
          <a:solidFill>
            <a:srgbClr val="1B3A8A"/>
          </a:solidFill>
          <a:ln/>
        </p:spPr>
      </p:sp>
      <p:sp>
        <p:nvSpPr>
          <p:cNvPr id="3" name="Text 1">
            <a:extLst>
              <a:ext uri="{FF2B5EF4-FFF2-40B4-BE49-F238E27FC236}">
                <a16:creationId xmlns:a16="http://schemas.microsoft.com/office/drawing/2014/main" id="{3CBB1D15-CE5B-735A-70CB-49CBF15C1238}"/>
              </a:ext>
            </a:extLst>
          </p:cNvPr>
          <p:cNvSpPr/>
          <p:nvPr/>
        </p:nvSpPr>
        <p:spPr>
          <a:xfrm>
            <a:off x="7772400" y="45720"/>
            <a:ext cx="1280160" cy="411480"/>
          </a:xfrm>
          <a:prstGeom prst="rect">
            <a:avLst/>
          </a:prstGeom>
          <a:noFill/>
          <a:ln/>
        </p:spPr>
        <p:txBody>
          <a:bodyPr wrap="square" rtlCol="0" anchor="ctr"/>
          <a:lstStyle/>
          <a:p>
            <a:pPr marL="0" indent="0" algn="r">
              <a:buNone/>
            </a:pPr>
            <a:r>
              <a:rPr lang="en-US" sz="800" b="1">
                <a:solidFill>
                  <a:srgbClr val="4FC3F7"/>
                </a:solidFill>
                <a:latin typeface="Calibri" pitchFamily="34" charset="0"/>
                <a:ea typeface="Calibri" pitchFamily="34" charset="-122"/>
                <a:cs typeface="Calibri" pitchFamily="34" charset="-120"/>
              </a:rPr>
              <a:t>edunet</a:t>
            </a:r>
            <a:endParaRPr lang="en-US" sz="800"/>
          </a:p>
          <a:p>
            <a:pPr marL="0" indent="0" algn="r">
              <a:buNone/>
            </a:pPr>
            <a:r>
              <a:rPr lang="en-US" sz="800" b="1">
                <a:solidFill>
                  <a:srgbClr val="4FC3F7"/>
                </a:solidFill>
                <a:latin typeface="Calibri" pitchFamily="34" charset="0"/>
                <a:ea typeface="Calibri" pitchFamily="34" charset="-122"/>
                <a:cs typeface="Calibri" pitchFamily="34" charset="-120"/>
              </a:rPr>
              <a:t>foundation</a:t>
            </a:r>
            <a:endParaRPr lang="en-US" sz="800"/>
          </a:p>
        </p:txBody>
      </p:sp>
      <p:sp>
        <p:nvSpPr>
          <p:cNvPr id="4" name="Text 2">
            <a:extLst>
              <a:ext uri="{FF2B5EF4-FFF2-40B4-BE49-F238E27FC236}">
                <a16:creationId xmlns:a16="http://schemas.microsoft.com/office/drawing/2014/main" id="{5EF652C9-685E-6E83-5D90-02F79958C8DA}"/>
              </a:ext>
            </a:extLst>
          </p:cNvPr>
          <p:cNvSpPr/>
          <p:nvPr/>
        </p:nvSpPr>
        <p:spPr>
          <a:xfrm>
            <a:off x="320040" y="621792"/>
            <a:ext cx="8229600" cy="438912"/>
          </a:xfrm>
          <a:prstGeom prst="rect">
            <a:avLst/>
          </a:prstGeom>
          <a:noFill/>
          <a:ln/>
        </p:spPr>
        <p:txBody>
          <a:bodyPr wrap="square" rtlCol="0" anchor="ctr"/>
          <a:lstStyle/>
          <a:p>
            <a:pPr marL="0" indent="0">
              <a:buNone/>
            </a:pPr>
            <a:r>
              <a:rPr lang="en-US" sz="2800" b="1" dirty="0">
                <a:solidFill>
                  <a:srgbClr val="1B3A8A"/>
                </a:solidFill>
                <a:latin typeface="Calibri" pitchFamily="34" charset="0"/>
                <a:ea typeface="Calibri" pitchFamily="34" charset="-122"/>
                <a:cs typeface="Calibri" pitchFamily="34" charset="-120"/>
              </a:rPr>
              <a:t>Demographic Analysis</a:t>
            </a:r>
            <a:endParaRPr lang="en-US" sz="2800" dirty="0"/>
          </a:p>
        </p:txBody>
      </p:sp>
      <p:sp>
        <p:nvSpPr>
          <p:cNvPr id="5" name="Shape 3">
            <a:extLst>
              <a:ext uri="{FF2B5EF4-FFF2-40B4-BE49-F238E27FC236}">
                <a16:creationId xmlns:a16="http://schemas.microsoft.com/office/drawing/2014/main" id="{7BAC09D2-C4A1-3715-5D6F-1A8446279503}"/>
              </a:ext>
            </a:extLst>
          </p:cNvPr>
          <p:cNvSpPr/>
          <p:nvPr/>
        </p:nvSpPr>
        <p:spPr>
          <a:xfrm>
            <a:off x="0" y="4983480"/>
            <a:ext cx="9144000" cy="160020"/>
          </a:xfrm>
          <a:prstGeom prst="rect">
            <a:avLst/>
          </a:prstGeom>
          <a:solidFill>
            <a:srgbClr val="1B3A8A"/>
          </a:solidFill>
          <a:ln/>
        </p:spPr>
      </p:sp>
      <p:sp>
        <p:nvSpPr>
          <p:cNvPr id="7" name="TextBox 6">
            <a:extLst>
              <a:ext uri="{FF2B5EF4-FFF2-40B4-BE49-F238E27FC236}">
                <a16:creationId xmlns:a16="http://schemas.microsoft.com/office/drawing/2014/main" id="{92BA356C-AAA4-0A0D-17B5-6848853631E1}"/>
              </a:ext>
            </a:extLst>
          </p:cNvPr>
          <p:cNvSpPr txBox="1"/>
          <p:nvPr/>
        </p:nvSpPr>
        <p:spPr>
          <a:xfrm>
            <a:off x="168964" y="1618489"/>
            <a:ext cx="4802820" cy="2246769"/>
          </a:xfrm>
          <a:prstGeom prst="rect">
            <a:avLst/>
          </a:prstGeom>
          <a:noFill/>
        </p:spPr>
        <p:txBody>
          <a:bodyPr wrap="square">
            <a:spAutoFit/>
          </a:bodyPr>
          <a:lstStyle/>
          <a:p>
            <a:pPr marL="342900" indent="-342900">
              <a:buFont typeface="Arial" panose="020B0604020202020204" pitchFamily="34" charset="0"/>
              <a:buChar char="•"/>
            </a:pPr>
            <a:r>
              <a:rPr lang="en-US" sz="2000" dirty="0"/>
              <a:t>Male respondents: 196 (68.29%)Female respondents: 91 (31.71%) The dataset shows higher male participation, but female representation remains substantial. This distribution provides a balanced basis for analyzing e‑learning adoption across genders</a:t>
            </a:r>
          </a:p>
        </p:txBody>
      </p:sp>
      <p:pic>
        <p:nvPicPr>
          <p:cNvPr id="8" name="Picture 7">
            <a:extLst>
              <a:ext uri="{FF2B5EF4-FFF2-40B4-BE49-F238E27FC236}">
                <a16:creationId xmlns:a16="http://schemas.microsoft.com/office/drawing/2014/main" id="{BD000258-7A45-C04C-C8D7-387B52E7AEEE}"/>
              </a:ext>
            </a:extLst>
          </p:cNvPr>
          <p:cNvPicPr>
            <a:picLocks noChangeAspect="1"/>
          </p:cNvPicPr>
          <p:nvPr/>
        </p:nvPicPr>
        <p:blipFill>
          <a:blip r:embed="rId3"/>
          <a:stretch>
            <a:fillRect/>
          </a:stretch>
        </p:blipFill>
        <p:spPr>
          <a:xfrm>
            <a:off x="4711701" y="835920"/>
            <a:ext cx="4263335" cy="3589775"/>
          </a:xfrm>
          <a:prstGeom prst="rect">
            <a:avLst/>
          </a:prstGeom>
        </p:spPr>
      </p:pic>
    </p:spTree>
    <p:extLst>
      <p:ext uri="{BB962C8B-B14F-4D97-AF65-F5344CB8AC3E}">
        <p14:creationId xmlns:p14="http://schemas.microsoft.com/office/powerpoint/2010/main" val="75359524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E70F4D-FF06-C0F3-6E0B-15A1374CB933}"/>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ED9567B4-A864-50A6-7D89-C6810207F7D4}"/>
              </a:ext>
            </a:extLst>
          </p:cNvPr>
          <p:cNvSpPr/>
          <p:nvPr/>
        </p:nvSpPr>
        <p:spPr>
          <a:xfrm>
            <a:off x="0" y="0"/>
            <a:ext cx="9144000" cy="502920"/>
          </a:xfrm>
          <a:prstGeom prst="rect">
            <a:avLst/>
          </a:prstGeom>
          <a:solidFill>
            <a:srgbClr val="1B3A8A"/>
          </a:solidFill>
          <a:ln/>
        </p:spPr>
      </p:sp>
      <p:sp>
        <p:nvSpPr>
          <p:cNvPr id="3" name="Text 1">
            <a:extLst>
              <a:ext uri="{FF2B5EF4-FFF2-40B4-BE49-F238E27FC236}">
                <a16:creationId xmlns:a16="http://schemas.microsoft.com/office/drawing/2014/main" id="{355109A5-EF3E-AB34-8205-EF7BAF49B34A}"/>
              </a:ext>
            </a:extLst>
          </p:cNvPr>
          <p:cNvSpPr/>
          <p:nvPr/>
        </p:nvSpPr>
        <p:spPr>
          <a:xfrm>
            <a:off x="7772400" y="45720"/>
            <a:ext cx="1280160" cy="411480"/>
          </a:xfrm>
          <a:prstGeom prst="rect">
            <a:avLst/>
          </a:prstGeom>
          <a:noFill/>
          <a:ln/>
        </p:spPr>
        <p:txBody>
          <a:bodyPr wrap="square" rtlCol="0" anchor="ctr"/>
          <a:lstStyle/>
          <a:p>
            <a:pPr marL="0" indent="0" algn="r">
              <a:buNone/>
            </a:pPr>
            <a:r>
              <a:rPr lang="en-US" sz="800" b="1">
                <a:solidFill>
                  <a:srgbClr val="4FC3F7"/>
                </a:solidFill>
                <a:latin typeface="Calibri" pitchFamily="34" charset="0"/>
                <a:ea typeface="Calibri" pitchFamily="34" charset="-122"/>
                <a:cs typeface="Calibri" pitchFamily="34" charset="-120"/>
              </a:rPr>
              <a:t>edunet</a:t>
            </a:r>
            <a:endParaRPr lang="en-US" sz="800"/>
          </a:p>
          <a:p>
            <a:pPr marL="0" indent="0" algn="r">
              <a:buNone/>
            </a:pPr>
            <a:r>
              <a:rPr lang="en-US" sz="800" b="1">
                <a:solidFill>
                  <a:srgbClr val="4FC3F7"/>
                </a:solidFill>
                <a:latin typeface="Calibri" pitchFamily="34" charset="0"/>
                <a:ea typeface="Calibri" pitchFamily="34" charset="-122"/>
                <a:cs typeface="Calibri" pitchFamily="34" charset="-120"/>
              </a:rPr>
              <a:t>foundation</a:t>
            </a:r>
            <a:endParaRPr lang="en-US" sz="800"/>
          </a:p>
        </p:txBody>
      </p:sp>
      <p:sp>
        <p:nvSpPr>
          <p:cNvPr id="4" name="Text 2">
            <a:extLst>
              <a:ext uri="{FF2B5EF4-FFF2-40B4-BE49-F238E27FC236}">
                <a16:creationId xmlns:a16="http://schemas.microsoft.com/office/drawing/2014/main" id="{4E724F37-B898-C25A-9B5F-7DF6DB5AA2C0}"/>
              </a:ext>
            </a:extLst>
          </p:cNvPr>
          <p:cNvSpPr/>
          <p:nvPr/>
        </p:nvSpPr>
        <p:spPr>
          <a:xfrm>
            <a:off x="320040" y="621792"/>
            <a:ext cx="8229600" cy="438912"/>
          </a:xfrm>
          <a:prstGeom prst="rect">
            <a:avLst/>
          </a:prstGeom>
          <a:noFill/>
          <a:ln/>
        </p:spPr>
        <p:txBody>
          <a:bodyPr wrap="square" rtlCol="0" anchor="ctr"/>
          <a:lstStyle/>
          <a:p>
            <a:pPr marL="0" indent="0">
              <a:buNone/>
            </a:pPr>
            <a:r>
              <a:rPr lang="en-US" sz="2800" b="1" dirty="0">
                <a:solidFill>
                  <a:srgbClr val="1B3A8A"/>
                </a:solidFill>
                <a:latin typeface="Calibri" pitchFamily="34" charset="0"/>
                <a:ea typeface="Calibri" pitchFamily="34" charset="-122"/>
                <a:cs typeface="Calibri" pitchFamily="34" charset="-120"/>
              </a:rPr>
              <a:t>Demographic Analysis</a:t>
            </a:r>
            <a:endParaRPr lang="en-US" sz="2800" dirty="0"/>
          </a:p>
        </p:txBody>
      </p:sp>
      <p:sp>
        <p:nvSpPr>
          <p:cNvPr id="5" name="Shape 3">
            <a:extLst>
              <a:ext uri="{FF2B5EF4-FFF2-40B4-BE49-F238E27FC236}">
                <a16:creationId xmlns:a16="http://schemas.microsoft.com/office/drawing/2014/main" id="{B040283B-6EC8-7493-40CC-347773E7E0AB}"/>
              </a:ext>
            </a:extLst>
          </p:cNvPr>
          <p:cNvSpPr/>
          <p:nvPr/>
        </p:nvSpPr>
        <p:spPr>
          <a:xfrm>
            <a:off x="0" y="4983480"/>
            <a:ext cx="9144000" cy="160020"/>
          </a:xfrm>
          <a:prstGeom prst="rect">
            <a:avLst/>
          </a:prstGeom>
          <a:solidFill>
            <a:srgbClr val="1B3A8A"/>
          </a:solidFill>
          <a:ln/>
        </p:spPr>
      </p:sp>
      <p:sp>
        <p:nvSpPr>
          <p:cNvPr id="7" name="TextBox 6">
            <a:extLst>
              <a:ext uri="{FF2B5EF4-FFF2-40B4-BE49-F238E27FC236}">
                <a16:creationId xmlns:a16="http://schemas.microsoft.com/office/drawing/2014/main" id="{01424DC1-4C60-6E6D-DC9B-B7A733A1EA8A}"/>
              </a:ext>
            </a:extLst>
          </p:cNvPr>
          <p:cNvSpPr txBox="1"/>
          <p:nvPr/>
        </p:nvSpPr>
        <p:spPr>
          <a:xfrm>
            <a:off x="412068" y="1879252"/>
            <a:ext cx="4112261" cy="830997"/>
          </a:xfrm>
          <a:prstGeom prst="rect">
            <a:avLst/>
          </a:prstGeom>
          <a:noFill/>
        </p:spPr>
        <p:txBody>
          <a:bodyPr wrap="square">
            <a:spAutoFit/>
          </a:bodyPr>
          <a:lstStyle/>
          <a:p>
            <a:pPr marL="342900" indent="-342900">
              <a:buFont typeface="Arial" panose="020B0604020202020204" pitchFamily="34" charset="0"/>
              <a:buChar char="•"/>
            </a:pPr>
            <a:r>
              <a:rPr lang="en-US" sz="2400" dirty="0"/>
              <a:t>Majority respondents belong to the 15–24 age group</a:t>
            </a:r>
            <a:r>
              <a:rPr lang="en-IN" sz="2400" dirty="0"/>
              <a:t>.</a:t>
            </a:r>
            <a:endParaRPr lang="en-US" sz="2400" dirty="0"/>
          </a:p>
        </p:txBody>
      </p:sp>
      <p:pic>
        <p:nvPicPr>
          <p:cNvPr id="10" name="Picture 9">
            <a:extLst>
              <a:ext uri="{FF2B5EF4-FFF2-40B4-BE49-F238E27FC236}">
                <a16:creationId xmlns:a16="http://schemas.microsoft.com/office/drawing/2014/main" id="{FF24A292-16C4-011E-04A3-96258D36B238}"/>
              </a:ext>
            </a:extLst>
          </p:cNvPr>
          <p:cNvPicPr>
            <a:picLocks noChangeAspect="1"/>
          </p:cNvPicPr>
          <p:nvPr/>
        </p:nvPicPr>
        <p:blipFill>
          <a:blip r:embed="rId3"/>
          <a:stretch>
            <a:fillRect/>
          </a:stretch>
        </p:blipFill>
        <p:spPr>
          <a:xfrm>
            <a:off x="4906383" y="1035314"/>
            <a:ext cx="3825549" cy="3072869"/>
          </a:xfrm>
          <a:prstGeom prst="rect">
            <a:avLst/>
          </a:prstGeom>
        </p:spPr>
      </p:pic>
    </p:spTree>
    <p:extLst>
      <p:ext uri="{BB962C8B-B14F-4D97-AF65-F5344CB8AC3E}">
        <p14:creationId xmlns:p14="http://schemas.microsoft.com/office/powerpoint/2010/main" val="206453040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EB8C90-6C5E-2B59-0531-4B100FF198A2}"/>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F9F49C8E-AA08-7E88-23E9-A37B27A1CA75}"/>
              </a:ext>
            </a:extLst>
          </p:cNvPr>
          <p:cNvSpPr/>
          <p:nvPr/>
        </p:nvSpPr>
        <p:spPr>
          <a:xfrm>
            <a:off x="0" y="0"/>
            <a:ext cx="9144000" cy="502920"/>
          </a:xfrm>
          <a:prstGeom prst="rect">
            <a:avLst/>
          </a:prstGeom>
          <a:solidFill>
            <a:srgbClr val="1B3A8A"/>
          </a:solidFill>
          <a:ln/>
        </p:spPr>
      </p:sp>
      <p:sp>
        <p:nvSpPr>
          <p:cNvPr id="3" name="Text 1">
            <a:extLst>
              <a:ext uri="{FF2B5EF4-FFF2-40B4-BE49-F238E27FC236}">
                <a16:creationId xmlns:a16="http://schemas.microsoft.com/office/drawing/2014/main" id="{33008DF1-E6C2-C0AD-0561-B52D53C369CA}"/>
              </a:ext>
            </a:extLst>
          </p:cNvPr>
          <p:cNvSpPr/>
          <p:nvPr/>
        </p:nvSpPr>
        <p:spPr>
          <a:xfrm>
            <a:off x="7772400" y="45720"/>
            <a:ext cx="1280160" cy="411480"/>
          </a:xfrm>
          <a:prstGeom prst="rect">
            <a:avLst/>
          </a:prstGeom>
          <a:noFill/>
          <a:ln/>
        </p:spPr>
        <p:txBody>
          <a:bodyPr wrap="square" rtlCol="0" anchor="ctr"/>
          <a:lstStyle/>
          <a:p>
            <a:pPr marL="0" indent="0" algn="r">
              <a:buNone/>
            </a:pPr>
            <a:r>
              <a:rPr lang="en-US" sz="800" b="1">
                <a:solidFill>
                  <a:srgbClr val="4FC3F7"/>
                </a:solidFill>
                <a:latin typeface="Calibri" pitchFamily="34" charset="0"/>
                <a:ea typeface="Calibri" pitchFamily="34" charset="-122"/>
                <a:cs typeface="Calibri" pitchFamily="34" charset="-120"/>
              </a:rPr>
              <a:t>edunet</a:t>
            </a:r>
            <a:endParaRPr lang="en-US" sz="800"/>
          </a:p>
          <a:p>
            <a:pPr marL="0" indent="0" algn="r">
              <a:buNone/>
            </a:pPr>
            <a:r>
              <a:rPr lang="en-US" sz="800" b="1">
                <a:solidFill>
                  <a:srgbClr val="4FC3F7"/>
                </a:solidFill>
                <a:latin typeface="Calibri" pitchFamily="34" charset="0"/>
                <a:ea typeface="Calibri" pitchFamily="34" charset="-122"/>
                <a:cs typeface="Calibri" pitchFamily="34" charset="-120"/>
              </a:rPr>
              <a:t>foundation</a:t>
            </a:r>
            <a:endParaRPr lang="en-US" sz="800"/>
          </a:p>
        </p:txBody>
      </p:sp>
      <p:sp>
        <p:nvSpPr>
          <p:cNvPr id="4" name="Text 2">
            <a:extLst>
              <a:ext uri="{FF2B5EF4-FFF2-40B4-BE49-F238E27FC236}">
                <a16:creationId xmlns:a16="http://schemas.microsoft.com/office/drawing/2014/main" id="{63361D72-6DD8-850B-2960-35856330E196}"/>
              </a:ext>
            </a:extLst>
          </p:cNvPr>
          <p:cNvSpPr/>
          <p:nvPr/>
        </p:nvSpPr>
        <p:spPr>
          <a:xfrm>
            <a:off x="320040" y="621792"/>
            <a:ext cx="8229600" cy="438912"/>
          </a:xfrm>
          <a:prstGeom prst="rect">
            <a:avLst/>
          </a:prstGeom>
          <a:noFill/>
          <a:ln/>
        </p:spPr>
        <p:txBody>
          <a:bodyPr wrap="square" rtlCol="0" anchor="ctr"/>
          <a:lstStyle/>
          <a:p>
            <a:pPr marL="0" indent="0">
              <a:buNone/>
            </a:pPr>
            <a:r>
              <a:rPr lang="en-US" sz="2800" b="1" dirty="0">
                <a:solidFill>
                  <a:srgbClr val="1B3A8A"/>
                </a:solidFill>
                <a:latin typeface="Calibri" pitchFamily="34" charset="0"/>
                <a:ea typeface="Calibri" pitchFamily="34" charset="-122"/>
                <a:cs typeface="Calibri" pitchFamily="34" charset="-120"/>
              </a:rPr>
              <a:t>Demographic Analysis</a:t>
            </a:r>
            <a:endParaRPr lang="en-US" sz="2800" dirty="0"/>
          </a:p>
        </p:txBody>
      </p:sp>
      <p:sp>
        <p:nvSpPr>
          <p:cNvPr id="5" name="Shape 3">
            <a:extLst>
              <a:ext uri="{FF2B5EF4-FFF2-40B4-BE49-F238E27FC236}">
                <a16:creationId xmlns:a16="http://schemas.microsoft.com/office/drawing/2014/main" id="{B51FBA9F-41A6-6AA7-8D11-0DDFB432919F}"/>
              </a:ext>
            </a:extLst>
          </p:cNvPr>
          <p:cNvSpPr/>
          <p:nvPr/>
        </p:nvSpPr>
        <p:spPr>
          <a:xfrm>
            <a:off x="0" y="4983480"/>
            <a:ext cx="9144000" cy="160020"/>
          </a:xfrm>
          <a:prstGeom prst="rect">
            <a:avLst/>
          </a:prstGeom>
          <a:solidFill>
            <a:srgbClr val="1B3A8A"/>
          </a:solidFill>
          <a:ln/>
        </p:spPr>
      </p:sp>
      <p:sp>
        <p:nvSpPr>
          <p:cNvPr id="7" name="TextBox 6">
            <a:extLst>
              <a:ext uri="{FF2B5EF4-FFF2-40B4-BE49-F238E27FC236}">
                <a16:creationId xmlns:a16="http://schemas.microsoft.com/office/drawing/2014/main" id="{1E74A837-6680-28DA-8F48-E73215B5B57A}"/>
              </a:ext>
            </a:extLst>
          </p:cNvPr>
          <p:cNvSpPr txBox="1"/>
          <p:nvPr/>
        </p:nvSpPr>
        <p:spPr>
          <a:xfrm>
            <a:off x="322579" y="1663809"/>
            <a:ext cx="4112261" cy="1815882"/>
          </a:xfrm>
          <a:prstGeom prst="rect">
            <a:avLst/>
          </a:prstGeom>
          <a:noFill/>
        </p:spPr>
        <p:txBody>
          <a:bodyPr wrap="square">
            <a:spAutoFit/>
          </a:bodyPr>
          <a:lstStyle/>
          <a:p>
            <a:pPr marL="342900" indent="-342900">
              <a:buFont typeface="Arial" panose="020B0604020202020204" pitchFamily="34" charset="0"/>
              <a:buChar char="•"/>
            </a:pPr>
            <a:r>
              <a:rPr lang="en-US" sz="2800" dirty="0"/>
              <a:t>YouTube and LMS platforms are the most commonly used e‑learning resources</a:t>
            </a:r>
          </a:p>
        </p:txBody>
      </p:sp>
      <p:pic>
        <p:nvPicPr>
          <p:cNvPr id="9" name="Picture 8">
            <a:extLst>
              <a:ext uri="{FF2B5EF4-FFF2-40B4-BE49-F238E27FC236}">
                <a16:creationId xmlns:a16="http://schemas.microsoft.com/office/drawing/2014/main" id="{5508BF0D-D2DA-604D-F378-0B8420E3D107}"/>
              </a:ext>
            </a:extLst>
          </p:cNvPr>
          <p:cNvPicPr>
            <a:picLocks noChangeAspect="1"/>
          </p:cNvPicPr>
          <p:nvPr/>
        </p:nvPicPr>
        <p:blipFill>
          <a:blip r:embed="rId3"/>
          <a:stretch>
            <a:fillRect/>
          </a:stretch>
        </p:blipFill>
        <p:spPr>
          <a:xfrm>
            <a:off x="4709163" y="718183"/>
            <a:ext cx="3903978" cy="3905405"/>
          </a:xfrm>
          <a:prstGeom prst="rect">
            <a:avLst/>
          </a:prstGeom>
        </p:spPr>
      </p:pic>
    </p:spTree>
    <p:extLst>
      <p:ext uri="{BB962C8B-B14F-4D97-AF65-F5344CB8AC3E}">
        <p14:creationId xmlns:p14="http://schemas.microsoft.com/office/powerpoint/2010/main" val="316391142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C5ED4E-8D41-AA3B-E7F7-F5C68A360995}"/>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5F4B1931-C8BC-14B5-B220-0913DCDF19FC}"/>
              </a:ext>
            </a:extLst>
          </p:cNvPr>
          <p:cNvSpPr/>
          <p:nvPr/>
        </p:nvSpPr>
        <p:spPr>
          <a:xfrm>
            <a:off x="0" y="0"/>
            <a:ext cx="9144000" cy="502920"/>
          </a:xfrm>
          <a:prstGeom prst="rect">
            <a:avLst/>
          </a:prstGeom>
          <a:solidFill>
            <a:srgbClr val="1B3A8A"/>
          </a:solidFill>
          <a:ln/>
        </p:spPr>
      </p:sp>
      <p:sp>
        <p:nvSpPr>
          <p:cNvPr id="3" name="Text 1">
            <a:extLst>
              <a:ext uri="{FF2B5EF4-FFF2-40B4-BE49-F238E27FC236}">
                <a16:creationId xmlns:a16="http://schemas.microsoft.com/office/drawing/2014/main" id="{B5800743-068D-A55B-EE8F-962E4AA158B5}"/>
              </a:ext>
            </a:extLst>
          </p:cNvPr>
          <p:cNvSpPr/>
          <p:nvPr/>
        </p:nvSpPr>
        <p:spPr>
          <a:xfrm>
            <a:off x="7772400" y="45720"/>
            <a:ext cx="1280160" cy="411480"/>
          </a:xfrm>
          <a:prstGeom prst="rect">
            <a:avLst/>
          </a:prstGeom>
          <a:noFill/>
          <a:ln/>
        </p:spPr>
        <p:txBody>
          <a:bodyPr wrap="square" rtlCol="0" anchor="ctr"/>
          <a:lstStyle/>
          <a:p>
            <a:pPr marL="0" indent="0" algn="r">
              <a:buNone/>
            </a:pPr>
            <a:r>
              <a:rPr lang="en-US" sz="800" b="1">
                <a:solidFill>
                  <a:srgbClr val="4FC3F7"/>
                </a:solidFill>
                <a:latin typeface="Calibri" pitchFamily="34" charset="0"/>
                <a:ea typeface="Calibri" pitchFamily="34" charset="-122"/>
                <a:cs typeface="Calibri" pitchFamily="34" charset="-120"/>
              </a:rPr>
              <a:t>edunet</a:t>
            </a:r>
            <a:endParaRPr lang="en-US" sz="800"/>
          </a:p>
          <a:p>
            <a:pPr marL="0" indent="0" algn="r">
              <a:buNone/>
            </a:pPr>
            <a:r>
              <a:rPr lang="en-US" sz="800" b="1">
                <a:solidFill>
                  <a:srgbClr val="4FC3F7"/>
                </a:solidFill>
                <a:latin typeface="Calibri" pitchFamily="34" charset="0"/>
                <a:ea typeface="Calibri" pitchFamily="34" charset="-122"/>
                <a:cs typeface="Calibri" pitchFamily="34" charset="-120"/>
              </a:rPr>
              <a:t>foundation</a:t>
            </a:r>
            <a:endParaRPr lang="en-US" sz="800"/>
          </a:p>
        </p:txBody>
      </p:sp>
      <p:sp>
        <p:nvSpPr>
          <p:cNvPr id="4" name="Text 2">
            <a:extLst>
              <a:ext uri="{FF2B5EF4-FFF2-40B4-BE49-F238E27FC236}">
                <a16:creationId xmlns:a16="http://schemas.microsoft.com/office/drawing/2014/main" id="{275F339E-11CE-B688-BDDB-C4839FD98AAB}"/>
              </a:ext>
            </a:extLst>
          </p:cNvPr>
          <p:cNvSpPr/>
          <p:nvPr/>
        </p:nvSpPr>
        <p:spPr>
          <a:xfrm>
            <a:off x="320040" y="621792"/>
            <a:ext cx="8229600" cy="438912"/>
          </a:xfrm>
          <a:prstGeom prst="rect">
            <a:avLst/>
          </a:prstGeom>
          <a:noFill/>
          <a:ln/>
        </p:spPr>
        <p:txBody>
          <a:bodyPr wrap="square" rtlCol="0" anchor="ctr"/>
          <a:lstStyle/>
          <a:p>
            <a:pPr marL="0" indent="0">
              <a:buNone/>
            </a:pPr>
            <a:r>
              <a:rPr lang="en-US" sz="2800" b="1" dirty="0">
                <a:solidFill>
                  <a:srgbClr val="1B3A8A"/>
                </a:solidFill>
                <a:latin typeface="Calibri" pitchFamily="34" charset="0"/>
                <a:ea typeface="Calibri" pitchFamily="34" charset="-122"/>
                <a:cs typeface="Calibri" pitchFamily="34" charset="-120"/>
              </a:rPr>
              <a:t>Demographic Analysis</a:t>
            </a:r>
            <a:endParaRPr lang="en-US" sz="2800" dirty="0"/>
          </a:p>
        </p:txBody>
      </p:sp>
      <p:sp>
        <p:nvSpPr>
          <p:cNvPr id="5" name="Shape 3">
            <a:extLst>
              <a:ext uri="{FF2B5EF4-FFF2-40B4-BE49-F238E27FC236}">
                <a16:creationId xmlns:a16="http://schemas.microsoft.com/office/drawing/2014/main" id="{8C2BFAE9-288E-2D9A-4985-793A36C69806}"/>
              </a:ext>
            </a:extLst>
          </p:cNvPr>
          <p:cNvSpPr/>
          <p:nvPr/>
        </p:nvSpPr>
        <p:spPr>
          <a:xfrm>
            <a:off x="0" y="4983480"/>
            <a:ext cx="9144000" cy="160020"/>
          </a:xfrm>
          <a:prstGeom prst="rect">
            <a:avLst/>
          </a:prstGeom>
          <a:solidFill>
            <a:srgbClr val="1B3A8A"/>
          </a:solidFill>
          <a:ln/>
        </p:spPr>
      </p:sp>
      <p:sp>
        <p:nvSpPr>
          <p:cNvPr id="7" name="TextBox 6">
            <a:extLst>
              <a:ext uri="{FF2B5EF4-FFF2-40B4-BE49-F238E27FC236}">
                <a16:creationId xmlns:a16="http://schemas.microsoft.com/office/drawing/2014/main" id="{AB2FE151-72DF-51CA-156B-B7D0B8250170}"/>
              </a:ext>
            </a:extLst>
          </p:cNvPr>
          <p:cNvSpPr txBox="1"/>
          <p:nvPr/>
        </p:nvSpPr>
        <p:spPr>
          <a:xfrm>
            <a:off x="322579" y="2059748"/>
            <a:ext cx="4112261" cy="1384995"/>
          </a:xfrm>
          <a:prstGeom prst="rect">
            <a:avLst/>
          </a:prstGeom>
          <a:noFill/>
        </p:spPr>
        <p:txBody>
          <a:bodyPr wrap="square">
            <a:spAutoFit/>
          </a:bodyPr>
          <a:lstStyle/>
          <a:p>
            <a:pPr marL="342900" indent="-342900">
              <a:buFont typeface="Arial" panose="020B0604020202020204" pitchFamily="34" charset="0"/>
              <a:buChar char="•"/>
            </a:pPr>
            <a:r>
              <a:rPr lang="en-US" sz="2800" dirty="0"/>
              <a:t>Most participants are from </a:t>
            </a:r>
            <a:r>
              <a:rPr lang="en-US" sz="2800" dirty="0" err="1"/>
              <a:t>B.Tech</a:t>
            </a:r>
            <a:r>
              <a:rPr lang="en-US" sz="2800" dirty="0"/>
              <a:t>, MBA, and MCA programs</a:t>
            </a:r>
          </a:p>
        </p:txBody>
      </p:sp>
      <p:pic>
        <p:nvPicPr>
          <p:cNvPr id="8" name="Picture 7">
            <a:extLst>
              <a:ext uri="{FF2B5EF4-FFF2-40B4-BE49-F238E27FC236}">
                <a16:creationId xmlns:a16="http://schemas.microsoft.com/office/drawing/2014/main" id="{BCD0A732-9EC7-B5C2-2BB2-6598B1291BC2}"/>
              </a:ext>
            </a:extLst>
          </p:cNvPr>
          <p:cNvPicPr>
            <a:picLocks noChangeAspect="1"/>
          </p:cNvPicPr>
          <p:nvPr/>
        </p:nvPicPr>
        <p:blipFill>
          <a:blip r:embed="rId3"/>
          <a:stretch>
            <a:fillRect/>
          </a:stretch>
        </p:blipFill>
        <p:spPr>
          <a:xfrm>
            <a:off x="4335052" y="1420596"/>
            <a:ext cx="4808948" cy="3019727"/>
          </a:xfrm>
          <a:prstGeom prst="rect">
            <a:avLst/>
          </a:prstGeom>
        </p:spPr>
      </p:pic>
    </p:spTree>
    <p:extLst>
      <p:ext uri="{BB962C8B-B14F-4D97-AF65-F5344CB8AC3E}">
        <p14:creationId xmlns:p14="http://schemas.microsoft.com/office/powerpoint/2010/main" val="44757007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EB930D-EFF2-B33A-3C7D-E32B635784ED}"/>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2D7EAE33-C69C-6CCC-E1BB-349D5ED9079F}"/>
              </a:ext>
            </a:extLst>
          </p:cNvPr>
          <p:cNvSpPr/>
          <p:nvPr/>
        </p:nvSpPr>
        <p:spPr>
          <a:xfrm>
            <a:off x="0" y="0"/>
            <a:ext cx="9144000" cy="502920"/>
          </a:xfrm>
          <a:prstGeom prst="rect">
            <a:avLst/>
          </a:prstGeom>
          <a:solidFill>
            <a:srgbClr val="1B3A8A"/>
          </a:solidFill>
          <a:ln/>
        </p:spPr>
      </p:sp>
      <p:sp>
        <p:nvSpPr>
          <p:cNvPr id="3" name="Text 1">
            <a:extLst>
              <a:ext uri="{FF2B5EF4-FFF2-40B4-BE49-F238E27FC236}">
                <a16:creationId xmlns:a16="http://schemas.microsoft.com/office/drawing/2014/main" id="{D36D89BF-FC0D-FDA1-3D8D-229ABA9D9169}"/>
              </a:ext>
            </a:extLst>
          </p:cNvPr>
          <p:cNvSpPr/>
          <p:nvPr/>
        </p:nvSpPr>
        <p:spPr>
          <a:xfrm>
            <a:off x="7772400" y="45720"/>
            <a:ext cx="1280160" cy="411480"/>
          </a:xfrm>
          <a:prstGeom prst="rect">
            <a:avLst/>
          </a:prstGeom>
          <a:noFill/>
          <a:ln/>
        </p:spPr>
        <p:txBody>
          <a:bodyPr wrap="square" rtlCol="0" anchor="ctr"/>
          <a:lstStyle/>
          <a:p>
            <a:pPr marL="0" indent="0" algn="r">
              <a:buNone/>
            </a:pPr>
            <a:r>
              <a:rPr lang="en-US" sz="800" b="1">
                <a:solidFill>
                  <a:srgbClr val="4FC3F7"/>
                </a:solidFill>
                <a:latin typeface="Calibri" pitchFamily="34" charset="0"/>
                <a:ea typeface="Calibri" pitchFamily="34" charset="-122"/>
                <a:cs typeface="Calibri" pitchFamily="34" charset="-120"/>
              </a:rPr>
              <a:t>edunet</a:t>
            </a:r>
            <a:endParaRPr lang="en-US" sz="800"/>
          </a:p>
          <a:p>
            <a:pPr marL="0" indent="0" algn="r">
              <a:buNone/>
            </a:pPr>
            <a:r>
              <a:rPr lang="en-US" sz="800" b="1">
                <a:solidFill>
                  <a:srgbClr val="4FC3F7"/>
                </a:solidFill>
                <a:latin typeface="Calibri" pitchFamily="34" charset="0"/>
                <a:ea typeface="Calibri" pitchFamily="34" charset="-122"/>
                <a:cs typeface="Calibri" pitchFamily="34" charset="-120"/>
              </a:rPr>
              <a:t>foundation</a:t>
            </a:r>
            <a:endParaRPr lang="en-US" sz="800"/>
          </a:p>
        </p:txBody>
      </p:sp>
      <p:sp>
        <p:nvSpPr>
          <p:cNvPr id="4" name="Text 2">
            <a:extLst>
              <a:ext uri="{FF2B5EF4-FFF2-40B4-BE49-F238E27FC236}">
                <a16:creationId xmlns:a16="http://schemas.microsoft.com/office/drawing/2014/main" id="{2948F7F5-DD85-D314-9843-B16CB1E4D673}"/>
              </a:ext>
            </a:extLst>
          </p:cNvPr>
          <p:cNvSpPr/>
          <p:nvPr/>
        </p:nvSpPr>
        <p:spPr>
          <a:xfrm>
            <a:off x="320040" y="621792"/>
            <a:ext cx="8229600" cy="438912"/>
          </a:xfrm>
          <a:prstGeom prst="rect">
            <a:avLst/>
          </a:prstGeom>
          <a:noFill/>
          <a:ln/>
        </p:spPr>
        <p:txBody>
          <a:bodyPr wrap="square" rtlCol="0" anchor="ctr"/>
          <a:lstStyle/>
          <a:p>
            <a:pPr marL="0" indent="0">
              <a:buNone/>
            </a:pPr>
            <a:r>
              <a:rPr lang="en-US" sz="2400" b="1" dirty="0">
                <a:solidFill>
                  <a:srgbClr val="1B3A8A"/>
                </a:solidFill>
                <a:latin typeface="Calibri" pitchFamily="34" charset="0"/>
                <a:ea typeface="Calibri" pitchFamily="34" charset="-122"/>
                <a:cs typeface="Calibri" pitchFamily="34" charset="-120"/>
              </a:rPr>
              <a:t>Mean Scores of TAM Constructs</a:t>
            </a:r>
            <a:endParaRPr lang="en-US" sz="2400" dirty="0"/>
          </a:p>
        </p:txBody>
      </p:sp>
      <p:sp>
        <p:nvSpPr>
          <p:cNvPr id="5" name="Shape 3">
            <a:extLst>
              <a:ext uri="{FF2B5EF4-FFF2-40B4-BE49-F238E27FC236}">
                <a16:creationId xmlns:a16="http://schemas.microsoft.com/office/drawing/2014/main" id="{E44C600F-5955-A4A3-3DE9-F3AAD7779407}"/>
              </a:ext>
            </a:extLst>
          </p:cNvPr>
          <p:cNvSpPr/>
          <p:nvPr/>
        </p:nvSpPr>
        <p:spPr>
          <a:xfrm>
            <a:off x="0" y="4983480"/>
            <a:ext cx="9144000" cy="160020"/>
          </a:xfrm>
          <a:prstGeom prst="rect">
            <a:avLst/>
          </a:prstGeom>
          <a:solidFill>
            <a:srgbClr val="1B3A8A"/>
          </a:solidFill>
          <a:ln/>
        </p:spPr>
      </p:sp>
      <p:sp>
        <p:nvSpPr>
          <p:cNvPr id="7" name="TextBox 6">
            <a:extLst>
              <a:ext uri="{FF2B5EF4-FFF2-40B4-BE49-F238E27FC236}">
                <a16:creationId xmlns:a16="http://schemas.microsoft.com/office/drawing/2014/main" id="{B6D48F20-13DB-D46F-A8A8-5F4D92F02B01}"/>
              </a:ext>
            </a:extLst>
          </p:cNvPr>
          <p:cNvSpPr txBox="1"/>
          <p:nvPr/>
        </p:nvSpPr>
        <p:spPr>
          <a:xfrm>
            <a:off x="177996" y="1179576"/>
            <a:ext cx="4953297" cy="3416320"/>
          </a:xfrm>
          <a:prstGeom prst="rect">
            <a:avLst/>
          </a:prstGeom>
          <a:noFill/>
        </p:spPr>
        <p:txBody>
          <a:bodyPr wrap="square">
            <a:spAutoFit/>
          </a:bodyPr>
          <a:lstStyle/>
          <a:p>
            <a:pPr marL="342900" indent="-342900">
              <a:buFont typeface="Arial" panose="020B0604020202020204" pitchFamily="34" charset="0"/>
              <a:buChar char="•"/>
            </a:pPr>
            <a:r>
              <a:rPr lang="en-US" sz="2400" dirty="0"/>
              <a:t>All constructs show mean values above 4.0</a:t>
            </a:r>
          </a:p>
          <a:p>
            <a:pPr marL="342900" indent="-342900">
              <a:buFont typeface="Arial" panose="020B0604020202020204" pitchFamily="34" charset="0"/>
              <a:buChar char="•"/>
            </a:pPr>
            <a:r>
              <a:rPr lang="en-US" sz="2400" dirty="0"/>
              <a:t>Perceived Usefulness (PUE) has the highest mean score</a:t>
            </a:r>
          </a:p>
          <a:p>
            <a:pPr marL="342900" indent="-342900">
              <a:buFont typeface="Arial" panose="020B0604020202020204" pitchFamily="34" charset="0"/>
              <a:buChar char="•"/>
            </a:pPr>
            <a:r>
              <a:rPr lang="en-US" sz="2400" dirty="0"/>
              <a:t>Strong behavioral intention indicates acceptance of e‑learning systems</a:t>
            </a:r>
          </a:p>
          <a:p>
            <a:pPr marL="342900" indent="-342900">
              <a:buFont typeface="Arial" panose="020B0604020202020204" pitchFamily="34" charset="0"/>
              <a:buChar char="•"/>
            </a:pPr>
            <a:r>
              <a:rPr lang="en-US" sz="2400" dirty="0"/>
              <a:t>Overall results reflect positive student attitudes</a:t>
            </a:r>
            <a:endParaRPr lang="en-IN" sz="2400" dirty="0"/>
          </a:p>
        </p:txBody>
      </p:sp>
      <p:pic>
        <p:nvPicPr>
          <p:cNvPr id="9" name="Picture 8">
            <a:extLst>
              <a:ext uri="{FF2B5EF4-FFF2-40B4-BE49-F238E27FC236}">
                <a16:creationId xmlns:a16="http://schemas.microsoft.com/office/drawing/2014/main" id="{E12EDAC3-D343-609B-CE5F-2435CA03014C}"/>
              </a:ext>
            </a:extLst>
          </p:cNvPr>
          <p:cNvPicPr>
            <a:picLocks noChangeAspect="1"/>
          </p:cNvPicPr>
          <p:nvPr/>
        </p:nvPicPr>
        <p:blipFill>
          <a:blip r:embed="rId3"/>
          <a:stretch>
            <a:fillRect/>
          </a:stretch>
        </p:blipFill>
        <p:spPr>
          <a:xfrm>
            <a:off x="5208887" y="621792"/>
            <a:ext cx="3935114" cy="4361688"/>
          </a:xfrm>
          <a:prstGeom prst="rect">
            <a:avLst/>
          </a:prstGeom>
        </p:spPr>
      </p:pic>
    </p:spTree>
    <p:extLst>
      <p:ext uri="{BB962C8B-B14F-4D97-AF65-F5344CB8AC3E}">
        <p14:creationId xmlns:p14="http://schemas.microsoft.com/office/powerpoint/2010/main" val="74822922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9D068E-D199-28DC-0D0D-430F70B6C0F4}"/>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556A7D6B-1F4C-66C3-D8F0-70F9E66BA30B}"/>
              </a:ext>
            </a:extLst>
          </p:cNvPr>
          <p:cNvSpPr/>
          <p:nvPr/>
        </p:nvSpPr>
        <p:spPr>
          <a:xfrm>
            <a:off x="0" y="0"/>
            <a:ext cx="9144000" cy="502920"/>
          </a:xfrm>
          <a:prstGeom prst="rect">
            <a:avLst/>
          </a:prstGeom>
          <a:solidFill>
            <a:srgbClr val="1B3A8A"/>
          </a:solidFill>
          <a:ln/>
        </p:spPr>
      </p:sp>
      <p:sp>
        <p:nvSpPr>
          <p:cNvPr id="3" name="Text 1">
            <a:extLst>
              <a:ext uri="{FF2B5EF4-FFF2-40B4-BE49-F238E27FC236}">
                <a16:creationId xmlns:a16="http://schemas.microsoft.com/office/drawing/2014/main" id="{2B46AB30-402D-D7BF-264C-9C8F5E215F20}"/>
              </a:ext>
            </a:extLst>
          </p:cNvPr>
          <p:cNvSpPr/>
          <p:nvPr/>
        </p:nvSpPr>
        <p:spPr>
          <a:xfrm>
            <a:off x="7772400" y="45720"/>
            <a:ext cx="1280160" cy="411480"/>
          </a:xfrm>
          <a:prstGeom prst="rect">
            <a:avLst/>
          </a:prstGeom>
          <a:noFill/>
          <a:ln/>
        </p:spPr>
        <p:txBody>
          <a:bodyPr wrap="square" rtlCol="0" anchor="ctr"/>
          <a:lstStyle/>
          <a:p>
            <a:pPr marL="0" indent="0" algn="r">
              <a:buNone/>
            </a:pPr>
            <a:r>
              <a:rPr lang="en-US" sz="800" b="1">
                <a:solidFill>
                  <a:srgbClr val="4FC3F7"/>
                </a:solidFill>
                <a:latin typeface="Calibri" pitchFamily="34" charset="0"/>
                <a:ea typeface="Calibri" pitchFamily="34" charset="-122"/>
                <a:cs typeface="Calibri" pitchFamily="34" charset="-120"/>
              </a:rPr>
              <a:t>edunet</a:t>
            </a:r>
            <a:endParaRPr lang="en-US" sz="800"/>
          </a:p>
          <a:p>
            <a:pPr marL="0" indent="0" algn="r">
              <a:buNone/>
            </a:pPr>
            <a:r>
              <a:rPr lang="en-US" sz="800" b="1">
                <a:solidFill>
                  <a:srgbClr val="4FC3F7"/>
                </a:solidFill>
                <a:latin typeface="Calibri" pitchFamily="34" charset="0"/>
                <a:ea typeface="Calibri" pitchFamily="34" charset="-122"/>
                <a:cs typeface="Calibri" pitchFamily="34" charset="-120"/>
              </a:rPr>
              <a:t>foundation</a:t>
            </a:r>
            <a:endParaRPr lang="en-US" sz="800"/>
          </a:p>
        </p:txBody>
      </p:sp>
      <p:sp>
        <p:nvSpPr>
          <p:cNvPr id="4" name="Text 2">
            <a:extLst>
              <a:ext uri="{FF2B5EF4-FFF2-40B4-BE49-F238E27FC236}">
                <a16:creationId xmlns:a16="http://schemas.microsoft.com/office/drawing/2014/main" id="{A5EBF317-A7EF-F294-443C-2362AC5A01F1}"/>
              </a:ext>
            </a:extLst>
          </p:cNvPr>
          <p:cNvSpPr/>
          <p:nvPr/>
        </p:nvSpPr>
        <p:spPr>
          <a:xfrm>
            <a:off x="320039" y="713414"/>
            <a:ext cx="8229600" cy="438912"/>
          </a:xfrm>
          <a:prstGeom prst="rect">
            <a:avLst/>
          </a:prstGeom>
          <a:noFill/>
          <a:ln/>
        </p:spPr>
        <p:txBody>
          <a:bodyPr wrap="square" rtlCol="0" anchor="ctr"/>
          <a:lstStyle/>
          <a:p>
            <a:pPr marL="0" indent="0">
              <a:buNone/>
            </a:pPr>
            <a:r>
              <a:rPr lang="en-US" sz="2400" b="1" dirty="0">
                <a:solidFill>
                  <a:srgbClr val="1B3A8A"/>
                </a:solidFill>
                <a:latin typeface="Calibri" pitchFamily="34" charset="0"/>
                <a:ea typeface="Calibri" pitchFamily="34" charset="-122"/>
                <a:cs typeface="Calibri" pitchFamily="34" charset="-120"/>
              </a:rPr>
              <a:t>Mean Scores of Benefit (BEL1–BEL9) Dimensions Related to E‑Learning</a:t>
            </a:r>
            <a:endParaRPr lang="en-US" sz="2400" dirty="0"/>
          </a:p>
        </p:txBody>
      </p:sp>
      <p:sp>
        <p:nvSpPr>
          <p:cNvPr id="5" name="Shape 3">
            <a:extLst>
              <a:ext uri="{FF2B5EF4-FFF2-40B4-BE49-F238E27FC236}">
                <a16:creationId xmlns:a16="http://schemas.microsoft.com/office/drawing/2014/main" id="{1184A486-F3FA-0AC6-2E18-4A93E3C55F49}"/>
              </a:ext>
            </a:extLst>
          </p:cNvPr>
          <p:cNvSpPr/>
          <p:nvPr/>
        </p:nvSpPr>
        <p:spPr>
          <a:xfrm>
            <a:off x="0" y="4983480"/>
            <a:ext cx="9144000" cy="160020"/>
          </a:xfrm>
          <a:prstGeom prst="rect">
            <a:avLst/>
          </a:prstGeom>
          <a:solidFill>
            <a:srgbClr val="1B3A8A"/>
          </a:solidFill>
          <a:ln/>
        </p:spPr>
      </p:sp>
      <p:sp>
        <p:nvSpPr>
          <p:cNvPr id="7" name="TextBox 6">
            <a:extLst>
              <a:ext uri="{FF2B5EF4-FFF2-40B4-BE49-F238E27FC236}">
                <a16:creationId xmlns:a16="http://schemas.microsoft.com/office/drawing/2014/main" id="{891E8FE2-B23A-4D7E-9549-332EC78C2EA8}"/>
              </a:ext>
            </a:extLst>
          </p:cNvPr>
          <p:cNvSpPr txBox="1"/>
          <p:nvPr/>
        </p:nvSpPr>
        <p:spPr>
          <a:xfrm>
            <a:off x="320039" y="1801733"/>
            <a:ext cx="4251961" cy="2246769"/>
          </a:xfrm>
          <a:prstGeom prst="rect">
            <a:avLst/>
          </a:prstGeom>
          <a:noFill/>
        </p:spPr>
        <p:txBody>
          <a:bodyPr wrap="square">
            <a:spAutoFit/>
          </a:bodyPr>
          <a:lstStyle/>
          <a:p>
            <a:pPr marL="342900" indent="-342900">
              <a:buFont typeface="Arial" panose="020B0604020202020204" pitchFamily="34" charset="0"/>
              <a:buChar char="•"/>
            </a:pPr>
            <a:r>
              <a:rPr lang="en-US" sz="2000" dirty="0"/>
              <a:t>Higher mean scores are observed for several BEL dimensions (approaching values of 4.0 and above), Higher mean scores are observed for several BEL dimensions (approaching values of 4.0 and above).</a:t>
            </a:r>
            <a:endParaRPr lang="en-IN" sz="2000" dirty="0"/>
          </a:p>
        </p:txBody>
      </p:sp>
      <p:pic>
        <p:nvPicPr>
          <p:cNvPr id="9" name="Picture 8">
            <a:extLst>
              <a:ext uri="{FF2B5EF4-FFF2-40B4-BE49-F238E27FC236}">
                <a16:creationId xmlns:a16="http://schemas.microsoft.com/office/drawing/2014/main" id="{D179E299-1A60-BFEA-E1B3-BF1AF3FAD415}"/>
              </a:ext>
            </a:extLst>
          </p:cNvPr>
          <p:cNvPicPr>
            <a:picLocks noChangeAspect="1"/>
          </p:cNvPicPr>
          <p:nvPr/>
        </p:nvPicPr>
        <p:blipFill>
          <a:blip r:embed="rId3"/>
          <a:stretch>
            <a:fillRect/>
          </a:stretch>
        </p:blipFill>
        <p:spPr>
          <a:xfrm>
            <a:off x="4658063" y="1143095"/>
            <a:ext cx="4165898" cy="3219899"/>
          </a:xfrm>
          <a:prstGeom prst="rect">
            <a:avLst/>
          </a:prstGeom>
        </p:spPr>
      </p:pic>
    </p:spTree>
    <p:extLst>
      <p:ext uri="{BB962C8B-B14F-4D97-AF65-F5344CB8AC3E}">
        <p14:creationId xmlns:p14="http://schemas.microsoft.com/office/powerpoint/2010/main" val="278454705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2CAE92-3768-8759-02E2-D52FC1DB5724}"/>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3B0CAE57-AA5F-489C-DD3E-EB3685980869}"/>
              </a:ext>
            </a:extLst>
          </p:cNvPr>
          <p:cNvSpPr/>
          <p:nvPr/>
        </p:nvSpPr>
        <p:spPr>
          <a:xfrm>
            <a:off x="0" y="0"/>
            <a:ext cx="9144000" cy="502920"/>
          </a:xfrm>
          <a:prstGeom prst="rect">
            <a:avLst/>
          </a:prstGeom>
          <a:solidFill>
            <a:srgbClr val="1B3A8A"/>
          </a:solidFill>
          <a:ln/>
        </p:spPr>
      </p:sp>
      <p:sp>
        <p:nvSpPr>
          <p:cNvPr id="3" name="Text 1">
            <a:extLst>
              <a:ext uri="{FF2B5EF4-FFF2-40B4-BE49-F238E27FC236}">
                <a16:creationId xmlns:a16="http://schemas.microsoft.com/office/drawing/2014/main" id="{E2A1AF19-2F47-0F20-576E-632E0C0C9253}"/>
              </a:ext>
            </a:extLst>
          </p:cNvPr>
          <p:cNvSpPr/>
          <p:nvPr/>
        </p:nvSpPr>
        <p:spPr>
          <a:xfrm>
            <a:off x="7772400" y="45720"/>
            <a:ext cx="1280160" cy="411480"/>
          </a:xfrm>
          <a:prstGeom prst="rect">
            <a:avLst/>
          </a:prstGeom>
          <a:noFill/>
          <a:ln/>
        </p:spPr>
        <p:txBody>
          <a:bodyPr wrap="square" rtlCol="0" anchor="ctr"/>
          <a:lstStyle/>
          <a:p>
            <a:pPr marL="0" indent="0" algn="r">
              <a:buNone/>
            </a:pPr>
            <a:r>
              <a:rPr lang="en-US" sz="800" b="1">
                <a:solidFill>
                  <a:srgbClr val="4FC3F7"/>
                </a:solidFill>
                <a:latin typeface="Calibri" pitchFamily="34" charset="0"/>
                <a:ea typeface="Calibri" pitchFamily="34" charset="-122"/>
                <a:cs typeface="Calibri" pitchFamily="34" charset="-120"/>
              </a:rPr>
              <a:t>edunet</a:t>
            </a:r>
            <a:endParaRPr lang="en-US" sz="800"/>
          </a:p>
          <a:p>
            <a:pPr marL="0" indent="0" algn="r">
              <a:buNone/>
            </a:pPr>
            <a:r>
              <a:rPr lang="en-US" sz="800" b="1">
                <a:solidFill>
                  <a:srgbClr val="4FC3F7"/>
                </a:solidFill>
                <a:latin typeface="Calibri" pitchFamily="34" charset="0"/>
                <a:ea typeface="Calibri" pitchFamily="34" charset="-122"/>
                <a:cs typeface="Calibri" pitchFamily="34" charset="-120"/>
              </a:rPr>
              <a:t>foundation</a:t>
            </a:r>
            <a:endParaRPr lang="en-US" sz="800"/>
          </a:p>
        </p:txBody>
      </p:sp>
      <p:sp>
        <p:nvSpPr>
          <p:cNvPr id="4" name="Text 2">
            <a:extLst>
              <a:ext uri="{FF2B5EF4-FFF2-40B4-BE49-F238E27FC236}">
                <a16:creationId xmlns:a16="http://schemas.microsoft.com/office/drawing/2014/main" id="{4515AB83-AD2A-0F92-89B2-D3D0BB4CC183}"/>
              </a:ext>
            </a:extLst>
          </p:cNvPr>
          <p:cNvSpPr/>
          <p:nvPr/>
        </p:nvSpPr>
        <p:spPr>
          <a:xfrm>
            <a:off x="320040" y="621792"/>
            <a:ext cx="8229600" cy="438912"/>
          </a:xfrm>
          <a:prstGeom prst="rect">
            <a:avLst/>
          </a:prstGeom>
          <a:noFill/>
          <a:ln/>
        </p:spPr>
        <p:txBody>
          <a:bodyPr wrap="square" rtlCol="0" anchor="ctr"/>
          <a:lstStyle/>
          <a:p>
            <a:pPr marL="0" indent="0">
              <a:buNone/>
            </a:pPr>
            <a:r>
              <a:rPr lang="en-US" sz="2400" b="1" dirty="0">
                <a:solidFill>
                  <a:srgbClr val="1B3A8A"/>
                </a:solidFill>
                <a:latin typeface="Calibri" pitchFamily="34" charset="0"/>
                <a:ea typeface="Calibri" pitchFamily="34" charset="-122"/>
                <a:cs typeface="Calibri" pitchFamily="34" charset="-120"/>
              </a:rPr>
              <a:t>Perceived Ease of Use (PEE) Item‑wise Mean Scores</a:t>
            </a:r>
            <a:endParaRPr lang="en-US" sz="2400" dirty="0"/>
          </a:p>
        </p:txBody>
      </p:sp>
      <p:sp>
        <p:nvSpPr>
          <p:cNvPr id="5" name="Shape 3">
            <a:extLst>
              <a:ext uri="{FF2B5EF4-FFF2-40B4-BE49-F238E27FC236}">
                <a16:creationId xmlns:a16="http://schemas.microsoft.com/office/drawing/2014/main" id="{0034F0BB-3DFE-255F-9ABA-8B62D2BA99F7}"/>
              </a:ext>
            </a:extLst>
          </p:cNvPr>
          <p:cNvSpPr/>
          <p:nvPr/>
        </p:nvSpPr>
        <p:spPr>
          <a:xfrm>
            <a:off x="0" y="4983480"/>
            <a:ext cx="9144000" cy="160020"/>
          </a:xfrm>
          <a:prstGeom prst="rect">
            <a:avLst/>
          </a:prstGeom>
          <a:solidFill>
            <a:srgbClr val="1B3A8A"/>
          </a:solidFill>
          <a:ln/>
        </p:spPr>
      </p:sp>
      <p:sp>
        <p:nvSpPr>
          <p:cNvPr id="7" name="TextBox 6">
            <a:extLst>
              <a:ext uri="{FF2B5EF4-FFF2-40B4-BE49-F238E27FC236}">
                <a16:creationId xmlns:a16="http://schemas.microsoft.com/office/drawing/2014/main" id="{B4246FFC-D473-9129-69D1-F32E0802E509}"/>
              </a:ext>
            </a:extLst>
          </p:cNvPr>
          <p:cNvSpPr txBox="1"/>
          <p:nvPr/>
        </p:nvSpPr>
        <p:spPr>
          <a:xfrm>
            <a:off x="320039" y="1814424"/>
            <a:ext cx="4251961" cy="1938992"/>
          </a:xfrm>
          <a:prstGeom prst="rect">
            <a:avLst/>
          </a:prstGeom>
          <a:noFill/>
        </p:spPr>
        <p:txBody>
          <a:bodyPr wrap="square">
            <a:spAutoFit/>
          </a:bodyPr>
          <a:lstStyle/>
          <a:p>
            <a:pPr marL="342900" indent="-342900">
              <a:buFont typeface="Arial" panose="020B0604020202020204" pitchFamily="34" charset="0"/>
              <a:buChar char="•"/>
            </a:pPr>
            <a:r>
              <a:rPr lang="en-US" sz="2000" dirty="0"/>
              <a:t>Higher mean scores are evident for specific PEE items, with values approaching 4.0 and above. </a:t>
            </a:r>
          </a:p>
          <a:p>
            <a:pPr marL="342900" indent="-342900">
              <a:buFont typeface="Arial" panose="020B0604020202020204" pitchFamily="34" charset="0"/>
              <a:buChar char="•"/>
            </a:pPr>
            <a:r>
              <a:rPr lang="en-US" sz="2000" dirty="0"/>
              <a:t>The results confirm that perceived ease of use is positively evaluated by learners.</a:t>
            </a:r>
            <a:endParaRPr lang="en-IN" sz="2000" dirty="0"/>
          </a:p>
        </p:txBody>
      </p:sp>
      <p:pic>
        <p:nvPicPr>
          <p:cNvPr id="8" name="Picture 7">
            <a:extLst>
              <a:ext uri="{FF2B5EF4-FFF2-40B4-BE49-F238E27FC236}">
                <a16:creationId xmlns:a16="http://schemas.microsoft.com/office/drawing/2014/main" id="{2CC7C2BA-8000-8A5A-EC08-8698006E75A6}"/>
              </a:ext>
            </a:extLst>
          </p:cNvPr>
          <p:cNvPicPr>
            <a:picLocks noChangeAspect="1"/>
          </p:cNvPicPr>
          <p:nvPr/>
        </p:nvPicPr>
        <p:blipFill>
          <a:blip r:embed="rId3"/>
          <a:stretch>
            <a:fillRect/>
          </a:stretch>
        </p:blipFill>
        <p:spPr>
          <a:xfrm>
            <a:off x="4751613" y="1060704"/>
            <a:ext cx="4139293" cy="3622434"/>
          </a:xfrm>
          <a:prstGeom prst="rect">
            <a:avLst/>
          </a:prstGeom>
        </p:spPr>
      </p:pic>
    </p:spTree>
    <p:extLst>
      <p:ext uri="{BB962C8B-B14F-4D97-AF65-F5344CB8AC3E}">
        <p14:creationId xmlns:p14="http://schemas.microsoft.com/office/powerpoint/2010/main" val="7877122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E69699-2C12-0A82-35ED-12354EFD8600}"/>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E2608369-9D83-B644-449E-91ECFABDFB46}"/>
              </a:ext>
            </a:extLst>
          </p:cNvPr>
          <p:cNvSpPr/>
          <p:nvPr/>
        </p:nvSpPr>
        <p:spPr>
          <a:xfrm>
            <a:off x="0" y="0"/>
            <a:ext cx="9144000" cy="502920"/>
          </a:xfrm>
          <a:prstGeom prst="rect">
            <a:avLst/>
          </a:prstGeom>
          <a:solidFill>
            <a:srgbClr val="1B3A8A"/>
          </a:solidFill>
          <a:ln/>
        </p:spPr>
      </p:sp>
      <p:sp>
        <p:nvSpPr>
          <p:cNvPr id="3" name="Text 1">
            <a:extLst>
              <a:ext uri="{FF2B5EF4-FFF2-40B4-BE49-F238E27FC236}">
                <a16:creationId xmlns:a16="http://schemas.microsoft.com/office/drawing/2014/main" id="{733963FE-B4D8-22C3-20B9-4E07D2A594DB}"/>
              </a:ext>
            </a:extLst>
          </p:cNvPr>
          <p:cNvSpPr/>
          <p:nvPr/>
        </p:nvSpPr>
        <p:spPr>
          <a:xfrm>
            <a:off x="7772400" y="45720"/>
            <a:ext cx="1280160" cy="411480"/>
          </a:xfrm>
          <a:prstGeom prst="rect">
            <a:avLst/>
          </a:prstGeom>
          <a:noFill/>
          <a:ln/>
        </p:spPr>
        <p:txBody>
          <a:bodyPr wrap="square" rtlCol="0" anchor="ctr"/>
          <a:lstStyle/>
          <a:p>
            <a:pPr marL="0" indent="0" algn="r">
              <a:buNone/>
            </a:pPr>
            <a:r>
              <a:rPr lang="en-US" sz="800" b="1">
                <a:solidFill>
                  <a:srgbClr val="4FC3F7"/>
                </a:solidFill>
                <a:latin typeface="Calibri" pitchFamily="34" charset="0"/>
                <a:ea typeface="Calibri" pitchFamily="34" charset="-122"/>
                <a:cs typeface="Calibri" pitchFamily="34" charset="-120"/>
              </a:rPr>
              <a:t>edunet</a:t>
            </a:r>
            <a:endParaRPr lang="en-US" sz="800"/>
          </a:p>
          <a:p>
            <a:pPr marL="0" indent="0" algn="r">
              <a:buNone/>
            </a:pPr>
            <a:r>
              <a:rPr lang="en-US" sz="800" b="1">
                <a:solidFill>
                  <a:srgbClr val="4FC3F7"/>
                </a:solidFill>
                <a:latin typeface="Calibri" pitchFamily="34" charset="0"/>
                <a:ea typeface="Calibri" pitchFamily="34" charset="-122"/>
                <a:cs typeface="Calibri" pitchFamily="34" charset="-120"/>
              </a:rPr>
              <a:t>foundation</a:t>
            </a:r>
            <a:endParaRPr lang="en-US" sz="800"/>
          </a:p>
        </p:txBody>
      </p:sp>
      <p:sp>
        <p:nvSpPr>
          <p:cNvPr id="4" name="Text 2">
            <a:extLst>
              <a:ext uri="{FF2B5EF4-FFF2-40B4-BE49-F238E27FC236}">
                <a16:creationId xmlns:a16="http://schemas.microsoft.com/office/drawing/2014/main" id="{5BF083C0-2AF5-514F-6E92-A3BA6083861B}"/>
              </a:ext>
            </a:extLst>
          </p:cNvPr>
          <p:cNvSpPr/>
          <p:nvPr/>
        </p:nvSpPr>
        <p:spPr>
          <a:xfrm>
            <a:off x="320040" y="621792"/>
            <a:ext cx="8229600" cy="438912"/>
          </a:xfrm>
          <a:prstGeom prst="rect">
            <a:avLst/>
          </a:prstGeom>
          <a:noFill/>
          <a:ln/>
        </p:spPr>
        <p:txBody>
          <a:bodyPr wrap="square" rtlCol="0" anchor="ctr"/>
          <a:lstStyle/>
          <a:p>
            <a:pPr marL="0" indent="0">
              <a:buNone/>
            </a:pPr>
            <a:r>
              <a:rPr lang="en-US" sz="2400" b="1" dirty="0">
                <a:solidFill>
                  <a:srgbClr val="1B3A8A"/>
                </a:solidFill>
                <a:latin typeface="Calibri" pitchFamily="34" charset="0"/>
                <a:ea typeface="Calibri" pitchFamily="34" charset="-122"/>
                <a:cs typeface="Calibri" pitchFamily="34" charset="-120"/>
              </a:rPr>
              <a:t>Relationship Between PUE, PEE, and BIE</a:t>
            </a:r>
            <a:endParaRPr lang="en-US" sz="2400" dirty="0"/>
          </a:p>
        </p:txBody>
      </p:sp>
      <p:sp>
        <p:nvSpPr>
          <p:cNvPr id="5" name="Shape 3">
            <a:extLst>
              <a:ext uri="{FF2B5EF4-FFF2-40B4-BE49-F238E27FC236}">
                <a16:creationId xmlns:a16="http://schemas.microsoft.com/office/drawing/2014/main" id="{E924B891-443E-9697-7838-8FAFC72EEDAA}"/>
              </a:ext>
            </a:extLst>
          </p:cNvPr>
          <p:cNvSpPr/>
          <p:nvPr/>
        </p:nvSpPr>
        <p:spPr>
          <a:xfrm>
            <a:off x="0" y="4983480"/>
            <a:ext cx="9144000" cy="160020"/>
          </a:xfrm>
          <a:prstGeom prst="rect">
            <a:avLst/>
          </a:prstGeom>
          <a:solidFill>
            <a:srgbClr val="1B3A8A"/>
          </a:solidFill>
          <a:ln/>
        </p:spPr>
      </p:sp>
      <p:sp>
        <p:nvSpPr>
          <p:cNvPr id="7" name="TextBox 6">
            <a:extLst>
              <a:ext uri="{FF2B5EF4-FFF2-40B4-BE49-F238E27FC236}">
                <a16:creationId xmlns:a16="http://schemas.microsoft.com/office/drawing/2014/main" id="{FCE9BDC5-BBCB-220B-729E-5E590D5411BF}"/>
              </a:ext>
            </a:extLst>
          </p:cNvPr>
          <p:cNvSpPr txBox="1"/>
          <p:nvPr/>
        </p:nvSpPr>
        <p:spPr>
          <a:xfrm>
            <a:off x="442503" y="1776227"/>
            <a:ext cx="4382590" cy="1754326"/>
          </a:xfrm>
          <a:prstGeom prst="rect">
            <a:avLst/>
          </a:prstGeom>
          <a:noFill/>
        </p:spPr>
        <p:txBody>
          <a:bodyPr wrap="square">
            <a:spAutoFit/>
          </a:bodyPr>
          <a:lstStyle/>
          <a:p>
            <a:r>
              <a:rPr lang="en-US" dirty="0"/>
              <a:t>Scatter Chart Analysis:</a:t>
            </a:r>
          </a:p>
          <a:p>
            <a:pPr marL="342900" indent="-342900">
              <a:buFont typeface="Arial" panose="020B0604020202020204" pitchFamily="34" charset="0"/>
              <a:buChar char="•"/>
            </a:pPr>
            <a:r>
              <a:rPr lang="en-US" dirty="0"/>
              <a:t>Positive relationship observed between PUE and PEE</a:t>
            </a:r>
          </a:p>
          <a:p>
            <a:pPr marL="342900" indent="-342900">
              <a:buFont typeface="Arial" panose="020B0604020202020204" pitchFamily="34" charset="0"/>
              <a:buChar char="•"/>
            </a:pPr>
            <a:r>
              <a:rPr lang="en-US" dirty="0"/>
              <a:t>Higher perceived usefulness and ease of use lead to higher behavioral intention</a:t>
            </a:r>
          </a:p>
          <a:p>
            <a:pPr marL="342900" indent="-342900">
              <a:buFont typeface="Arial" panose="020B0604020202020204" pitchFamily="34" charset="0"/>
              <a:buChar char="•"/>
            </a:pPr>
            <a:r>
              <a:rPr lang="en-US" dirty="0"/>
              <a:t>Results strongly support TAM hypotheses</a:t>
            </a:r>
            <a:endParaRPr lang="en-IN" dirty="0"/>
          </a:p>
        </p:txBody>
      </p:sp>
      <p:pic>
        <p:nvPicPr>
          <p:cNvPr id="9" name="Picture 8">
            <a:extLst>
              <a:ext uri="{FF2B5EF4-FFF2-40B4-BE49-F238E27FC236}">
                <a16:creationId xmlns:a16="http://schemas.microsoft.com/office/drawing/2014/main" id="{E238E66B-8640-DF6D-64E7-58844FCCFCF5}"/>
              </a:ext>
            </a:extLst>
          </p:cNvPr>
          <p:cNvPicPr>
            <a:picLocks noChangeAspect="1"/>
          </p:cNvPicPr>
          <p:nvPr/>
        </p:nvPicPr>
        <p:blipFill>
          <a:blip r:embed="rId3"/>
          <a:stretch>
            <a:fillRect/>
          </a:stretch>
        </p:blipFill>
        <p:spPr>
          <a:xfrm>
            <a:off x="5367201" y="1048555"/>
            <a:ext cx="3182439" cy="3897594"/>
          </a:xfrm>
          <a:prstGeom prst="rect">
            <a:avLst/>
          </a:prstGeom>
        </p:spPr>
      </p:pic>
    </p:spTree>
    <p:extLst>
      <p:ext uri="{BB962C8B-B14F-4D97-AF65-F5344CB8AC3E}">
        <p14:creationId xmlns:p14="http://schemas.microsoft.com/office/powerpoint/2010/main" val="42292948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9B3C01-4683-AA99-FE55-3296D8002532}"/>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FACACA0B-AF63-02A0-66AD-5CBDF8E4835A}"/>
              </a:ext>
            </a:extLst>
          </p:cNvPr>
          <p:cNvSpPr/>
          <p:nvPr/>
        </p:nvSpPr>
        <p:spPr>
          <a:xfrm>
            <a:off x="0" y="0"/>
            <a:ext cx="9144000" cy="502920"/>
          </a:xfrm>
          <a:prstGeom prst="rect">
            <a:avLst/>
          </a:prstGeom>
          <a:solidFill>
            <a:srgbClr val="1B3A8A"/>
          </a:solidFill>
          <a:ln/>
        </p:spPr>
      </p:sp>
      <p:sp>
        <p:nvSpPr>
          <p:cNvPr id="3" name="Text 1">
            <a:extLst>
              <a:ext uri="{FF2B5EF4-FFF2-40B4-BE49-F238E27FC236}">
                <a16:creationId xmlns:a16="http://schemas.microsoft.com/office/drawing/2014/main" id="{F6D0705D-E5EF-F94D-B304-5FF5B4B0F93B}"/>
              </a:ext>
            </a:extLst>
          </p:cNvPr>
          <p:cNvSpPr/>
          <p:nvPr/>
        </p:nvSpPr>
        <p:spPr>
          <a:xfrm>
            <a:off x="7772400" y="45720"/>
            <a:ext cx="1280160" cy="411480"/>
          </a:xfrm>
          <a:prstGeom prst="rect">
            <a:avLst/>
          </a:prstGeom>
          <a:noFill/>
          <a:ln/>
        </p:spPr>
        <p:txBody>
          <a:bodyPr wrap="square" rtlCol="0" anchor="ctr"/>
          <a:lstStyle/>
          <a:p>
            <a:pPr marL="0" indent="0" algn="r">
              <a:buNone/>
            </a:pPr>
            <a:r>
              <a:rPr lang="en-US" sz="800" b="1">
                <a:solidFill>
                  <a:srgbClr val="4FC3F7"/>
                </a:solidFill>
                <a:latin typeface="Calibri" pitchFamily="34" charset="0"/>
                <a:ea typeface="Calibri" pitchFamily="34" charset="-122"/>
                <a:cs typeface="Calibri" pitchFamily="34" charset="-120"/>
              </a:rPr>
              <a:t>edunet</a:t>
            </a:r>
            <a:endParaRPr lang="en-US" sz="800"/>
          </a:p>
          <a:p>
            <a:pPr marL="0" indent="0" algn="r">
              <a:buNone/>
            </a:pPr>
            <a:r>
              <a:rPr lang="en-US" sz="800" b="1">
                <a:solidFill>
                  <a:srgbClr val="4FC3F7"/>
                </a:solidFill>
                <a:latin typeface="Calibri" pitchFamily="34" charset="0"/>
                <a:ea typeface="Calibri" pitchFamily="34" charset="-122"/>
                <a:cs typeface="Calibri" pitchFamily="34" charset="-120"/>
              </a:rPr>
              <a:t>foundation</a:t>
            </a:r>
            <a:endParaRPr lang="en-US" sz="800"/>
          </a:p>
        </p:txBody>
      </p:sp>
      <p:sp>
        <p:nvSpPr>
          <p:cNvPr id="4" name="Text 2">
            <a:extLst>
              <a:ext uri="{FF2B5EF4-FFF2-40B4-BE49-F238E27FC236}">
                <a16:creationId xmlns:a16="http://schemas.microsoft.com/office/drawing/2014/main" id="{DD5E4CF4-0014-A17D-7D3A-9C6C06826647}"/>
              </a:ext>
            </a:extLst>
          </p:cNvPr>
          <p:cNvSpPr/>
          <p:nvPr/>
        </p:nvSpPr>
        <p:spPr>
          <a:xfrm>
            <a:off x="320040" y="670776"/>
            <a:ext cx="8229600" cy="438912"/>
          </a:xfrm>
          <a:prstGeom prst="rect">
            <a:avLst/>
          </a:prstGeom>
          <a:noFill/>
          <a:ln/>
        </p:spPr>
        <p:txBody>
          <a:bodyPr wrap="square" rtlCol="0" anchor="ctr"/>
          <a:lstStyle/>
          <a:p>
            <a:pPr marL="0" indent="0">
              <a:buNone/>
            </a:pPr>
            <a:r>
              <a:rPr lang="en-US" sz="2400" b="1" dirty="0">
                <a:solidFill>
                  <a:srgbClr val="1B3A8A"/>
                </a:solidFill>
                <a:latin typeface="Calibri" pitchFamily="34" charset="0"/>
                <a:ea typeface="Calibri" pitchFamily="34" charset="-122"/>
                <a:cs typeface="Calibri" pitchFamily="34" charset="-120"/>
              </a:rPr>
              <a:t>Relationship between Perceived Self‑Efficacy (PSE) and Behavioral Intention (BIE) </a:t>
            </a:r>
            <a:endParaRPr lang="en-US" sz="2400" dirty="0"/>
          </a:p>
        </p:txBody>
      </p:sp>
      <p:sp>
        <p:nvSpPr>
          <p:cNvPr id="5" name="Shape 3">
            <a:extLst>
              <a:ext uri="{FF2B5EF4-FFF2-40B4-BE49-F238E27FC236}">
                <a16:creationId xmlns:a16="http://schemas.microsoft.com/office/drawing/2014/main" id="{DC6170C7-DF53-E6FE-AA88-A5D8AFF868B2}"/>
              </a:ext>
            </a:extLst>
          </p:cNvPr>
          <p:cNvSpPr/>
          <p:nvPr/>
        </p:nvSpPr>
        <p:spPr>
          <a:xfrm>
            <a:off x="0" y="4983480"/>
            <a:ext cx="9144000" cy="160020"/>
          </a:xfrm>
          <a:prstGeom prst="rect">
            <a:avLst/>
          </a:prstGeom>
          <a:solidFill>
            <a:srgbClr val="1B3A8A"/>
          </a:solidFill>
          <a:ln/>
        </p:spPr>
      </p:sp>
      <p:sp>
        <p:nvSpPr>
          <p:cNvPr id="7" name="TextBox 6">
            <a:extLst>
              <a:ext uri="{FF2B5EF4-FFF2-40B4-BE49-F238E27FC236}">
                <a16:creationId xmlns:a16="http://schemas.microsoft.com/office/drawing/2014/main" id="{F4AD21C9-70B6-6DA1-108C-EA12E63D900C}"/>
              </a:ext>
            </a:extLst>
          </p:cNvPr>
          <p:cNvSpPr txBox="1"/>
          <p:nvPr/>
        </p:nvSpPr>
        <p:spPr>
          <a:xfrm>
            <a:off x="352695" y="1543056"/>
            <a:ext cx="4219305" cy="1754326"/>
          </a:xfrm>
          <a:prstGeom prst="rect">
            <a:avLst/>
          </a:prstGeom>
          <a:noFill/>
        </p:spPr>
        <p:txBody>
          <a:bodyPr wrap="square">
            <a:spAutoFit/>
          </a:bodyPr>
          <a:lstStyle/>
          <a:p>
            <a:r>
              <a:rPr lang="en-US" dirty="0"/>
              <a:t>Scatter Chart Analysis:</a:t>
            </a:r>
          </a:p>
          <a:p>
            <a:pPr marL="342900" indent="-342900">
              <a:buFont typeface="Arial" panose="020B0604020202020204" pitchFamily="34" charset="0"/>
              <a:buChar char="•"/>
            </a:pPr>
            <a:r>
              <a:rPr lang="en-US" dirty="0"/>
              <a:t>The findings confirm that perceived self‑efficacy has a statistically meaningful and positive influence on behavioral intention to use e‑learning systems, irrespective of gender.</a:t>
            </a:r>
            <a:endParaRPr lang="en-IN" dirty="0"/>
          </a:p>
        </p:txBody>
      </p:sp>
      <p:pic>
        <p:nvPicPr>
          <p:cNvPr id="10" name="Picture 9">
            <a:extLst>
              <a:ext uri="{FF2B5EF4-FFF2-40B4-BE49-F238E27FC236}">
                <a16:creationId xmlns:a16="http://schemas.microsoft.com/office/drawing/2014/main" id="{E28A1D6C-4413-B011-EF60-A6646DF6B5A4}"/>
              </a:ext>
            </a:extLst>
          </p:cNvPr>
          <p:cNvPicPr>
            <a:picLocks noChangeAspect="1"/>
          </p:cNvPicPr>
          <p:nvPr/>
        </p:nvPicPr>
        <p:blipFill>
          <a:blip r:embed="rId3"/>
          <a:stretch>
            <a:fillRect/>
          </a:stretch>
        </p:blipFill>
        <p:spPr>
          <a:xfrm>
            <a:off x="5380264" y="1047877"/>
            <a:ext cx="3411041" cy="3889883"/>
          </a:xfrm>
          <a:prstGeom prst="rect">
            <a:avLst/>
          </a:prstGeom>
        </p:spPr>
      </p:pic>
    </p:spTree>
    <p:extLst>
      <p:ext uri="{BB962C8B-B14F-4D97-AF65-F5344CB8AC3E}">
        <p14:creationId xmlns:p14="http://schemas.microsoft.com/office/powerpoint/2010/main" val="124520612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C80AD2-98A7-8153-5D91-BD7F214C45DC}"/>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C5309212-DA4B-0BE3-1D06-33C0B908637F}"/>
              </a:ext>
            </a:extLst>
          </p:cNvPr>
          <p:cNvSpPr/>
          <p:nvPr/>
        </p:nvSpPr>
        <p:spPr>
          <a:xfrm>
            <a:off x="0" y="0"/>
            <a:ext cx="9144000" cy="502920"/>
          </a:xfrm>
          <a:prstGeom prst="rect">
            <a:avLst/>
          </a:prstGeom>
          <a:solidFill>
            <a:srgbClr val="1B3A8A"/>
          </a:solidFill>
          <a:ln/>
        </p:spPr>
      </p:sp>
      <p:sp>
        <p:nvSpPr>
          <p:cNvPr id="3" name="Text 1">
            <a:extLst>
              <a:ext uri="{FF2B5EF4-FFF2-40B4-BE49-F238E27FC236}">
                <a16:creationId xmlns:a16="http://schemas.microsoft.com/office/drawing/2014/main" id="{F7D95022-6110-4A9B-CB87-054A1078293C}"/>
              </a:ext>
            </a:extLst>
          </p:cNvPr>
          <p:cNvSpPr/>
          <p:nvPr/>
        </p:nvSpPr>
        <p:spPr>
          <a:xfrm>
            <a:off x="7772400" y="45720"/>
            <a:ext cx="1280160" cy="411480"/>
          </a:xfrm>
          <a:prstGeom prst="rect">
            <a:avLst/>
          </a:prstGeom>
          <a:noFill/>
          <a:ln/>
        </p:spPr>
        <p:txBody>
          <a:bodyPr wrap="square" rtlCol="0" anchor="ctr"/>
          <a:lstStyle/>
          <a:p>
            <a:pPr marL="0" indent="0" algn="r">
              <a:buNone/>
            </a:pPr>
            <a:r>
              <a:rPr lang="en-US" sz="800" b="1">
                <a:solidFill>
                  <a:srgbClr val="4FC3F7"/>
                </a:solidFill>
                <a:latin typeface="Calibri" pitchFamily="34" charset="0"/>
                <a:ea typeface="Calibri" pitchFamily="34" charset="-122"/>
                <a:cs typeface="Calibri" pitchFamily="34" charset="-120"/>
              </a:rPr>
              <a:t>edunet</a:t>
            </a:r>
            <a:endParaRPr lang="en-US" sz="800"/>
          </a:p>
          <a:p>
            <a:pPr marL="0" indent="0" algn="r">
              <a:buNone/>
            </a:pPr>
            <a:r>
              <a:rPr lang="en-US" sz="800" b="1">
                <a:solidFill>
                  <a:srgbClr val="4FC3F7"/>
                </a:solidFill>
                <a:latin typeface="Calibri" pitchFamily="34" charset="0"/>
                <a:ea typeface="Calibri" pitchFamily="34" charset="-122"/>
                <a:cs typeface="Calibri" pitchFamily="34" charset="-120"/>
              </a:rPr>
              <a:t>foundation</a:t>
            </a:r>
            <a:endParaRPr lang="en-US" sz="800"/>
          </a:p>
        </p:txBody>
      </p:sp>
      <p:sp>
        <p:nvSpPr>
          <p:cNvPr id="4" name="Text 2">
            <a:extLst>
              <a:ext uri="{FF2B5EF4-FFF2-40B4-BE49-F238E27FC236}">
                <a16:creationId xmlns:a16="http://schemas.microsoft.com/office/drawing/2014/main" id="{7BAE19C0-3533-BC88-57EE-87C83C525803}"/>
              </a:ext>
            </a:extLst>
          </p:cNvPr>
          <p:cNvSpPr/>
          <p:nvPr/>
        </p:nvSpPr>
        <p:spPr>
          <a:xfrm>
            <a:off x="320040" y="621792"/>
            <a:ext cx="8229600" cy="438912"/>
          </a:xfrm>
          <a:prstGeom prst="rect">
            <a:avLst/>
          </a:prstGeom>
          <a:noFill/>
          <a:ln/>
        </p:spPr>
        <p:txBody>
          <a:bodyPr wrap="square" rtlCol="0" anchor="ctr"/>
          <a:lstStyle/>
          <a:p>
            <a:pPr marL="0" indent="0">
              <a:buNone/>
            </a:pPr>
            <a:r>
              <a:rPr lang="en-US" sz="2800" b="1" dirty="0">
                <a:solidFill>
                  <a:srgbClr val="1B3A8A"/>
                </a:solidFill>
                <a:latin typeface="Calibri" pitchFamily="34" charset="0"/>
                <a:ea typeface="Calibri" pitchFamily="34" charset="-122"/>
                <a:cs typeface="Calibri" pitchFamily="34" charset="-120"/>
              </a:rPr>
              <a:t>Dashboard Overview</a:t>
            </a:r>
            <a:endParaRPr lang="en-US" sz="2800" dirty="0"/>
          </a:p>
        </p:txBody>
      </p:sp>
      <p:sp>
        <p:nvSpPr>
          <p:cNvPr id="5" name="Shape 3">
            <a:extLst>
              <a:ext uri="{FF2B5EF4-FFF2-40B4-BE49-F238E27FC236}">
                <a16:creationId xmlns:a16="http://schemas.microsoft.com/office/drawing/2014/main" id="{2F057C80-5535-74B9-E47C-5770D9073C52}"/>
              </a:ext>
            </a:extLst>
          </p:cNvPr>
          <p:cNvSpPr/>
          <p:nvPr/>
        </p:nvSpPr>
        <p:spPr>
          <a:xfrm>
            <a:off x="0" y="4983480"/>
            <a:ext cx="9144000" cy="160020"/>
          </a:xfrm>
          <a:prstGeom prst="rect">
            <a:avLst/>
          </a:prstGeom>
          <a:solidFill>
            <a:srgbClr val="1B3A8A"/>
          </a:solidFill>
          <a:ln/>
        </p:spPr>
      </p:sp>
      <p:sp>
        <p:nvSpPr>
          <p:cNvPr id="7" name="TextBox 6">
            <a:extLst>
              <a:ext uri="{FF2B5EF4-FFF2-40B4-BE49-F238E27FC236}">
                <a16:creationId xmlns:a16="http://schemas.microsoft.com/office/drawing/2014/main" id="{8B84F6E7-7C35-1BEB-2423-339071AB7015}"/>
              </a:ext>
            </a:extLst>
          </p:cNvPr>
          <p:cNvSpPr txBox="1"/>
          <p:nvPr/>
        </p:nvSpPr>
        <p:spPr>
          <a:xfrm>
            <a:off x="320039" y="1420596"/>
            <a:ext cx="8571297" cy="1938992"/>
          </a:xfrm>
          <a:prstGeom prst="rect">
            <a:avLst/>
          </a:prstGeom>
          <a:noFill/>
        </p:spPr>
        <p:txBody>
          <a:bodyPr wrap="square">
            <a:spAutoFit/>
          </a:bodyPr>
          <a:lstStyle/>
          <a:p>
            <a:r>
              <a:rPr lang="en-US" sz="2400" dirty="0"/>
              <a:t>Power BI Dashboard:</a:t>
            </a:r>
          </a:p>
          <a:p>
            <a:pPr marL="342900" indent="-342900">
              <a:buFont typeface="Arial" panose="020B0604020202020204" pitchFamily="34" charset="0"/>
              <a:buChar char="•"/>
            </a:pPr>
            <a:r>
              <a:rPr lang="en-US" sz="2400" dirty="0"/>
              <a:t>Interactive filters for gender, age, and course</a:t>
            </a:r>
          </a:p>
          <a:p>
            <a:pPr marL="342900" indent="-342900">
              <a:buFont typeface="Arial" panose="020B0604020202020204" pitchFamily="34" charset="0"/>
              <a:buChar char="•"/>
            </a:pPr>
            <a:r>
              <a:rPr lang="en-US" sz="2400" dirty="0"/>
              <a:t>Dynamic charts for TAM constructs</a:t>
            </a:r>
          </a:p>
          <a:p>
            <a:pPr marL="342900" indent="-342900">
              <a:buFont typeface="Arial" panose="020B0604020202020204" pitchFamily="34" charset="0"/>
              <a:buChar char="•"/>
            </a:pPr>
            <a:r>
              <a:rPr lang="en-US" sz="2400" dirty="0"/>
              <a:t>Enables quick insights for academic decision‑making</a:t>
            </a:r>
          </a:p>
          <a:p>
            <a:pPr marL="342900" indent="-342900">
              <a:buFont typeface="Arial" panose="020B0604020202020204" pitchFamily="34" charset="0"/>
              <a:buChar char="•"/>
            </a:pPr>
            <a:r>
              <a:rPr lang="en-US" sz="2400" dirty="0"/>
              <a:t>Supports exploratory and comparative analysis</a:t>
            </a:r>
            <a:endParaRPr lang="en-IN" sz="2400" dirty="0"/>
          </a:p>
        </p:txBody>
      </p:sp>
    </p:spTree>
    <p:extLst>
      <p:ext uri="{BB962C8B-B14F-4D97-AF65-F5344CB8AC3E}">
        <p14:creationId xmlns:p14="http://schemas.microsoft.com/office/powerpoint/2010/main" val="2498378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02920"/>
          </a:xfrm>
          <a:prstGeom prst="rect">
            <a:avLst/>
          </a:prstGeom>
          <a:solidFill>
            <a:srgbClr val="1B3A8A"/>
          </a:solidFill>
          <a:ln/>
        </p:spPr>
      </p:sp>
      <p:sp>
        <p:nvSpPr>
          <p:cNvPr id="3" name="Text 1"/>
          <p:cNvSpPr/>
          <p:nvPr/>
        </p:nvSpPr>
        <p:spPr>
          <a:xfrm>
            <a:off x="7772400" y="45720"/>
            <a:ext cx="1280160" cy="411480"/>
          </a:xfrm>
          <a:prstGeom prst="rect">
            <a:avLst/>
          </a:prstGeom>
          <a:noFill/>
          <a:ln/>
        </p:spPr>
        <p:txBody>
          <a:bodyPr wrap="square" rtlCol="0" anchor="ctr"/>
          <a:lstStyle/>
          <a:p>
            <a:pPr marL="0" indent="0" algn="r">
              <a:buNone/>
            </a:pPr>
            <a:r>
              <a:rPr lang="en-US" sz="800" b="1">
                <a:solidFill>
                  <a:srgbClr val="4FC3F7"/>
                </a:solidFill>
                <a:latin typeface="Calibri" pitchFamily="34" charset="0"/>
                <a:ea typeface="Calibri" pitchFamily="34" charset="-122"/>
                <a:cs typeface="Calibri" pitchFamily="34" charset="-120"/>
              </a:rPr>
              <a:t>edunet</a:t>
            </a:r>
            <a:endParaRPr lang="en-US" sz="800"/>
          </a:p>
          <a:p>
            <a:pPr marL="0" indent="0" algn="r">
              <a:buNone/>
            </a:pPr>
            <a:r>
              <a:rPr lang="en-US" sz="800" b="1">
                <a:solidFill>
                  <a:srgbClr val="4FC3F7"/>
                </a:solidFill>
                <a:latin typeface="Calibri" pitchFamily="34" charset="0"/>
                <a:ea typeface="Calibri" pitchFamily="34" charset="-122"/>
                <a:cs typeface="Calibri" pitchFamily="34" charset="-120"/>
              </a:rPr>
              <a:t>foundation</a:t>
            </a:r>
            <a:endParaRPr lang="en-US" sz="800"/>
          </a:p>
        </p:txBody>
      </p:sp>
      <p:sp>
        <p:nvSpPr>
          <p:cNvPr id="4" name="Text 2"/>
          <p:cNvSpPr/>
          <p:nvPr/>
        </p:nvSpPr>
        <p:spPr>
          <a:xfrm>
            <a:off x="320040" y="621792"/>
            <a:ext cx="8229600" cy="438912"/>
          </a:xfrm>
          <a:prstGeom prst="rect">
            <a:avLst/>
          </a:prstGeom>
          <a:noFill/>
          <a:ln/>
        </p:spPr>
        <p:txBody>
          <a:bodyPr wrap="square" rtlCol="0" anchor="ctr"/>
          <a:lstStyle/>
          <a:p>
            <a:pPr marL="0" indent="0">
              <a:buNone/>
            </a:pPr>
            <a:r>
              <a:rPr lang="en-US" sz="2200" b="1">
                <a:solidFill>
                  <a:srgbClr val="1B3A8A"/>
                </a:solidFill>
                <a:latin typeface="Calibri" pitchFamily="34" charset="0"/>
                <a:ea typeface="Calibri" pitchFamily="34" charset="-122"/>
                <a:cs typeface="Calibri" pitchFamily="34" charset="-120"/>
              </a:rPr>
              <a:t>Video of Project Demo</a:t>
            </a:r>
            <a:endParaRPr lang="en-US" sz="2200"/>
          </a:p>
        </p:txBody>
      </p:sp>
      <p:sp>
        <p:nvSpPr>
          <p:cNvPr id="5" name="Shape 3"/>
          <p:cNvSpPr/>
          <p:nvPr/>
        </p:nvSpPr>
        <p:spPr>
          <a:xfrm>
            <a:off x="0" y="4983480"/>
            <a:ext cx="9144000" cy="160020"/>
          </a:xfrm>
          <a:prstGeom prst="rect">
            <a:avLst/>
          </a:prstGeom>
          <a:solidFill>
            <a:srgbClr val="1B3A8A"/>
          </a:solidFill>
          <a:ln/>
        </p:spPr>
      </p:sp>
      <p:sp>
        <p:nvSpPr>
          <p:cNvPr id="6" name="Shape 4"/>
          <p:cNvSpPr/>
          <p:nvPr/>
        </p:nvSpPr>
        <p:spPr>
          <a:xfrm>
            <a:off x="365760" y="685800"/>
            <a:ext cx="8412480" cy="3977640"/>
          </a:xfrm>
          <a:prstGeom prst="rect">
            <a:avLst/>
          </a:prstGeom>
          <a:solidFill>
            <a:srgbClr val="ECEFF1"/>
          </a:solidFill>
          <a:ln w="25400">
            <a:solidFill>
              <a:srgbClr val="1B3A8A"/>
            </a:solidFill>
            <a:prstDash val="solid"/>
          </a:ln>
        </p:spPr>
      </p:sp>
      <p:sp>
        <p:nvSpPr>
          <p:cNvPr id="8" name="Shape 6"/>
          <p:cNvSpPr/>
          <p:nvPr/>
        </p:nvSpPr>
        <p:spPr>
          <a:xfrm>
            <a:off x="502920" y="777240"/>
            <a:ext cx="164592" cy="164592"/>
          </a:xfrm>
          <a:prstGeom prst="ellipse">
            <a:avLst/>
          </a:prstGeom>
          <a:solidFill>
            <a:srgbClr val="FF5F57"/>
          </a:solidFill>
          <a:ln/>
        </p:spPr>
      </p:sp>
      <p:sp>
        <p:nvSpPr>
          <p:cNvPr id="9" name="Shape 7"/>
          <p:cNvSpPr/>
          <p:nvPr/>
        </p:nvSpPr>
        <p:spPr>
          <a:xfrm>
            <a:off x="731520" y="777240"/>
            <a:ext cx="164592" cy="164592"/>
          </a:xfrm>
          <a:prstGeom prst="ellipse">
            <a:avLst/>
          </a:prstGeom>
          <a:solidFill>
            <a:srgbClr val="FEBC2E"/>
          </a:solidFill>
          <a:ln/>
        </p:spPr>
      </p:sp>
      <p:sp>
        <p:nvSpPr>
          <p:cNvPr id="10" name="Shape 8"/>
          <p:cNvSpPr/>
          <p:nvPr/>
        </p:nvSpPr>
        <p:spPr>
          <a:xfrm>
            <a:off x="960120" y="777240"/>
            <a:ext cx="164592" cy="164592"/>
          </a:xfrm>
          <a:prstGeom prst="ellipse">
            <a:avLst/>
          </a:prstGeom>
          <a:solidFill>
            <a:srgbClr val="28C840"/>
          </a:solidFill>
          <a:ln/>
        </p:spPr>
      </p:sp>
      <p:sp>
        <p:nvSpPr>
          <p:cNvPr id="11" name="Shape 9"/>
          <p:cNvSpPr/>
          <p:nvPr/>
        </p:nvSpPr>
        <p:spPr>
          <a:xfrm>
            <a:off x="1371600" y="777240"/>
            <a:ext cx="5029200" cy="201168"/>
          </a:xfrm>
          <a:prstGeom prst="rect">
            <a:avLst/>
          </a:prstGeom>
          <a:solidFill>
            <a:srgbClr val="FFFFFF"/>
          </a:solidFill>
          <a:ln w="6350">
            <a:solidFill>
              <a:srgbClr val="CCCCCC"/>
            </a:solidFill>
            <a:prstDash val="solid"/>
          </a:ln>
        </p:spPr>
      </p:sp>
      <p:sp>
        <p:nvSpPr>
          <p:cNvPr id="12" name="Text 10"/>
          <p:cNvSpPr/>
          <p:nvPr/>
        </p:nvSpPr>
        <p:spPr>
          <a:xfrm>
            <a:off x="1389888" y="768096"/>
            <a:ext cx="4992624" cy="219456"/>
          </a:xfrm>
          <a:prstGeom prst="rect">
            <a:avLst/>
          </a:prstGeom>
          <a:noFill/>
          <a:ln/>
        </p:spPr>
        <p:txBody>
          <a:bodyPr wrap="square" rtlCol="0" anchor="ctr"/>
          <a:lstStyle/>
          <a:p>
            <a:r>
              <a:rPr lang="en-US" sz="900" dirty="0">
                <a:hlinkClick r:id="rId3"/>
              </a:rPr>
              <a:t>https://drive.google.com/file/d/1W_nhR0rbFnwODVFroQHt8lrYctWEOFwq/view?usp=sharing</a:t>
            </a:r>
            <a:r>
              <a:rPr lang="en-US" sz="900" dirty="0"/>
              <a:t> </a:t>
            </a:r>
          </a:p>
        </p:txBody>
      </p:sp>
      <p:sp>
        <p:nvSpPr>
          <p:cNvPr id="13" name="Shape 11"/>
          <p:cNvSpPr/>
          <p:nvPr/>
        </p:nvSpPr>
        <p:spPr>
          <a:xfrm>
            <a:off x="3749040" y="1828800"/>
            <a:ext cx="1645920" cy="1645920"/>
          </a:xfrm>
          <a:prstGeom prst="ellipse">
            <a:avLst/>
          </a:prstGeom>
          <a:solidFill>
            <a:srgbClr val="1B3A8A">
              <a:alpha val="80000"/>
            </a:srgbClr>
          </a:solidFill>
          <a:ln/>
        </p:spPr>
      </p:sp>
      <p:sp>
        <p:nvSpPr>
          <p:cNvPr id="14" name="Text 12"/>
          <p:cNvSpPr/>
          <p:nvPr/>
        </p:nvSpPr>
        <p:spPr>
          <a:xfrm>
            <a:off x="3749040" y="1828800"/>
            <a:ext cx="1645920" cy="1645920"/>
          </a:xfrm>
          <a:prstGeom prst="rect">
            <a:avLst/>
          </a:prstGeom>
          <a:noFill/>
          <a:ln/>
        </p:spPr>
        <p:txBody>
          <a:bodyPr wrap="square" rtlCol="0" anchor="ctr"/>
          <a:lstStyle/>
          <a:p>
            <a:pPr marL="0" indent="0" algn="ctr">
              <a:buNone/>
            </a:pPr>
            <a:r>
              <a:rPr lang="en-US" sz="4800" dirty="0">
                <a:solidFill>
                  <a:srgbClr val="FFFFFF"/>
                </a:solidFill>
              </a:rPr>
              <a:t>▶</a:t>
            </a:r>
            <a:endParaRPr lang="en-US" sz="4800" dirty="0"/>
          </a:p>
        </p:txBody>
      </p:sp>
      <p:sp>
        <p:nvSpPr>
          <p:cNvPr id="15" name="Text 13"/>
          <p:cNvSpPr/>
          <p:nvPr/>
        </p:nvSpPr>
        <p:spPr>
          <a:xfrm>
            <a:off x="914400" y="3794760"/>
            <a:ext cx="7315200" cy="594360"/>
          </a:xfrm>
          <a:prstGeom prst="rect">
            <a:avLst/>
          </a:prstGeom>
          <a:noFill/>
          <a:ln/>
        </p:spPr>
        <p:txBody>
          <a:bodyPr wrap="square" rtlCol="0" anchor="ctr"/>
          <a:lstStyle/>
          <a:p>
            <a:pPr marL="0" indent="0" algn="ctr">
              <a:buNone/>
            </a:pPr>
            <a:r>
              <a:rPr lang="en-US" sz="1100" i="1" dirty="0">
                <a:solidFill>
                  <a:srgbClr val="607D8B"/>
                </a:solidFill>
                <a:latin typeface="Calibri" pitchFamily="34" charset="0"/>
                <a:ea typeface="Calibri" pitchFamily="34" charset="-122"/>
                <a:cs typeface="Calibri" pitchFamily="34" charset="-120"/>
              </a:rPr>
              <a:t>[Insert your project demo video.</a:t>
            </a:r>
            <a:endParaRPr lang="en-US" sz="1100" dirty="0"/>
          </a:p>
          <a:p>
            <a:pPr marL="0" indent="0" algn="ctr">
              <a:buNone/>
            </a:pPr>
            <a:r>
              <a:rPr lang="en-US" sz="1100" i="1" dirty="0">
                <a:solidFill>
                  <a:srgbClr val="607D8B"/>
                </a:solidFill>
                <a:latin typeface="Calibri" pitchFamily="34" charset="0"/>
                <a:ea typeface="Calibri" pitchFamily="34" charset="-122"/>
                <a:cs typeface="Calibri" pitchFamily="34" charset="-120"/>
              </a:rPr>
              <a:t>You can embed a video your live project.]</a:t>
            </a:r>
            <a:endParaRPr lang="en-US" sz="11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02920"/>
          </a:xfrm>
          <a:prstGeom prst="rect">
            <a:avLst/>
          </a:prstGeom>
          <a:solidFill>
            <a:srgbClr val="1B3A8A"/>
          </a:solidFill>
          <a:ln/>
        </p:spPr>
      </p:sp>
      <p:sp>
        <p:nvSpPr>
          <p:cNvPr id="3" name="Text 1"/>
          <p:cNvSpPr/>
          <p:nvPr/>
        </p:nvSpPr>
        <p:spPr>
          <a:xfrm>
            <a:off x="7772400" y="45720"/>
            <a:ext cx="1280160" cy="411480"/>
          </a:xfrm>
          <a:prstGeom prst="rect">
            <a:avLst/>
          </a:prstGeom>
          <a:noFill/>
          <a:ln/>
        </p:spPr>
        <p:txBody>
          <a:bodyPr wrap="square" rtlCol="0" anchor="ctr"/>
          <a:lstStyle/>
          <a:p>
            <a:pPr marL="0" indent="0" algn="r">
              <a:buNone/>
            </a:pPr>
            <a:r>
              <a:rPr lang="en-US" sz="800" b="1">
                <a:solidFill>
                  <a:srgbClr val="4FC3F7"/>
                </a:solidFill>
                <a:latin typeface="Calibri" pitchFamily="34" charset="0"/>
                <a:ea typeface="Calibri" pitchFamily="34" charset="-122"/>
                <a:cs typeface="Calibri" pitchFamily="34" charset="-120"/>
              </a:rPr>
              <a:t>edunet</a:t>
            </a:r>
            <a:endParaRPr lang="en-US" sz="800"/>
          </a:p>
          <a:p>
            <a:pPr marL="0" indent="0" algn="r">
              <a:buNone/>
            </a:pPr>
            <a:r>
              <a:rPr lang="en-US" sz="800" b="1">
                <a:solidFill>
                  <a:srgbClr val="4FC3F7"/>
                </a:solidFill>
                <a:latin typeface="Calibri" pitchFamily="34" charset="0"/>
                <a:ea typeface="Calibri" pitchFamily="34" charset="-122"/>
                <a:cs typeface="Calibri" pitchFamily="34" charset="-120"/>
              </a:rPr>
              <a:t>foundation</a:t>
            </a:r>
            <a:endParaRPr lang="en-US" sz="800"/>
          </a:p>
        </p:txBody>
      </p:sp>
      <p:sp>
        <p:nvSpPr>
          <p:cNvPr id="4" name="Text 2"/>
          <p:cNvSpPr/>
          <p:nvPr/>
        </p:nvSpPr>
        <p:spPr>
          <a:xfrm>
            <a:off x="320040" y="621792"/>
            <a:ext cx="8229600" cy="438912"/>
          </a:xfrm>
          <a:prstGeom prst="rect">
            <a:avLst/>
          </a:prstGeom>
          <a:noFill/>
          <a:ln/>
        </p:spPr>
        <p:txBody>
          <a:bodyPr wrap="square" rtlCol="0" anchor="ctr"/>
          <a:lstStyle/>
          <a:p>
            <a:pPr marL="0" indent="0">
              <a:buNone/>
            </a:pPr>
            <a:r>
              <a:rPr lang="en-US" sz="2400" b="1" dirty="0">
                <a:solidFill>
                  <a:srgbClr val="1B3A8A"/>
                </a:solidFill>
                <a:latin typeface="Calibri" pitchFamily="34" charset="0"/>
                <a:ea typeface="Calibri" pitchFamily="34" charset="-122"/>
                <a:cs typeface="Calibri" pitchFamily="34" charset="-120"/>
              </a:rPr>
              <a:t>Conclusion</a:t>
            </a:r>
            <a:endParaRPr lang="en-US" sz="2400" dirty="0"/>
          </a:p>
        </p:txBody>
      </p:sp>
      <p:sp>
        <p:nvSpPr>
          <p:cNvPr id="5" name="Shape 3"/>
          <p:cNvSpPr/>
          <p:nvPr/>
        </p:nvSpPr>
        <p:spPr>
          <a:xfrm>
            <a:off x="0" y="4983480"/>
            <a:ext cx="9144000" cy="160020"/>
          </a:xfrm>
          <a:prstGeom prst="rect">
            <a:avLst/>
          </a:prstGeom>
          <a:solidFill>
            <a:srgbClr val="1B3A8A"/>
          </a:solidFill>
          <a:ln/>
        </p:spPr>
      </p:sp>
      <p:sp>
        <p:nvSpPr>
          <p:cNvPr id="6" name="Text 4"/>
          <p:cNvSpPr/>
          <p:nvPr/>
        </p:nvSpPr>
        <p:spPr>
          <a:xfrm>
            <a:off x="4754880" y="1234440"/>
            <a:ext cx="4206240" cy="384048"/>
          </a:xfrm>
          <a:prstGeom prst="rect">
            <a:avLst/>
          </a:prstGeom>
          <a:noFill/>
          <a:ln/>
        </p:spPr>
        <p:txBody>
          <a:bodyPr wrap="square" rtlCol="0" anchor="ctr"/>
          <a:lstStyle/>
          <a:p>
            <a:pPr marL="0" indent="0">
              <a:buNone/>
            </a:pPr>
            <a:r>
              <a:rPr lang="en-US" sz="1150">
                <a:solidFill>
                  <a:srgbClr val="1565C0"/>
                </a:solidFill>
                <a:latin typeface="Calibri" pitchFamily="34" charset="0"/>
                <a:ea typeface="Calibri" pitchFamily="34" charset="-122"/>
                <a:cs typeface="Calibri" pitchFamily="34" charset="-120"/>
              </a:rPr>
              <a:t>• </a:t>
            </a:r>
            <a:r>
              <a:rPr lang="en-US" sz="1150">
                <a:solidFill>
                  <a:srgbClr val="607D8B"/>
                </a:solidFill>
                <a:latin typeface="Calibri" pitchFamily="34" charset="0"/>
                <a:ea typeface="Calibri" pitchFamily="34" charset="-122"/>
                <a:cs typeface="Calibri" pitchFamily="34" charset="-120"/>
              </a:rPr>
              <a:t>Abstract of the Project</a:t>
            </a:r>
            <a:endParaRPr lang="en-US" sz="1150"/>
          </a:p>
        </p:txBody>
      </p:sp>
      <p:sp>
        <p:nvSpPr>
          <p:cNvPr id="7" name="Text 5"/>
          <p:cNvSpPr/>
          <p:nvPr/>
        </p:nvSpPr>
        <p:spPr>
          <a:xfrm>
            <a:off x="4754880" y="1636776"/>
            <a:ext cx="4206240" cy="384048"/>
          </a:xfrm>
          <a:prstGeom prst="rect">
            <a:avLst/>
          </a:prstGeom>
          <a:noFill/>
          <a:ln/>
        </p:spPr>
        <p:txBody>
          <a:bodyPr wrap="square" rtlCol="0" anchor="ctr"/>
          <a:lstStyle/>
          <a:p>
            <a:pPr marL="0" indent="0">
              <a:buNone/>
            </a:pPr>
            <a:r>
              <a:rPr lang="en-US" sz="1150">
                <a:solidFill>
                  <a:srgbClr val="1565C0"/>
                </a:solidFill>
                <a:latin typeface="Calibri" pitchFamily="34" charset="0"/>
                <a:ea typeface="Calibri" pitchFamily="34" charset="-122"/>
                <a:cs typeface="Calibri" pitchFamily="34" charset="-120"/>
              </a:rPr>
              <a:t>• </a:t>
            </a:r>
            <a:r>
              <a:rPr lang="en-US" sz="1150">
                <a:solidFill>
                  <a:srgbClr val="607D8B"/>
                </a:solidFill>
                <a:latin typeface="Calibri" pitchFamily="34" charset="0"/>
                <a:ea typeface="Calibri" pitchFamily="34" charset="-122"/>
                <a:cs typeface="Calibri" pitchFamily="34" charset="-120"/>
              </a:rPr>
              <a:t>Problem Statement</a:t>
            </a:r>
            <a:endParaRPr lang="en-US" sz="1150"/>
          </a:p>
        </p:txBody>
      </p:sp>
      <p:sp>
        <p:nvSpPr>
          <p:cNvPr id="8" name="Text 6"/>
          <p:cNvSpPr/>
          <p:nvPr/>
        </p:nvSpPr>
        <p:spPr>
          <a:xfrm>
            <a:off x="4754880" y="2039112"/>
            <a:ext cx="4206240" cy="384048"/>
          </a:xfrm>
          <a:prstGeom prst="rect">
            <a:avLst/>
          </a:prstGeom>
          <a:noFill/>
          <a:ln/>
        </p:spPr>
        <p:txBody>
          <a:bodyPr wrap="square" rtlCol="0" anchor="ctr"/>
          <a:lstStyle/>
          <a:p>
            <a:pPr marL="0" indent="0">
              <a:buNone/>
            </a:pPr>
            <a:r>
              <a:rPr lang="en-US" sz="1150">
                <a:solidFill>
                  <a:srgbClr val="1565C0"/>
                </a:solidFill>
                <a:latin typeface="Calibri" pitchFamily="34" charset="0"/>
                <a:ea typeface="Calibri" pitchFamily="34" charset="-122"/>
                <a:cs typeface="Calibri" pitchFamily="34" charset="-120"/>
              </a:rPr>
              <a:t>• </a:t>
            </a:r>
            <a:r>
              <a:rPr lang="en-US" sz="1150">
                <a:solidFill>
                  <a:srgbClr val="607D8B"/>
                </a:solidFill>
                <a:latin typeface="Calibri" pitchFamily="34" charset="0"/>
                <a:ea typeface="Calibri" pitchFamily="34" charset="-122"/>
                <a:cs typeface="Calibri" pitchFamily="34" charset="-120"/>
              </a:rPr>
              <a:t>Proposed Solution</a:t>
            </a:r>
            <a:endParaRPr lang="en-US" sz="1150"/>
          </a:p>
        </p:txBody>
      </p:sp>
      <p:sp>
        <p:nvSpPr>
          <p:cNvPr id="9" name="Text 7"/>
          <p:cNvSpPr/>
          <p:nvPr/>
        </p:nvSpPr>
        <p:spPr>
          <a:xfrm>
            <a:off x="4754880" y="2441448"/>
            <a:ext cx="4206240" cy="384048"/>
          </a:xfrm>
          <a:prstGeom prst="rect">
            <a:avLst/>
          </a:prstGeom>
          <a:noFill/>
          <a:ln/>
        </p:spPr>
        <p:txBody>
          <a:bodyPr wrap="square" rtlCol="0" anchor="ctr"/>
          <a:lstStyle/>
          <a:p>
            <a:pPr marL="0" indent="0">
              <a:buNone/>
            </a:pPr>
            <a:r>
              <a:rPr lang="en-US" sz="1150">
                <a:solidFill>
                  <a:srgbClr val="1565C0"/>
                </a:solidFill>
                <a:latin typeface="Calibri" pitchFamily="34" charset="0"/>
                <a:ea typeface="Calibri" pitchFamily="34" charset="-122"/>
                <a:cs typeface="Calibri" pitchFamily="34" charset="-120"/>
              </a:rPr>
              <a:t>• </a:t>
            </a:r>
            <a:r>
              <a:rPr lang="en-US" sz="1150">
                <a:solidFill>
                  <a:srgbClr val="607D8B"/>
                </a:solidFill>
                <a:latin typeface="Calibri" pitchFamily="34" charset="0"/>
                <a:ea typeface="Calibri" pitchFamily="34" charset="-122"/>
                <a:cs typeface="Calibri" pitchFamily="34" charset="-120"/>
              </a:rPr>
              <a:t>System Architecture</a:t>
            </a:r>
            <a:endParaRPr lang="en-US" sz="1150"/>
          </a:p>
        </p:txBody>
      </p:sp>
      <p:sp>
        <p:nvSpPr>
          <p:cNvPr id="10" name="Text 8"/>
          <p:cNvSpPr/>
          <p:nvPr/>
        </p:nvSpPr>
        <p:spPr>
          <a:xfrm>
            <a:off x="4754880" y="2843784"/>
            <a:ext cx="4206240" cy="384048"/>
          </a:xfrm>
          <a:prstGeom prst="rect">
            <a:avLst/>
          </a:prstGeom>
          <a:noFill/>
          <a:ln/>
        </p:spPr>
        <p:txBody>
          <a:bodyPr wrap="square" rtlCol="0" anchor="ctr"/>
          <a:lstStyle/>
          <a:p>
            <a:pPr marL="0" indent="0">
              <a:buNone/>
            </a:pPr>
            <a:r>
              <a:rPr lang="en-US" sz="1150">
                <a:solidFill>
                  <a:srgbClr val="1565C0"/>
                </a:solidFill>
                <a:latin typeface="Calibri" pitchFamily="34" charset="0"/>
                <a:ea typeface="Calibri" pitchFamily="34" charset="-122"/>
                <a:cs typeface="Calibri" pitchFamily="34" charset="-120"/>
              </a:rPr>
              <a:t>• </a:t>
            </a:r>
            <a:r>
              <a:rPr lang="en-US" sz="1150">
                <a:solidFill>
                  <a:srgbClr val="607D8B"/>
                </a:solidFill>
                <a:latin typeface="Calibri" pitchFamily="34" charset="0"/>
                <a:ea typeface="Calibri" pitchFamily="34" charset="-122"/>
                <a:cs typeface="Calibri" pitchFamily="34" charset="-120"/>
              </a:rPr>
              <a:t>Live Demo of the Project</a:t>
            </a:r>
            <a:endParaRPr lang="en-US" sz="1150"/>
          </a:p>
        </p:txBody>
      </p:sp>
      <p:sp>
        <p:nvSpPr>
          <p:cNvPr id="11" name="Text 9"/>
          <p:cNvSpPr/>
          <p:nvPr/>
        </p:nvSpPr>
        <p:spPr>
          <a:xfrm>
            <a:off x="4754880" y="3246120"/>
            <a:ext cx="4206240" cy="384048"/>
          </a:xfrm>
          <a:prstGeom prst="rect">
            <a:avLst/>
          </a:prstGeom>
          <a:noFill/>
          <a:ln/>
        </p:spPr>
        <p:txBody>
          <a:bodyPr wrap="square" rtlCol="0" anchor="ctr"/>
          <a:lstStyle/>
          <a:p>
            <a:pPr marL="0" indent="0">
              <a:buNone/>
            </a:pPr>
            <a:r>
              <a:rPr lang="en-US" sz="1150">
                <a:solidFill>
                  <a:srgbClr val="1565C0"/>
                </a:solidFill>
                <a:latin typeface="Calibri" pitchFamily="34" charset="0"/>
                <a:ea typeface="Calibri" pitchFamily="34" charset="-122"/>
                <a:cs typeface="Calibri" pitchFamily="34" charset="-120"/>
              </a:rPr>
              <a:t>• </a:t>
            </a:r>
            <a:r>
              <a:rPr lang="en-US" sz="1150">
                <a:solidFill>
                  <a:srgbClr val="607D8B"/>
                </a:solidFill>
                <a:latin typeface="Calibri" pitchFamily="34" charset="0"/>
                <a:ea typeface="Calibri" pitchFamily="34" charset="-122"/>
                <a:cs typeface="Calibri" pitchFamily="34" charset="-120"/>
              </a:rPr>
              <a:t>Embedded Video of Project</a:t>
            </a:r>
            <a:endParaRPr lang="en-US" sz="1150"/>
          </a:p>
        </p:txBody>
      </p:sp>
      <p:sp>
        <p:nvSpPr>
          <p:cNvPr id="12" name="Text 10"/>
          <p:cNvSpPr/>
          <p:nvPr/>
        </p:nvSpPr>
        <p:spPr>
          <a:xfrm>
            <a:off x="4754880" y="3648456"/>
            <a:ext cx="4206240" cy="384048"/>
          </a:xfrm>
          <a:prstGeom prst="rect">
            <a:avLst/>
          </a:prstGeom>
          <a:noFill/>
          <a:ln/>
        </p:spPr>
        <p:txBody>
          <a:bodyPr wrap="square" rtlCol="0" anchor="ctr"/>
          <a:lstStyle/>
          <a:p>
            <a:pPr marL="0" indent="0">
              <a:buNone/>
            </a:pPr>
            <a:r>
              <a:rPr lang="en-US" sz="1150" b="1">
                <a:solidFill>
                  <a:srgbClr val="1B3A8A"/>
                </a:solidFill>
                <a:latin typeface="Calibri" pitchFamily="34" charset="0"/>
                <a:ea typeface="Calibri" pitchFamily="34" charset="-122"/>
                <a:cs typeface="Calibri" pitchFamily="34" charset="-120"/>
              </a:rPr>
              <a:t>• Conclusion</a:t>
            </a:r>
            <a:endParaRPr lang="en-US" sz="1150"/>
          </a:p>
        </p:txBody>
      </p:sp>
      <p:sp>
        <p:nvSpPr>
          <p:cNvPr id="13" name="Text 11"/>
          <p:cNvSpPr/>
          <p:nvPr/>
        </p:nvSpPr>
        <p:spPr>
          <a:xfrm>
            <a:off x="4754880" y="4050792"/>
            <a:ext cx="4206240" cy="384048"/>
          </a:xfrm>
          <a:prstGeom prst="rect">
            <a:avLst/>
          </a:prstGeom>
          <a:noFill/>
          <a:ln/>
        </p:spPr>
        <p:txBody>
          <a:bodyPr wrap="square" rtlCol="0" anchor="ctr"/>
          <a:lstStyle/>
          <a:p>
            <a:pPr marL="0" indent="0">
              <a:buNone/>
            </a:pPr>
            <a:r>
              <a:rPr lang="en-US" sz="1150">
                <a:solidFill>
                  <a:srgbClr val="1565C0"/>
                </a:solidFill>
                <a:latin typeface="Calibri" pitchFamily="34" charset="0"/>
                <a:ea typeface="Calibri" pitchFamily="34" charset="-122"/>
                <a:cs typeface="Calibri" pitchFamily="34" charset="-120"/>
              </a:rPr>
              <a:t>• </a:t>
            </a:r>
            <a:r>
              <a:rPr lang="en-US" sz="1150">
                <a:solidFill>
                  <a:srgbClr val="607D8B"/>
                </a:solidFill>
                <a:latin typeface="Calibri" pitchFamily="34" charset="0"/>
                <a:ea typeface="Calibri" pitchFamily="34" charset="-122"/>
                <a:cs typeface="Calibri" pitchFamily="34" charset="-120"/>
              </a:rPr>
              <a:t>Future Scope</a:t>
            </a:r>
            <a:endParaRPr lang="en-US" sz="1150"/>
          </a:p>
        </p:txBody>
      </p:sp>
      <p:sp>
        <p:nvSpPr>
          <p:cNvPr id="14" name="Text 12"/>
          <p:cNvSpPr/>
          <p:nvPr/>
        </p:nvSpPr>
        <p:spPr>
          <a:xfrm>
            <a:off x="457200" y="1234440"/>
            <a:ext cx="4114800" cy="3474720"/>
          </a:xfrm>
          <a:prstGeom prst="rect">
            <a:avLst/>
          </a:prstGeom>
          <a:noFill/>
          <a:ln/>
        </p:spPr>
        <p:txBody>
          <a:bodyPr wrap="square" rtlCol="0" anchor="t"/>
          <a:lstStyle/>
          <a:p>
            <a:pPr marL="0" indent="0">
              <a:buNone/>
            </a:pPr>
            <a:r>
              <a:rPr lang="en-US" sz="2000" dirty="0">
                <a:solidFill>
                  <a:srgbClr val="1A1A2E"/>
                </a:solidFill>
                <a:latin typeface="Calibri" pitchFamily="34" charset="0"/>
                <a:ea typeface="Calibri" pitchFamily="34" charset="-122"/>
                <a:cs typeface="Calibri" pitchFamily="34" charset="-120"/>
              </a:rPr>
              <a:t>The study confirms that students have a positive perception of e‑learning systems. High mean scores across TAM constructs demonstrate strong acceptance and intention to use e‑learning platforms. </a:t>
            </a:r>
          </a:p>
          <a:p>
            <a:pPr marL="0" indent="0">
              <a:buNone/>
            </a:pPr>
            <a:r>
              <a:rPr lang="en-US" sz="2000" dirty="0">
                <a:solidFill>
                  <a:srgbClr val="1A1A2E"/>
                </a:solidFill>
                <a:latin typeface="Calibri" pitchFamily="34" charset="0"/>
                <a:ea typeface="Calibri" pitchFamily="34" charset="-122"/>
                <a:cs typeface="Calibri" pitchFamily="34" charset="-120"/>
              </a:rPr>
              <a:t>The Power BI dashboard successfully transforms raw survey data into actionable insights, validating the effectiveness of data visualization in educational research. </a:t>
            </a:r>
            <a:endParaRPr lang="en-US" sz="2000" dirty="0"/>
          </a:p>
        </p:txBody>
      </p:sp>
      <p:sp>
        <p:nvSpPr>
          <p:cNvPr id="15" name="Shape 13"/>
          <p:cNvSpPr/>
          <p:nvPr/>
        </p:nvSpPr>
        <p:spPr>
          <a:xfrm>
            <a:off x="4846320" y="777240"/>
            <a:ext cx="3931920" cy="3931920"/>
          </a:xfrm>
          <a:prstGeom prst="rect">
            <a:avLst/>
          </a:prstGeom>
          <a:solidFill>
            <a:srgbClr val="F7F9FC"/>
          </a:solidFill>
          <a:ln w="12700">
            <a:solidFill>
              <a:srgbClr val="ECEFF1"/>
            </a:solidFill>
            <a:prstDash val="solid"/>
          </a:ln>
        </p:spPr>
      </p:sp>
      <p:sp>
        <p:nvSpPr>
          <p:cNvPr id="16" name="Shape 14"/>
          <p:cNvSpPr/>
          <p:nvPr/>
        </p:nvSpPr>
        <p:spPr>
          <a:xfrm>
            <a:off x="5394960" y="1005840"/>
            <a:ext cx="2834640" cy="2834640"/>
          </a:xfrm>
          <a:prstGeom prst="ellipse">
            <a:avLst/>
          </a:prstGeom>
          <a:solidFill>
            <a:srgbClr val="1B3A8A"/>
          </a:solidFill>
          <a:ln/>
        </p:spPr>
      </p:sp>
      <p:sp>
        <p:nvSpPr>
          <p:cNvPr id="17" name="Text 15"/>
          <p:cNvSpPr/>
          <p:nvPr/>
        </p:nvSpPr>
        <p:spPr>
          <a:xfrm>
            <a:off x="5394960" y="1005840"/>
            <a:ext cx="2834640" cy="2194560"/>
          </a:xfrm>
          <a:prstGeom prst="rect">
            <a:avLst/>
          </a:prstGeom>
          <a:noFill/>
          <a:ln/>
        </p:spPr>
        <p:txBody>
          <a:bodyPr wrap="square" rtlCol="0" anchor="ctr"/>
          <a:lstStyle/>
          <a:p>
            <a:pPr marL="0" indent="0" algn="ctr">
              <a:buNone/>
            </a:pPr>
            <a:r>
              <a:rPr lang="en-US" sz="6000">
                <a:solidFill>
                  <a:srgbClr val="000000"/>
                </a:solidFill>
              </a:rPr>
              <a:t>✅</a:t>
            </a:r>
            <a:endParaRPr lang="en-US" sz="6000"/>
          </a:p>
        </p:txBody>
      </p:sp>
      <p:sp>
        <p:nvSpPr>
          <p:cNvPr id="18" name="Shape 16"/>
          <p:cNvSpPr/>
          <p:nvPr/>
        </p:nvSpPr>
        <p:spPr>
          <a:xfrm>
            <a:off x="5303520" y="3474720"/>
            <a:ext cx="3017520" cy="502920"/>
          </a:xfrm>
          <a:prstGeom prst="rect">
            <a:avLst/>
          </a:prstGeom>
          <a:solidFill>
            <a:srgbClr val="1565C0"/>
          </a:solidFill>
          <a:ln/>
        </p:spPr>
      </p:sp>
      <p:sp>
        <p:nvSpPr>
          <p:cNvPr id="19" name="Text 17"/>
          <p:cNvSpPr/>
          <p:nvPr/>
        </p:nvSpPr>
        <p:spPr>
          <a:xfrm>
            <a:off x="5303520" y="3474720"/>
            <a:ext cx="3017520" cy="502920"/>
          </a:xfrm>
          <a:prstGeom prst="rect">
            <a:avLst/>
          </a:prstGeom>
          <a:noFill/>
          <a:ln/>
        </p:spPr>
        <p:txBody>
          <a:bodyPr wrap="square" rtlCol="0" anchor="ctr"/>
          <a:lstStyle/>
          <a:p>
            <a:pPr marL="0" indent="0" algn="ctr">
              <a:buNone/>
            </a:pPr>
            <a:r>
              <a:rPr lang="en-US" sz="1600" b="1" kern="0" spc="200">
                <a:solidFill>
                  <a:srgbClr val="FFFFFF"/>
                </a:solidFill>
                <a:latin typeface="Calibri" pitchFamily="34" charset="0"/>
                <a:ea typeface="Calibri" pitchFamily="34" charset="-122"/>
                <a:cs typeface="Calibri" pitchFamily="34" charset="-120"/>
              </a:rPr>
              <a:t>CONCLUSION</a:t>
            </a:r>
            <a:endParaRPr lang="en-US" sz="160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02920"/>
          </a:xfrm>
          <a:prstGeom prst="rect">
            <a:avLst/>
          </a:prstGeom>
          <a:solidFill>
            <a:srgbClr val="1B3A8A"/>
          </a:solidFill>
          <a:ln/>
        </p:spPr>
      </p:sp>
      <p:sp>
        <p:nvSpPr>
          <p:cNvPr id="3" name="Text 1"/>
          <p:cNvSpPr/>
          <p:nvPr/>
        </p:nvSpPr>
        <p:spPr>
          <a:xfrm>
            <a:off x="7772400" y="45720"/>
            <a:ext cx="1280160" cy="411480"/>
          </a:xfrm>
          <a:prstGeom prst="rect">
            <a:avLst/>
          </a:prstGeom>
          <a:noFill/>
          <a:ln/>
        </p:spPr>
        <p:txBody>
          <a:bodyPr wrap="square" rtlCol="0" anchor="ctr"/>
          <a:lstStyle/>
          <a:p>
            <a:pPr marL="0" indent="0" algn="r">
              <a:buNone/>
            </a:pPr>
            <a:r>
              <a:rPr lang="en-US" sz="800" b="1">
                <a:solidFill>
                  <a:srgbClr val="4FC3F7"/>
                </a:solidFill>
                <a:latin typeface="Calibri" pitchFamily="34" charset="0"/>
                <a:ea typeface="Calibri" pitchFamily="34" charset="-122"/>
                <a:cs typeface="Calibri" pitchFamily="34" charset="-120"/>
              </a:rPr>
              <a:t>edunet</a:t>
            </a:r>
            <a:endParaRPr lang="en-US" sz="800"/>
          </a:p>
          <a:p>
            <a:pPr marL="0" indent="0" algn="r">
              <a:buNone/>
            </a:pPr>
            <a:r>
              <a:rPr lang="en-US" sz="800" b="1">
                <a:solidFill>
                  <a:srgbClr val="4FC3F7"/>
                </a:solidFill>
                <a:latin typeface="Calibri" pitchFamily="34" charset="0"/>
                <a:ea typeface="Calibri" pitchFamily="34" charset="-122"/>
                <a:cs typeface="Calibri" pitchFamily="34" charset="-120"/>
              </a:rPr>
              <a:t>foundation</a:t>
            </a:r>
            <a:endParaRPr lang="en-US" sz="800"/>
          </a:p>
        </p:txBody>
      </p:sp>
      <p:sp>
        <p:nvSpPr>
          <p:cNvPr id="4" name="Text 2"/>
          <p:cNvSpPr/>
          <p:nvPr/>
        </p:nvSpPr>
        <p:spPr>
          <a:xfrm>
            <a:off x="320040" y="621792"/>
            <a:ext cx="8229600" cy="438912"/>
          </a:xfrm>
          <a:prstGeom prst="rect">
            <a:avLst/>
          </a:prstGeom>
          <a:noFill/>
          <a:ln/>
        </p:spPr>
        <p:txBody>
          <a:bodyPr wrap="square" rtlCol="0" anchor="ctr"/>
          <a:lstStyle/>
          <a:p>
            <a:pPr marL="0" indent="0">
              <a:buNone/>
            </a:pPr>
            <a:r>
              <a:rPr lang="en-US" sz="2400" b="1" dirty="0">
                <a:solidFill>
                  <a:srgbClr val="1B3A8A"/>
                </a:solidFill>
                <a:latin typeface="Calibri" pitchFamily="34" charset="0"/>
                <a:ea typeface="Calibri" pitchFamily="34" charset="-122"/>
                <a:cs typeface="Calibri" pitchFamily="34" charset="-120"/>
              </a:rPr>
              <a:t>Future Scope</a:t>
            </a:r>
            <a:endParaRPr lang="en-US" sz="2400" dirty="0"/>
          </a:p>
        </p:txBody>
      </p:sp>
      <p:sp>
        <p:nvSpPr>
          <p:cNvPr id="5" name="Shape 3"/>
          <p:cNvSpPr/>
          <p:nvPr/>
        </p:nvSpPr>
        <p:spPr>
          <a:xfrm>
            <a:off x="0" y="4983480"/>
            <a:ext cx="9144000" cy="160020"/>
          </a:xfrm>
          <a:prstGeom prst="rect">
            <a:avLst/>
          </a:prstGeom>
          <a:solidFill>
            <a:srgbClr val="1B3A8A"/>
          </a:solidFill>
          <a:ln/>
        </p:spPr>
      </p:sp>
      <p:sp>
        <p:nvSpPr>
          <p:cNvPr id="6" name="Text 4"/>
          <p:cNvSpPr/>
          <p:nvPr/>
        </p:nvSpPr>
        <p:spPr>
          <a:xfrm>
            <a:off x="4754880" y="1234440"/>
            <a:ext cx="4206240" cy="384048"/>
          </a:xfrm>
          <a:prstGeom prst="rect">
            <a:avLst/>
          </a:prstGeom>
          <a:noFill/>
          <a:ln/>
        </p:spPr>
        <p:txBody>
          <a:bodyPr wrap="square" rtlCol="0" anchor="ctr"/>
          <a:lstStyle/>
          <a:p>
            <a:pPr marL="0" indent="0">
              <a:buNone/>
            </a:pPr>
            <a:r>
              <a:rPr lang="en-US" sz="1150">
                <a:solidFill>
                  <a:srgbClr val="1565C0"/>
                </a:solidFill>
                <a:latin typeface="Calibri" pitchFamily="34" charset="0"/>
                <a:ea typeface="Calibri" pitchFamily="34" charset="-122"/>
                <a:cs typeface="Calibri" pitchFamily="34" charset="-120"/>
              </a:rPr>
              <a:t>• </a:t>
            </a:r>
            <a:r>
              <a:rPr lang="en-US" sz="1150">
                <a:solidFill>
                  <a:srgbClr val="607D8B"/>
                </a:solidFill>
                <a:latin typeface="Calibri" pitchFamily="34" charset="0"/>
                <a:ea typeface="Calibri" pitchFamily="34" charset="-122"/>
                <a:cs typeface="Calibri" pitchFamily="34" charset="-120"/>
              </a:rPr>
              <a:t>Abstract of the Project</a:t>
            </a:r>
            <a:endParaRPr lang="en-US" sz="1150"/>
          </a:p>
        </p:txBody>
      </p:sp>
      <p:sp>
        <p:nvSpPr>
          <p:cNvPr id="7" name="Text 5"/>
          <p:cNvSpPr/>
          <p:nvPr/>
        </p:nvSpPr>
        <p:spPr>
          <a:xfrm>
            <a:off x="4754880" y="1636776"/>
            <a:ext cx="4206240" cy="384048"/>
          </a:xfrm>
          <a:prstGeom prst="rect">
            <a:avLst/>
          </a:prstGeom>
          <a:noFill/>
          <a:ln/>
        </p:spPr>
        <p:txBody>
          <a:bodyPr wrap="square" rtlCol="0" anchor="ctr"/>
          <a:lstStyle/>
          <a:p>
            <a:pPr marL="0" indent="0">
              <a:buNone/>
            </a:pPr>
            <a:r>
              <a:rPr lang="en-US" sz="1150">
                <a:solidFill>
                  <a:srgbClr val="1565C0"/>
                </a:solidFill>
                <a:latin typeface="Calibri" pitchFamily="34" charset="0"/>
                <a:ea typeface="Calibri" pitchFamily="34" charset="-122"/>
                <a:cs typeface="Calibri" pitchFamily="34" charset="-120"/>
              </a:rPr>
              <a:t>• </a:t>
            </a:r>
            <a:r>
              <a:rPr lang="en-US" sz="1150">
                <a:solidFill>
                  <a:srgbClr val="607D8B"/>
                </a:solidFill>
                <a:latin typeface="Calibri" pitchFamily="34" charset="0"/>
                <a:ea typeface="Calibri" pitchFamily="34" charset="-122"/>
                <a:cs typeface="Calibri" pitchFamily="34" charset="-120"/>
              </a:rPr>
              <a:t>Problem Statement</a:t>
            </a:r>
            <a:endParaRPr lang="en-US" sz="1150"/>
          </a:p>
        </p:txBody>
      </p:sp>
      <p:sp>
        <p:nvSpPr>
          <p:cNvPr id="8" name="Text 6"/>
          <p:cNvSpPr/>
          <p:nvPr/>
        </p:nvSpPr>
        <p:spPr>
          <a:xfrm>
            <a:off x="4754880" y="2039112"/>
            <a:ext cx="4206240" cy="384048"/>
          </a:xfrm>
          <a:prstGeom prst="rect">
            <a:avLst/>
          </a:prstGeom>
          <a:noFill/>
          <a:ln/>
        </p:spPr>
        <p:txBody>
          <a:bodyPr wrap="square" rtlCol="0" anchor="ctr"/>
          <a:lstStyle/>
          <a:p>
            <a:pPr marL="0" indent="0">
              <a:buNone/>
            </a:pPr>
            <a:r>
              <a:rPr lang="en-US" sz="1150">
                <a:solidFill>
                  <a:srgbClr val="1565C0"/>
                </a:solidFill>
                <a:latin typeface="Calibri" pitchFamily="34" charset="0"/>
                <a:ea typeface="Calibri" pitchFamily="34" charset="-122"/>
                <a:cs typeface="Calibri" pitchFamily="34" charset="-120"/>
              </a:rPr>
              <a:t>• </a:t>
            </a:r>
            <a:r>
              <a:rPr lang="en-US" sz="1150">
                <a:solidFill>
                  <a:srgbClr val="607D8B"/>
                </a:solidFill>
                <a:latin typeface="Calibri" pitchFamily="34" charset="0"/>
                <a:ea typeface="Calibri" pitchFamily="34" charset="-122"/>
                <a:cs typeface="Calibri" pitchFamily="34" charset="-120"/>
              </a:rPr>
              <a:t>Proposed Solution</a:t>
            </a:r>
            <a:endParaRPr lang="en-US" sz="1150"/>
          </a:p>
        </p:txBody>
      </p:sp>
      <p:sp>
        <p:nvSpPr>
          <p:cNvPr id="9" name="Text 7"/>
          <p:cNvSpPr/>
          <p:nvPr/>
        </p:nvSpPr>
        <p:spPr>
          <a:xfrm>
            <a:off x="4754880" y="2441448"/>
            <a:ext cx="4206240" cy="384048"/>
          </a:xfrm>
          <a:prstGeom prst="rect">
            <a:avLst/>
          </a:prstGeom>
          <a:noFill/>
          <a:ln/>
        </p:spPr>
        <p:txBody>
          <a:bodyPr wrap="square" rtlCol="0" anchor="ctr"/>
          <a:lstStyle/>
          <a:p>
            <a:pPr marL="0" indent="0">
              <a:buNone/>
            </a:pPr>
            <a:r>
              <a:rPr lang="en-US" sz="1150">
                <a:solidFill>
                  <a:srgbClr val="1565C0"/>
                </a:solidFill>
                <a:latin typeface="Calibri" pitchFamily="34" charset="0"/>
                <a:ea typeface="Calibri" pitchFamily="34" charset="-122"/>
                <a:cs typeface="Calibri" pitchFamily="34" charset="-120"/>
              </a:rPr>
              <a:t>• </a:t>
            </a:r>
            <a:r>
              <a:rPr lang="en-US" sz="1150">
                <a:solidFill>
                  <a:srgbClr val="607D8B"/>
                </a:solidFill>
                <a:latin typeface="Calibri" pitchFamily="34" charset="0"/>
                <a:ea typeface="Calibri" pitchFamily="34" charset="-122"/>
                <a:cs typeface="Calibri" pitchFamily="34" charset="-120"/>
              </a:rPr>
              <a:t>System Architecture</a:t>
            </a:r>
            <a:endParaRPr lang="en-US" sz="1150"/>
          </a:p>
        </p:txBody>
      </p:sp>
      <p:sp>
        <p:nvSpPr>
          <p:cNvPr id="10" name="Text 8"/>
          <p:cNvSpPr/>
          <p:nvPr/>
        </p:nvSpPr>
        <p:spPr>
          <a:xfrm>
            <a:off x="4754880" y="2843784"/>
            <a:ext cx="4206240" cy="384048"/>
          </a:xfrm>
          <a:prstGeom prst="rect">
            <a:avLst/>
          </a:prstGeom>
          <a:noFill/>
          <a:ln/>
        </p:spPr>
        <p:txBody>
          <a:bodyPr wrap="square" rtlCol="0" anchor="ctr"/>
          <a:lstStyle/>
          <a:p>
            <a:pPr marL="0" indent="0">
              <a:buNone/>
            </a:pPr>
            <a:r>
              <a:rPr lang="en-US" sz="1150">
                <a:solidFill>
                  <a:srgbClr val="1565C0"/>
                </a:solidFill>
                <a:latin typeface="Calibri" pitchFamily="34" charset="0"/>
                <a:ea typeface="Calibri" pitchFamily="34" charset="-122"/>
                <a:cs typeface="Calibri" pitchFamily="34" charset="-120"/>
              </a:rPr>
              <a:t>• </a:t>
            </a:r>
            <a:r>
              <a:rPr lang="en-US" sz="1150">
                <a:solidFill>
                  <a:srgbClr val="607D8B"/>
                </a:solidFill>
                <a:latin typeface="Calibri" pitchFamily="34" charset="0"/>
                <a:ea typeface="Calibri" pitchFamily="34" charset="-122"/>
                <a:cs typeface="Calibri" pitchFamily="34" charset="-120"/>
              </a:rPr>
              <a:t>Live Demo of the Project</a:t>
            </a:r>
            <a:endParaRPr lang="en-US" sz="1150"/>
          </a:p>
        </p:txBody>
      </p:sp>
      <p:sp>
        <p:nvSpPr>
          <p:cNvPr id="11" name="Text 9"/>
          <p:cNvSpPr/>
          <p:nvPr/>
        </p:nvSpPr>
        <p:spPr>
          <a:xfrm>
            <a:off x="4754880" y="3246120"/>
            <a:ext cx="4206240" cy="384048"/>
          </a:xfrm>
          <a:prstGeom prst="rect">
            <a:avLst/>
          </a:prstGeom>
          <a:noFill/>
          <a:ln/>
        </p:spPr>
        <p:txBody>
          <a:bodyPr wrap="square" rtlCol="0" anchor="ctr"/>
          <a:lstStyle/>
          <a:p>
            <a:pPr marL="0" indent="0">
              <a:buNone/>
            </a:pPr>
            <a:r>
              <a:rPr lang="en-US" sz="1150">
                <a:solidFill>
                  <a:srgbClr val="1565C0"/>
                </a:solidFill>
                <a:latin typeface="Calibri" pitchFamily="34" charset="0"/>
                <a:ea typeface="Calibri" pitchFamily="34" charset="-122"/>
                <a:cs typeface="Calibri" pitchFamily="34" charset="-120"/>
              </a:rPr>
              <a:t>• </a:t>
            </a:r>
            <a:r>
              <a:rPr lang="en-US" sz="1150">
                <a:solidFill>
                  <a:srgbClr val="607D8B"/>
                </a:solidFill>
                <a:latin typeface="Calibri" pitchFamily="34" charset="0"/>
                <a:ea typeface="Calibri" pitchFamily="34" charset="-122"/>
                <a:cs typeface="Calibri" pitchFamily="34" charset="-120"/>
              </a:rPr>
              <a:t>Embedded Video of Project</a:t>
            </a:r>
            <a:endParaRPr lang="en-US" sz="1150"/>
          </a:p>
        </p:txBody>
      </p:sp>
      <p:sp>
        <p:nvSpPr>
          <p:cNvPr id="12" name="Text 10"/>
          <p:cNvSpPr/>
          <p:nvPr/>
        </p:nvSpPr>
        <p:spPr>
          <a:xfrm>
            <a:off x="4754880" y="3648456"/>
            <a:ext cx="4206240" cy="384048"/>
          </a:xfrm>
          <a:prstGeom prst="rect">
            <a:avLst/>
          </a:prstGeom>
          <a:noFill/>
          <a:ln/>
        </p:spPr>
        <p:txBody>
          <a:bodyPr wrap="square" rtlCol="0" anchor="ctr"/>
          <a:lstStyle/>
          <a:p>
            <a:pPr marL="0" indent="0">
              <a:buNone/>
            </a:pPr>
            <a:r>
              <a:rPr lang="en-US" sz="1150">
                <a:solidFill>
                  <a:srgbClr val="1565C0"/>
                </a:solidFill>
                <a:latin typeface="Calibri" pitchFamily="34" charset="0"/>
                <a:ea typeface="Calibri" pitchFamily="34" charset="-122"/>
                <a:cs typeface="Calibri" pitchFamily="34" charset="-120"/>
              </a:rPr>
              <a:t>• </a:t>
            </a:r>
            <a:r>
              <a:rPr lang="en-US" sz="1150">
                <a:solidFill>
                  <a:srgbClr val="607D8B"/>
                </a:solidFill>
                <a:latin typeface="Calibri" pitchFamily="34" charset="0"/>
                <a:ea typeface="Calibri" pitchFamily="34" charset="-122"/>
                <a:cs typeface="Calibri" pitchFamily="34" charset="-120"/>
              </a:rPr>
              <a:t>Conclusion</a:t>
            </a:r>
            <a:endParaRPr lang="en-US" sz="1150"/>
          </a:p>
        </p:txBody>
      </p:sp>
      <p:sp>
        <p:nvSpPr>
          <p:cNvPr id="13" name="Text 11"/>
          <p:cNvSpPr/>
          <p:nvPr/>
        </p:nvSpPr>
        <p:spPr>
          <a:xfrm>
            <a:off x="4754880" y="4050792"/>
            <a:ext cx="4206240" cy="384048"/>
          </a:xfrm>
          <a:prstGeom prst="rect">
            <a:avLst/>
          </a:prstGeom>
          <a:noFill/>
          <a:ln/>
        </p:spPr>
        <p:txBody>
          <a:bodyPr wrap="square" rtlCol="0" anchor="ctr"/>
          <a:lstStyle/>
          <a:p>
            <a:pPr marL="0" indent="0">
              <a:buNone/>
            </a:pPr>
            <a:r>
              <a:rPr lang="en-US" sz="1150" b="1">
                <a:solidFill>
                  <a:srgbClr val="1B3A8A"/>
                </a:solidFill>
                <a:latin typeface="Calibri" pitchFamily="34" charset="0"/>
                <a:ea typeface="Calibri" pitchFamily="34" charset="-122"/>
                <a:cs typeface="Calibri" pitchFamily="34" charset="-120"/>
              </a:rPr>
              <a:t>• Future Scope</a:t>
            </a:r>
            <a:endParaRPr lang="en-US" sz="1150"/>
          </a:p>
        </p:txBody>
      </p:sp>
      <p:sp>
        <p:nvSpPr>
          <p:cNvPr id="14" name="Text 12"/>
          <p:cNvSpPr/>
          <p:nvPr/>
        </p:nvSpPr>
        <p:spPr>
          <a:xfrm>
            <a:off x="457200" y="1234440"/>
            <a:ext cx="4114800" cy="3474720"/>
          </a:xfrm>
          <a:prstGeom prst="rect">
            <a:avLst/>
          </a:prstGeom>
          <a:noFill/>
          <a:ln/>
        </p:spPr>
        <p:txBody>
          <a:bodyPr wrap="square" rtlCol="0" anchor="t"/>
          <a:lstStyle/>
          <a:p>
            <a:pPr marL="0" indent="0">
              <a:buNone/>
            </a:pPr>
            <a:endParaRPr lang="en-US" sz="1300" dirty="0"/>
          </a:p>
        </p:txBody>
      </p:sp>
      <p:sp>
        <p:nvSpPr>
          <p:cNvPr id="15" name="Shape 13"/>
          <p:cNvSpPr/>
          <p:nvPr/>
        </p:nvSpPr>
        <p:spPr>
          <a:xfrm>
            <a:off x="4846320" y="777240"/>
            <a:ext cx="3931920" cy="3931920"/>
          </a:xfrm>
          <a:prstGeom prst="rect">
            <a:avLst/>
          </a:prstGeom>
          <a:solidFill>
            <a:srgbClr val="F7F9FC"/>
          </a:solidFill>
          <a:ln w="12700">
            <a:solidFill>
              <a:srgbClr val="ECEFF1"/>
            </a:solidFill>
            <a:prstDash val="solid"/>
          </a:ln>
        </p:spPr>
      </p:sp>
      <p:sp>
        <p:nvSpPr>
          <p:cNvPr id="16" name="Text 14"/>
          <p:cNvSpPr/>
          <p:nvPr/>
        </p:nvSpPr>
        <p:spPr>
          <a:xfrm>
            <a:off x="4846320" y="914400"/>
            <a:ext cx="3931920" cy="2926080"/>
          </a:xfrm>
          <a:prstGeom prst="rect">
            <a:avLst/>
          </a:prstGeom>
          <a:noFill/>
          <a:ln/>
        </p:spPr>
        <p:txBody>
          <a:bodyPr wrap="square" rtlCol="0" anchor="ctr"/>
          <a:lstStyle/>
          <a:p>
            <a:pPr marL="0" indent="0" algn="ctr">
              <a:buNone/>
            </a:pPr>
            <a:r>
              <a:rPr lang="en-US" sz="10000">
                <a:solidFill>
                  <a:srgbClr val="000000"/>
                </a:solidFill>
              </a:rPr>
              <a:t>🧠</a:t>
            </a:r>
            <a:endParaRPr lang="en-US" sz="10000"/>
          </a:p>
        </p:txBody>
      </p:sp>
      <p:sp>
        <p:nvSpPr>
          <p:cNvPr id="17" name="Text 15"/>
          <p:cNvSpPr/>
          <p:nvPr/>
        </p:nvSpPr>
        <p:spPr>
          <a:xfrm>
            <a:off x="4846320" y="3703320"/>
            <a:ext cx="3931920" cy="320040"/>
          </a:xfrm>
          <a:prstGeom prst="rect">
            <a:avLst/>
          </a:prstGeom>
          <a:noFill/>
          <a:ln/>
        </p:spPr>
        <p:txBody>
          <a:bodyPr wrap="square" rtlCol="0" anchor="ctr"/>
          <a:lstStyle/>
          <a:p>
            <a:pPr marL="0" indent="0" algn="ctr">
              <a:buNone/>
            </a:pPr>
            <a:r>
              <a:rPr lang="en-US" sz="1000" i="1">
                <a:solidFill>
                  <a:srgbClr val="607D8B"/>
                </a:solidFill>
                <a:latin typeface="Calibri" pitchFamily="34" charset="0"/>
                <a:ea typeface="Calibri" pitchFamily="34" charset="-122"/>
                <a:cs typeface="Calibri" pitchFamily="34" charset="-120"/>
              </a:rPr>
              <a:t>[Future ideas &amp; roadmap]</a:t>
            </a:r>
            <a:endParaRPr lang="en-US" sz="1000"/>
          </a:p>
        </p:txBody>
      </p:sp>
      <p:sp>
        <p:nvSpPr>
          <p:cNvPr id="19" name="TextBox 18">
            <a:extLst>
              <a:ext uri="{FF2B5EF4-FFF2-40B4-BE49-F238E27FC236}">
                <a16:creationId xmlns:a16="http://schemas.microsoft.com/office/drawing/2014/main" id="{53E52C99-8564-2724-C683-CEF6F2152EC5}"/>
              </a:ext>
            </a:extLst>
          </p:cNvPr>
          <p:cNvSpPr txBox="1"/>
          <p:nvPr/>
        </p:nvSpPr>
        <p:spPr>
          <a:xfrm>
            <a:off x="320040" y="1084992"/>
            <a:ext cx="4434840" cy="3416320"/>
          </a:xfrm>
          <a:prstGeom prst="rect">
            <a:avLst/>
          </a:prstGeom>
          <a:noFill/>
        </p:spPr>
        <p:txBody>
          <a:bodyPr wrap="square">
            <a:spAutoFit/>
          </a:bodyPr>
          <a:lstStyle/>
          <a:p>
            <a:pPr marL="342900" indent="-342900">
              <a:buFont typeface="Arial" panose="020B0604020202020204" pitchFamily="34" charset="0"/>
              <a:buChar char="•"/>
            </a:pPr>
            <a:r>
              <a:rPr lang="en-US" sz="2400" dirty="0"/>
              <a:t>Inclusion of faculty and administrative perspectives</a:t>
            </a:r>
          </a:p>
          <a:p>
            <a:pPr marL="342900" indent="-342900">
              <a:buFont typeface="Arial" panose="020B0604020202020204" pitchFamily="34" charset="0"/>
              <a:buChar char="•"/>
            </a:pPr>
            <a:r>
              <a:rPr lang="en-US" sz="2400" dirty="0"/>
              <a:t>Longitudinal analysis to track changes over time</a:t>
            </a:r>
          </a:p>
          <a:p>
            <a:pPr marL="342900" indent="-342900">
              <a:buFont typeface="Arial" panose="020B0604020202020204" pitchFamily="34" charset="0"/>
              <a:buChar char="•"/>
            </a:pPr>
            <a:r>
              <a:rPr lang="en-US" sz="2400" dirty="0"/>
              <a:t>Integration with LMS usage logs</a:t>
            </a:r>
          </a:p>
          <a:p>
            <a:pPr marL="342900" indent="-342900">
              <a:buFont typeface="Arial" panose="020B0604020202020204" pitchFamily="34" charset="0"/>
              <a:buChar char="•"/>
            </a:pPr>
            <a:r>
              <a:rPr lang="en-US" sz="2400" dirty="0"/>
              <a:t>Application of advanced analytics and machine learning models</a:t>
            </a:r>
            <a:endParaRPr lang="en-IN" sz="24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02920"/>
          </a:xfrm>
          <a:prstGeom prst="rect">
            <a:avLst/>
          </a:prstGeom>
          <a:solidFill>
            <a:srgbClr val="1B3A8A"/>
          </a:solidFill>
          <a:ln/>
        </p:spPr>
      </p:sp>
      <p:sp>
        <p:nvSpPr>
          <p:cNvPr id="3" name="Text 1"/>
          <p:cNvSpPr/>
          <p:nvPr/>
        </p:nvSpPr>
        <p:spPr>
          <a:xfrm>
            <a:off x="6305973" y="45720"/>
            <a:ext cx="2746587" cy="411480"/>
          </a:xfrm>
          <a:prstGeom prst="rect">
            <a:avLst/>
          </a:prstGeom>
          <a:noFill/>
          <a:ln/>
        </p:spPr>
        <p:txBody>
          <a:bodyPr wrap="square" rtlCol="0" anchor="ctr"/>
          <a:lstStyle/>
          <a:p>
            <a:pPr marL="0" indent="0" algn="r">
              <a:buNone/>
            </a:pPr>
            <a:r>
              <a:rPr lang="en-US" sz="800" b="1">
                <a:solidFill>
                  <a:srgbClr val="4FC3F7"/>
                </a:solidFill>
                <a:latin typeface="Calibri" pitchFamily="34" charset="0"/>
                <a:ea typeface="Calibri" pitchFamily="34" charset="-122"/>
                <a:cs typeface="Calibri" pitchFamily="34" charset="-120"/>
              </a:rPr>
              <a:t>edunet</a:t>
            </a:r>
            <a:endParaRPr lang="en-US" sz="800"/>
          </a:p>
          <a:p>
            <a:pPr marL="0" indent="0" algn="r">
              <a:buNone/>
            </a:pPr>
            <a:r>
              <a:rPr lang="en-US" sz="800" b="1">
                <a:solidFill>
                  <a:srgbClr val="4FC3F7"/>
                </a:solidFill>
                <a:latin typeface="Calibri" pitchFamily="34" charset="0"/>
                <a:ea typeface="Calibri" pitchFamily="34" charset="-122"/>
                <a:cs typeface="Calibri" pitchFamily="34" charset="-120"/>
              </a:rPr>
              <a:t>foundation</a:t>
            </a:r>
            <a:endParaRPr lang="en-US" sz="800"/>
          </a:p>
        </p:txBody>
      </p:sp>
      <p:sp>
        <p:nvSpPr>
          <p:cNvPr id="4" name="Text 2"/>
          <p:cNvSpPr/>
          <p:nvPr/>
        </p:nvSpPr>
        <p:spPr>
          <a:xfrm>
            <a:off x="914400" y="1371600"/>
            <a:ext cx="7315200" cy="1463040"/>
          </a:xfrm>
          <a:prstGeom prst="rect">
            <a:avLst/>
          </a:prstGeom>
          <a:noFill/>
          <a:ln/>
        </p:spPr>
        <p:txBody>
          <a:bodyPr wrap="square" rtlCol="0" anchor="ctr"/>
          <a:lstStyle/>
          <a:p>
            <a:pPr marL="0" indent="0" algn="ctr">
              <a:buNone/>
            </a:pPr>
            <a:r>
              <a:rPr lang="en-US" sz="7200" b="1">
                <a:solidFill>
                  <a:srgbClr val="1B3A8A"/>
                </a:solidFill>
                <a:latin typeface="Calibri" pitchFamily="34" charset="0"/>
                <a:ea typeface="Calibri" pitchFamily="34" charset="-122"/>
                <a:cs typeface="Calibri" pitchFamily="34" charset="-120"/>
              </a:rPr>
              <a:t>Thank You</a:t>
            </a:r>
            <a:endParaRPr lang="en-US" sz="7200"/>
          </a:p>
        </p:txBody>
      </p:sp>
      <p:sp>
        <p:nvSpPr>
          <p:cNvPr id="5" name="Text 3"/>
          <p:cNvSpPr/>
          <p:nvPr/>
        </p:nvSpPr>
        <p:spPr>
          <a:xfrm>
            <a:off x="914400" y="3017520"/>
            <a:ext cx="7315200" cy="411480"/>
          </a:xfrm>
          <a:prstGeom prst="rect">
            <a:avLst/>
          </a:prstGeom>
          <a:noFill/>
          <a:ln/>
        </p:spPr>
        <p:txBody>
          <a:bodyPr wrap="square" rtlCol="0" anchor="ctr"/>
          <a:lstStyle/>
          <a:p>
            <a:pPr marL="0" indent="0" algn="ctr">
              <a:buNone/>
            </a:pPr>
            <a:r>
              <a:rPr lang="en-US" sz="1400" kern="0" spc="200">
                <a:solidFill>
                  <a:srgbClr val="1565C0"/>
                </a:solidFill>
                <a:latin typeface="Calibri" pitchFamily="34" charset="0"/>
                <a:ea typeface="Calibri" pitchFamily="34" charset="-122"/>
                <a:cs typeface="Calibri" pitchFamily="34" charset="-120"/>
              </a:rPr>
              <a:t>AICW Fellowship  |  Student Project Presentation 2026</a:t>
            </a:r>
            <a:endParaRPr lang="en-US" sz="1400"/>
          </a:p>
        </p:txBody>
      </p:sp>
      <p:sp>
        <p:nvSpPr>
          <p:cNvPr id="6" name="Text 4"/>
          <p:cNvSpPr/>
          <p:nvPr/>
        </p:nvSpPr>
        <p:spPr>
          <a:xfrm>
            <a:off x="914400" y="3566160"/>
            <a:ext cx="7315200" cy="320040"/>
          </a:xfrm>
          <a:prstGeom prst="rect">
            <a:avLst/>
          </a:prstGeom>
          <a:noFill/>
          <a:ln/>
        </p:spPr>
        <p:txBody>
          <a:bodyPr wrap="square" lIns="91440" tIns="45720" rIns="91440" bIns="45720" rtlCol="0" anchor="ctr"/>
          <a:lstStyle/>
          <a:p>
            <a:pPr marL="0" indent="0" algn="ctr">
              <a:buNone/>
            </a:pPr>
            <a:r>
              <a:rPr lang="en-US" sz="1100">
                <a:solidFill>
                  <a:srgbClr val="607D8B"/>
                </a:solidFill>
                <a:latin typeface="Calibri"/>
                <a:ea typeface="Calibri"/>
                <a:cs typeface="Calibri"/>
              </a:rPr>
              <a:t>  LinkedIn  |   Edunet Foundation</a:t>
            </a:r>
            <a:endParaRPr lang="en-US" sz="1100"/>
          </a:p>
        </p:txBody>
      </p:sp>
      <p:sp>
        <p:nvSpPr>
          <p:cNvPr id="7" name="Shape 5"/>
          <p:cNvSpPr/>
          <p:nvPr/>
        </p:nvSpPr>
        <p:spPr>
          <a:xfrm>
            <a:off x="0" y="4983480"/>
            <a:ext cx="9144000" cy="160020"/>
          </a:xfrm>
          <a:prstGeom prst="rect">
            <a:avLst/>
          </a:prstGeom>
          <a:solidFill>
            <a:srgbClr val="1B3A8A"/>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3271</TotalTime>
  <Words>1207</Words>
  <Application>Microsoft Office PowerPoint</Application>
  <PresentationFormat>On-screen Show (16:9)</PresentationFormat>
  <Paragraphs>204</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AICW Student Project Presentation Template 2026</dc:title>
  <dc:subject>PptxGenJS Presentation</dc:subject>
  <dc:creator>PptxGenJS</dc:creator>
  <cp:lastModifiedBy>preeti singh</cp:lastModifiedBy>
  <cp:revision>14</cp:revision>
  <dcterms:created xsi:type="dcterms:W3CDTF">2026-02-18T09:17:23Z</dcterms:created>
  <dcterms:modified xsi:type="dcterms:W3CDTF">2026-04-17T08:49:05Z</dcterms:modified>
</cp:coreProperties>
</file>