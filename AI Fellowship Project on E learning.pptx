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7" r:id="rId6"/>
    <p:sldId id="268" r:id="rId7"/>
    <p:sldId id="269" r:id="rId8"/>
    <p:sldId id="260" r:id="rId9"/>
    <p:sldId id="261" r:id="rId10"/>
    <p:sldId id="262" r:id="rId11"/>
    <p:sldId id="270" r:id="rId12"/>
    <p:sldId id="277" r:id="rId13"/>
    <p:sldId id="275" r:id="rId14"/>
    <p:sldId id="276" r:id="rId15"/>
    <p:sldId id="271" r:id="rId16"/>
    <p:sldId id="272" r:id="rId17"/>
    <p:sldId id="278" r:id="rId18"/>
    <p:sldId id="273" r:id="rId19"/>
    <p:sldId id="274" r:id="rId20"/>
    <p:sldId id="263" r:id="rId21"/>
    <p:sldId id="264" r:id="rId22"/>
    <p:sldId id="265" r:id="rId23"/>
    <p:sldId id="266"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2" d="100"/>
          <a:sy n="72" d="100"/>
        </p:scale>
        <p:origin x="1048" y="1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maheshwari R" userId="S::uma@edunetfoundation.org::5013a120-0240-46bd-a5d8-a54ab11ae5fe" providerId="AD" clId="Web-{34CBDC38-0F0C-EF0A-5169-FC033B4B9FA1}"/>
    <pc:docChg chg="modSld">
      <pc:chgData name="Umamaheshwari R" userId="S::uma@edunetfoundation.org::5013a120-0240-46bd-a5d8-a54ab11ae5fe" providerId="AD" clId="Web-{34CBDC38-0F0C-EF0A-5169-FC033B4B9FA1}" dt="2026-02-19T06:35:48.913" v="2" actId="20577"/>
      <pc:docMkLst>
        <pc:docMk/>
      </pc:docMkLst>
      <pc:sldChg chg="modSp">
        <pc:chgData name="Umamaheshwari R" userId="S::uma@edunetfoundation.org::5013a120-0240-46bd-a5d8-a54ab11ae5fe" providerId="AD" clId="Web-{34CBDC38-0F0C-EF0A-5169-FC033B4B9FA1}" dt="2026-02-19T06:35:48.913" v="2" actId="20577"/>
        <pc:sldMkLst>
          <pc:docMk/>
          <pc:sldMk cId="0" sldId="266"/>
        </pc:sldMkLst>
        <pc:spChg chg="mod">
          <ac:chgData name="Umamaheshwari R" userId="S::uma@edunetfoundation.org::5013a120-0240-46bd-a5d8-a54ab11ae5fe" providerId="AD" clId="Web-{34CBDC38-0F0C-EF0A-5169-FC033B4B9FA1}" dt="2026-02-19T06:35:48.913" v="2" actId="20577"/>
          <ac:spMkLst>
            <pc:docMk/>
            <pc:sldMk cId="0" sldId="266"/>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76571-BF7B-D978-BFFC-C942587C0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6ECD0-04EF-1590-2832-CC2792E37B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B8C6F-192E-BD0C-87A4-4F1DF97BA8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20EF04-CECC-C013-C6F0-A6776FA6D80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34383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9305-9EE5-BB2D-C859-C32F93136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7190E-2AFD-9C40-C398-C33FEEF68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E58CF4-FD16-65C0-B667-6A3AF4294A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05F1B2-8B2A-8954-75E7-2F1D3364D1B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59446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10A03-66F7-942A-EE30-CA4E62A092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30822-75E4-EF58-6E86-E916ECAF3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C889F-F148-9D4C-703F-F487B293C6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91E5D1-C7DA-F138-F967-B3A671731DF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267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CB987-5D57-AB68-EED0-43F90492D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86557-8FC7-DB4A-CC9B-DC92F569D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79147-F64F-29F7-C2F9-9A21D45726C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0B376F-306F-9938-2635-755B4EE403C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0331120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F00CF-ADBB-0C2E-3BE3-FE8799E28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3D180-DF73-4A02-3E77-E4A2B845B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102AEB-E23B-0620-63A7-2F7C15CDD3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4AAAC1-D9D3-3149-38CD-D2D70214037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62651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5AA95-189E-FB9D-A848-6070C3963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B2C3C-8309-EF8A-2E9A-E1A0EFB49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93000-4003-7E98-12D9-9512372834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80C1041-85BB-2428-47B5-B068C95B4F5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88581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5D77-65E1-254D-B62C-900CE776F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A562C4-7472-041A-4870-35791C028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3528A-6BF1-3AE5-BC2D-9E69767A38F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EB70D7-603B-389B-2E64-A585B655AD09}"/>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585392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A2266-D25C-EADB-BE92-5613E3305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2AC65-5372-6FDD-294C-EA74368E85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9F7571-562A-FB35-FD11-04DE139D47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E5DD43-59D9-FFF4-9B07-720F832073D9}"/>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398503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7F76C-9E7F-61DA-A18F-E842468F9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D2A7E-F8D4-4932-8FBB-7814EC2DD1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E1D6B-B057-F166-5F5D-A725D9FD90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21CF38-F584-E35E-EE8D-FB8C7EE181B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84685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099A-D412-E9D1-893E-AD50DC85A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36D62-4238-1838-1C84-294D5651B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117C1A-DDC0-C0C4-0337-E68A518E0A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AE1881-4275-8A1F-B20A-4E5F0934241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544635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B5313-9C51-B309-673B-1DDB97564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FE725-9BA1-9BA7-C437-9CF5EAB52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C10295-174D-E42A-BD49-4AF6D9288C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403C7D-DDCD-922E-0072-6FE3C56CCC9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98446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4E60A-71D6-A150-5982-0B6C4D42A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9B927-7571-B244-477C-23826DE306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DCA50-329A-7BC4-7E74-A36C5E295F7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EC7CB6-3432-D500-5AB1-9E198F3698B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654282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a:solidFill>
                  <a:srgbClr val="607D8B"/>
                </a:solidFill>
                <a:latin typeface="Calibri" pitchFamily="34" charset="0"/>
                <a:ea typeface="Calibri" pitchFamily="34" charset="-122"/>
                <a:cs typeface="Calibri" pitchFamily="34" charset="-120"/>
              </a:rPr>
              <a:t> LinkedIn  </a:t>
            </a:r>
            <a:r>
              <a:rPr lang="en-US" sz="950" err="1">
                <a:solidFill>
                  <a:srgbClr val="607D8B"/>
                </a:solidFill>
                <a:latin typeface="Calibri" pitchFamily="34" charset="0"/>
                <a:ea typeface="Calibri" pitchFamily="34" charset="-122"/>
                <a:cs typeface="Calibri" pitchFamily="34" charset="-120"/>
              </a:rPr>
              <a:t>Edunet</a:t>
            </a:r>
            <a:r>
              <a:rPr lang="en-US" sz="950">
                <a:solidFill>
                  <a:srgbClr val="607D8B"/>
                </a:solidFill>
                <a:latin typeface="Calibri" pitchFamily="34" charset="0"/>
                <a:ea typeface="Calibri" pitchFamily="34" charset="-122"/>
                <a:cs typeface="Calibri" pitchFamily="34" charset="-120"/>
              </a:rPr>
              <a:t>   </a:t>
            </a:r>
            <a:endParaRPr lang="en-US" sz="950"/>
          </a:p>
        </p:txBody>
      </p:sp>
      <p:sp>
        <p:nvSpPr>
          <p:cNvPr id="5" name="Shape 3"/>
          <p:cNvSpPr/>
          <p:nvPr/>
        </p:nvSpPr>
        <p:spPr>
          <a:xfrm>
            <a:off x="5943600" y="0"/>
            <a:ext cx="3200400" cy="5143500"/>
          </a:xfrm>
          <a:prstGeom prst="rect">
            <a:avLst/>
          </a:prstGeom>
          <a:solidFill>
            <a:srgbClr val="1B3A8A"/>
          </a:solidFill>
          <a:ln/>
        </p:spPr>
      </p:sp>
      <p:sp>
        <p:nvSpPr>
          <p:cNvPr id="6" name="Shape 4"/>
          <p:cNvSpPr/>
          <p:nvPr/>
        </p:nvSpPr>
        <p:spPr>
          <a:xfrm>
            <a:off x="5486400" y="0"/>
            <a:ext cx="502920" cy="5143500"/>
          </a:xfrm>
          <a:prstGeom prst="rect">
            <a:avLst/>
          </a:prstGeom>
          <a:solidFill>
            <a:srgbClr val="1565C0"/>
          </a:solidFill>
          <a:ln/>
        </p:spPr>
      </p:sp>
      <p:sp>
        <p:nvSpPr>
          <p:cNvPr id="9" name="Shape 7"/>
          <p:cNvSpPr/>
          <p:nvPr/>
        </p:nvSpPr>
        <p:spPr>
          <a:xfrm>
            <a:off x="6126480" y="3108960"/>
            <a:ext cx="2834640" cy="109728"/>
          </a:xfrm>
          <a:prstGeom prst="rect">
            <a:avLst/>
          </a:prstGeom>
          <a:solidFill>
            <a:srgbClr val="4FC3F7"/>
          </a:solidFill>
          <a:ln/>
        </p:spPr>
      </p:sp>
      <p:sp>
        <p:nvSpPr>
          <p:cNvPr id="10" name="Shape 8"/>
          <p:cNvSpPr/>
          <p:nvPr/>
        </p:nvSpPr>
        <p:spPr>
          <a:xfrm>
            <a:off x="6400800" y="3291840"/>
            <a:ext cx="2468880" cy="109728"/>
          </a:xfrm>
          <a:prstGeom prst="rect">
            <a:avLst/>
          </a:prstGeom>
          <a:solidFill>
            <a:srgbClr val="4FC3F7"/>
          </a:solidFill>
          <a:ln/>
        </p:spPr>
      </p:sp>
      <p:sp>
        <p:nvSpPr>
          <p:cNvPr id="11" name="Shape 9"/>
          <p:cNvSpPr/>
          <p:nvPr/>
        </p:nvSpPr>
        <p:spPr>
          <a:xfrm>
            <a:off x="6675120" y="3474720"/>
            <a:ext cx="2103120" cy="109728"/>
          </a:xfrm>
          <a:prstGeom prst="rect">
            <a:avLst/>
          </a:prstGeom>
          <a:solidFill>
            <a:srgbClr val="4FC3F7"/>
          </a:solidFill>
          <a:ln/>
        </p:spPr>
      </p:sp>
      <p:sp>
        <p:nvSpPr>
          <p:cNvPr id="12" name="Text 10"/>
          <p:cNvSpPr/>
          <p:nvPr/>
        </p:nvSpPr>
        <p:spPr>
          <a:xfrm>
            <a:off x="320040" y="960120"/>
            <a:ext cx="5029200" cy="1463040"/>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Analysis of E‑Learning System Adoption Using Technology Acceptance Model (TAM)</a:t>
            </a:r>
          </a:p>
          <a:p>
            <a:pPr marL="0" indent="0">
              <a:buNone/>
            </a:pPr>
            <a:r>
              <a:rPr lang="en-US" sz="1600" dirty="0"/>
              <a:t>A Data‑Driven Study Based on Student Survey Responses</a:t>
            </a:r>
          </a:p>
        </p:txBody>
      </p:sp>
      <p:sp>
        <p:nvSpPr>
          <p:cNvPr id="13" name="Shape 11"/>
          <p:cNvSpPr/>
          <p:nvPr/>
        </p:nvSpPr>
        <p:spPr>
          <a:xfrm>
            <a:off x="320040" y="2578608"/>
            <a:ext cx="3840480" cy="384048"/>
          </a:xfrm>
          <a:prstGeom prst="rect">
            <a:avLst/>
          </a:prstGeom>
          <a:solidFill>
            <a:srgbClr val="1565C0"/>
          </a:solidFill>
          <a:ln/>
        </p:spPr>
      </p:sp>
      <p:sp>
        <p:nvSpPr>
          <p:cNvPr id="14" name="Shape 12"/>
          <p:cNvSpPr/>
          <p:nvPr/>
        </p:nvSpPr>
        <p:spPr>
          <a:xfrm>
            <a:off x="4160520" y="2578608"/>
            <a:ext cx="274320" cy="384048"/>
          </a:xfrm>
          <a:prstGeom prst="rect">
            <a:avLst/>
          </a:prstGeom>
          <a:solidFill>
            <a:srgbClr val="1B3A8A"/>
          </a:solidFill>
          <a:ln/>
        </p:spPr>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Name</a:t>
            </a:r>
            <a:endParaRPr lang="en-US" sz="90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dirty="0" err="1">
                <a:solidFill>
                  <a:srgbClr val="1B3A8A"/>
                </a:solidFill>
                <a:latin typeface="Calibri" pitchFamily="34" charset="0"/>
                <a:ea typeface="Calibri" pitchFamily="34" charset="-122"/>
                <a:cs typeface="Calibri" pitchFamily="34" charset="-120"/>
              </a:rPr>
              <a:t>Dr.Preeti</a:t>
            </a:r>
            <a:r>
              <a:rPr lang="en-US" sz="1100" b="1" dirty="0">
                <a:solidFill>
                  <a:srgbClr val="1B3A8A"/>
                </a:solidFill>
                <a:latin typeface="Calibri" pitchFamily="34" charset="0"/>
                <a:ea typeface="Calibri" pitchFamily="34" charset="-122"/>
                <a:cs typeface="Calibri" pitchFamily="34" charset="-120"/>
              </a:rPr>
              <a:t> Singh</a:t>
            </a:r>
            <a:endParaRPr lang="en-US" sz="1100" dirty="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Email</a:t>
            </a:r>
            <a:endParaRPr lang="en-US" sz="900"/>
          </a:p>
        </p:txBody>
      </p:sp>
      <p:sp>
        <p:nvSpPr>
          <p:cNvPr id="23" name="Text 21"/>
          <p:cNvSpPr/>
          <p:nvPr/>
        </p:nvSpPr>
        <p:spPr>
          <a:xfrm>
            <a:off x="32918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preeti.singh@itmgoi.in</a:t>
            </a:r>
            <a:endParaRPr lang="en-US" sz="1100" dirty="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82333" y="4478866"/>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Mr. Adarsh</a:t>
            </a:r>
            <a:endParaRPr lang="en-US" sz="1100" dirty="0"/>
          </a:p>
        </p:txBody>
      </p:sp>
      <p:sp>
        <p:nvSpPr>
          <p:cNvPr id="28" name="Shape 26"/>
          <p:cNvSpPr/>
          <p:nvPr/>
        </p:nvSpPr>
        <p:spPr>
          <a:xfrm>
            <a:off x="0" y="4983480"/>
            <a:ext cx="9144000" cy="160020"/>
          </a:xfrm>
          <a:prstGeom prst="rect">
            <a:avLst/>
          </a:prstGeom>
          <a:solidFill>
            <a:srgbClr val="1B3A8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8" name="TextBox 7">
            <a:extLst>
              <a:ext uri="{FF2B5EF4-FFF2-40B4-BE49-F238E27FC236}">
                <a16:creationId xmlns:a16="http://schemas.microsoft.com/office/drawing/2014/main" id="{A78130BE-1828-6286-F2C9-1942C19F80ED}"/>
              </a:ext>
            </a:extLst>
          </p:cNvPr>
          <p:cNvSpPr txBox="1"/>
          <p:nvPr/>
        </p:nvSpPr>
        <p:spPr>
          <a:xfrm>
            <a:off x="320040" y="1179576"/>
            <a:ext cx="8318634" cy="3416320"/>
          </a:xfrm>
          <a:prstGeom prst="rect">
            <a:avLst/>
          </a:prstGeom>
          <a:noFill/>
        </p:spPr>
        <p:txBody>
          <a:bodyPr wrap="square">
            <a:spAutoFit/>
          </a:bodyPr>
          <a:lstStyle/>
          <a:p>
            <a:pPr algn="just"/>
            <a:r>
              <a:rPr lang="en-US" sz="2400" dirty="0"/>
              <a:t>This project analyzes students’ adoption of e‑learning systems using the Technology Acceptance Model (TAM). Data was collected through a structured questionnaire covering beliefs, perceived usefulness, perceived ease of use, self‑efficacy, and behavioral intention. The responses were analyzed using Power BI dashboards and DAX measures to generate meaningful insights. The findings indicate a strong positive perception toward e‑learning platforms, supporting the relevance of TAM constructs in understanding technology adoption in education</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C95E56E0-96D0-3DB0-57E8-5D5BC4E5F07F}"/>
              </a:ext>
            </a:extLst>
          </p:cNvPr>
          <p:cNvSpPr txBox="1"/>
          <p:nvPr/>
        </p:nvSpPr>
        <p:spPr>
          <a:xfrm>
            <a:off x="320039" y="1420596"/>
            <a:ext cx="8571297" cy="2677656"/>
          </a:xfrm>
          <a:prstGeom prst="rect">
            <a:avLst/>
          </a:prstGeom>
          <a:noFill/>
        </p:spPr>
        <p:txBody>
          <a:bodyPr wrap="square">
            <a:spAutoFit/>
          </a:bodyPr>
          <a:lstStyle/>
          <a:p>
            <a:pPr marL="342900" indent="-342900">
              <a:buFont typeface="Arial" panose="020B0604020202020204" pitchFamily="34" charset="0"/>
              <a:buChar char="•"/>
            </a:pPr>
            <a:r>
              <a:rPr lang="en-US" sz="2400" dirty="0"/>
              <a:t>Rapid adoption of e‑learning platforms lacks systematic evaluation of user acceptance</a:t>
            </a:r>
          </a:p>
          <a:p>
            <a:pPr marL="342900" indent="-342900">
              <a:buFont typeface="Arial" panose="020B0604020202020204" pitchFamily="34" charset="0"/>
              <a:buChar char="•"/>
            </a:pPr>
            <a:r>
              <a:rPr lang="en-US" sz="2400" dirty="0"/>
              <a:t>Institutions need data‑driven insights into learner perceptions</a:t>
            </a:r>
          </a:p>
          <a:p>
            <a:pPr marL="342900" indent="-342900">
              <a:buFont typeface="Arial" panose="020B0604020202020204" pitchFamily="34" charset="0"/>
              <a:buChar char="•"/>
            </a:pPr>
            <a:r>
              <a:rPr lang="en-US" sz="2400" dirty="0"/>
              <a:t>Traditional analysis methods are time‑consuming and less interactive</a:t>
            </a:r>
          </a:p>
          <a:p>
            <a:pPr marL="342900" indent="-342900">
              <a:buFont typeface="Arial" panose="020B0604020202020204" pitchFamily="34" charset="0"/>
              <a:buChar char="•"/>
            </a:pPr>
            <a:r>
              <a:rPr lang="en-US" sz="2400" dirty="0"/>
              <a:t>There is a need for visual, analytical dashboards to support academic decision‑making</a:t>
            </a:r>
            <a:endParaRPr lang="en-IN"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5FCCD7C-0011-B288-766E-935BD765F8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EF2C6E-B9AC-5C19-40A5-7EA5D99B2B88}"/>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D2096F0D-8CE7-2754-5979-CCA1D00EB3E7}"/>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3FEA1306-F665-51E5-3F17-B112736E91A6}"/>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Objective</a:t>
            </a:r>
            <a:endParaRPr lang="en-US" sz="2800" dirty="0"/>
          </a:p>
        </p:txBody>
      </p:sp>
      <p:sp>
        <p:nvSpPr>
          <p:cNvPr id="5" name="Shape 3">
            <a:extLst>
              <a:ext uri="{FF2B5EF4-FFF2-40B4-BE49-F238E27FC236}">
                <a16:creationId xmlns:a16="http://schemas.microsoft.com/office/drawing/2014/main" id="{C624F1D4-4565-D305-AE6E-263E0F3BF572}"/>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C38E9C34-8056-F990-E337-A9F24A74FEB8}"/>
              </a:ext>
            </a:extLst>
          </p:cNvPr>
          <p:cNvSpPr txBox="1"/>
          <p:nvPr/>
        </p:nvSpPr>
        <p:spPr>
          <a:xfrm>
            <a:off x="320039" y="1420596"/>
            <a:ext cx="8571297" cy="3108543"/>
          </a:xfrm>
          <a:prstGeom prst="rect">
            <a:avLst/>
          </a:prstGeom>
          <a:noFill/>
        </p:spPr>
        <p:txBody>
          <a:bodyPr wrap="square">
            <a:spAutoFit/>
          </a:bodyPr>
          <a:lstStyle/>
          <a:p>
            <a:pPr marL="342900" indent="-342900">
              <a:buFont typeface="Arial" panose="020B0604020202020204" pitchFamily="34" charset="0"/>
              <a:buChar char="•"/>
            </a:pPr>
            <a:r>
              <a:rPr lang="en-US" sz="2800" dirty="0"/>
              <a:t>To analyze student perception toward e‑learning systems</a:t>
            </a:r>
          </a:p>
          <a:p>
            <a:pPr marL="342900" indent="-342900">
              <a:buFont typeface="Arial" panose="020B0604020202020204" pitchFamily="34" charset="0"/>
              <a:buChar char="•"/>
            </a:pPr>
            <a:r>
              <a:rPr lang="en-US" sz="2800" dirty="0"/>
              <a:t>To evaluate TAM constructs: BEL, PUE, PEE, PSE, and BIE</a:t>
            </a:r>
          </a:p>
          <a:p>
            <a:pPr marL="342900" indent="-342900">
              <a:buFont typeface="Arial" panose="020B0604020202020204" pitchFamily="34" charset="0"/>
              <a:buChar char="•"/>
            </a:pPr>
            <a:r>
              <a:rPr lang="en-US" sz="2800" dirty="0"/>
              <a:t>To visualize adoption patterns using interactive dashboards</a:t>
            </a:r>
          </a:p>
          <a:p>
            <a:pPr marL="342900" indent="-342900">
              <a:buFont typeface="Arial" panose="020B0604020202020204" pitchFamily="34" charset="0"/>
              <a:buChar char="•"/>
            </a:pPr>
            <a:r>
              <a:rPr lang="en-US" sz="2800" dirty="0"/>
              <a:t>To identify relationships between perceived usefulness, ease of use, and intention to use</a:t>
            </a:r>
            <a:endParaRPr lang="en-IN" sz="2800" dirty="0"/>
          </a:p>
        </p:txBody>
      </p:sp>
    </p:spTree>
    <p:extLst>
      <p:ext uri="{BB962C8B-B14F-4D97-AF65-F5344CB8AC3E}">
        <p14:creationId xmlns:p14="http://schemas.microsoft.com/office/powerpoint/2010/main" val="3870937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D15DEF5-7E30-0DEC-804A-62D7F95D5F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F552AB6-9231-5213-A4D7-3557432EBEEB}"/>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3E616058-8D96-1577-269F-EECC3C1E5A20}"/>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95F9A3CF-69D2-28BB-EF1C-9246E71248FE}"/>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Dataset Description</a:t>
            </a:r>
            <a:endParaRPr lang="en-US" sz="2800" dirty="0"/>
          </a:p>
        </p:txBody>
      </p:sp>
      <p:sp>
        <p:nvSpPr>
          <p:cNvPr id="5" name="Shape 3">
            <a:extLst>
              <a:ext uri="{FF2B5EF4-FFF2-40B4-BE49-F238E27FC236}">
                <a16:creationId xmlns:a16="http://schemas.microsoft.com/office/drawing/2014/main" id="{52354D23-0D18-0B21-26C3-ABA0F5E32EDA}"/>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84C8F2EE-D1B3-84A4-80F2-C5ACC1B97B87}"/>
              </a:ext>
            </a:extLst>
          </p:cNvPr>
          <p:cNvSpPr txBox="1"/>
          <p:nvPr/>
        </p:nvSpPr>
        <p:spPr>
          <a:xfrm>
            <a:off x="320039" y="1420596"/>
            <a:ext cx="8571297" cy="3046988"/>
          </a:xfrm>
          <a:prstGeom prst="rect">
            <a:avLst/>
          </a:prstGeom>
          <a:noFill/>
        </p:spPr>
        <p:txBody>
          <a:bodyPr wrap="square">
            <a:spAutoFit/>
          </a:bodyPr>
          <a:lstStyle/>
          <a:p>
            <a:pPr marL="342900" indent="-342900">
              <a:buFont typeface="Arial" panose="020B0604020202020204" pitchFamily="34" charset="0"/>
              <a:buChar char="•"/>
            </a:pPr>
            <a:r>
              <a:rPr lang="en-US" sz="2400" dirty="0"/>
              <a:t>Source: Google Form Survey</a:t>
            </a:r>
          </a:p>
          <a:p>
            <a:pPr marL="342900" indent="-342900">
              <a:buFont typeface="Arial" panose="020B0604020202020204" pitchFamily="34" charset="0"/>
              <a:buChar char="•"/>
            </a:pPr>
            <a:r>
              <a:rPr lang="en-US" sz="2400" dirty="0"/>
              <a:t>Respondents: Students from various courses and academic levels</a:t>
            </a:r>
          </a:p>
          <a:p>
            <a:pPr marL="342900" indent="-342900">
              <a:buFont typeface="Arial" panose="020B0604020202020204" pitchFamily="34" charset="0"/>
              <a:buChar char="•"/>
            </a:pPr>
            <a:r>
              <a:rPr lang="en-US" sz="2400" dirty="0"/>
              <a:t>Scale: 5‑point Likert Scale (1 = Strongly Disagree, 5 = Strongly Agree)</a:t>
            </a:r>
          </a:p>
          <a:p>
            <a:pPr marL="342900" indent="-342900">
              <a:buFont typeface="Arial" panose="020B0604020202020204" pitchFamily="34" charset="0"/>
              <a:buChar char="•"/>
            </a:pPr>
            <a:r>
              <a:rPr lang="en-US" sz="2400" dirty="0"/>
              <a:t>Major </a:t>
            </a:r>
            <a:r>
              <a:rPr lang="en-US" sz="2400" dirty="0" err="1"/>
              <a:t>Sections:Demographics</a:t>
            </a:r>
            <a:r>
              <a:rPr lang="en-US" sz="2400" dirty="0"/>
              <a:t> (Age, Gender, Course) BEL (Benefits of E‑learning)PUE (Perceived Usefulness) PEE (Perceived Ease of Use)PSE (Self‑Efficacy) BIE (Behavioral Intention)</a:t>
            </a:r>
            <a:endParaRPr lang="en-IN" sz="2400" dirty="0"/>
          </a:p>
        </p:txBody>
      </p:sp>
    </p:spTree>
    <p:extLst>
      <p:ext uri="{BB962C8B-B14F-4D97-AF65-F5344CB8AC3E}">
        <p14:creationId xmlns:p14="http://schemas.microsoft.com/office/powerpoint/2010/main" val="921462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EF2E13-4A70-4640-F7A9-F0711A13499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296B9F-C46E-8B45-3734-0D6689548AF6}"/>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4DD1FC95-15AC-ADF1-291A-7E10578E2D7A}"/>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5E6DBD7D-320E-D775-C0C6-3DFCD298D17C}"/>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Methodology</a:t>
            </a:r>
            <a:endParaRPr lang="en-US" sz="2800" dirty="0"/>
          </a:p>
        </p:txBody>
      </p:sp>
      <p:sp>
        <p:nvSpPr>
          <p:cNvPr id="5" name="Shape 3">
            <a:extLst>
              <a:ext uri="{FF2B5EF4-FFF2-40B4-BE49-F238E27FC236}">
                <a16:creationId xmlns:a16="http://schemas.microsoft.com/office/drawing/2014/main" id="{4F0E0061-B7C3-C615-59E4-184C5DD0B8CA}"/>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A5080A2A-A3D3-373F-3C32-A86C9EFB33AC}"/>
              </a:ext>
            </a:extLst>
          </p:cNvPr>
          <p:cNvSpPr txBox="1"/>
          <p:nvPr/>
        </p:nvSpPr>
        <p:spPr>
          <a:xfrm>
            <a:off x="320039" y="1420596"/>
            <a:ext cx="8571297" cy="2677656"/>
          </a:xfrm>
          <a:prstGeom prst="rect">
            <a:avLst/>
          </a:prstGeom>
          <a:noFill/>
        </p:spPr>
        <p:txBody>
          <a:bodyPr wrap="square">
            <a:spAutoFit/>
          </a:bodyPr>
          <a:lstStyle/>
          <a:p>
            <a:pPr marL="342900" indent="-342900">
              <a:buFont typeface="Arial" panose="020B0604020202020204" pitchFamily="34" charset="0"/>
              <a:buChar char="•"/>
            </a:pPr>
            <a:r>
              <a:rPr lang="en-US" sz="2800" dirty="0"/>
              <a:t>Importing data into Power BI from Excel</a:t>
            </a:r>
          </a:p>
          <a:p>
            <a:pPr marL="342900" indent="-342900">
              <a:buFont typeface="Arial" panose="020B0604020202020204" pitchFamily="34" charset="0"/>
              <a:buChar char="•"/>
            </a:pPr>
            <a:r>
              <a:rPr lang="en-US" sz="2800" dirty="0"/>
              <a:t>Data cleaning and preparation in Power BI</a:t>
            </a:r>
          </a:p>
          <a:p>
            <a:pPr marL="342900" indent="-342900">
              <a:buFont typeface="Arial" panose="020B0604020202020204" pitchFamily="34" charset="0"/>
              <a:buChar char="•"/>
            </a:pPr>
            <a:r>
              <a:rPr lang="en-US" sz="2800" dirty="0"/>
              <a:t>Creation of composite scores using DAX</a:t>
            </a:r>
          </a:p>
          <a:p>
            <a:pPr marL="342900" indent="-342900">
              <a:buFont typeface="Arial" panose="020B0604020202020204" pitchFamily="34" charset="0"/>
              <a:buChar char="•"/>
            </a:pPr>
            <a:r>
              <a:rPr lang="en-US" sz="2800" dirty="0"/>
              <a:t>Visualization using bar charts, scatter plots, and demographic distributions</a:t>
            </a:r>
          </a:p>
          <a:p>
            <a:pPr marL="342900" indent="-342900">
              <a:buFont typeface="Arial" panose="020B0604020202020204" pitchFamily="34" charset="0"/>
              <a:buChar char="•"/>
            </a:pPr>
            <a:r>
              <a:rPr lang="en-US" sz="2800" dirty="0"/>
              <a:t>Correlation analysis between TAM constructs</a:t>
            </a:r>
            <a:endParaRPr lang="en-IN" sz="2800" dirty="0"/>
          </a:p>
        </p:txBody>
      </p:sp>
    </p:spTree>
    <p:extLst>
      <p:ext uri="{BB962C8B-B14F-4D97-AF65-F5344CB8AC3E}">
        <p14:creationId xmlns:p14="http://schemas.microsoft.com/office/powerpoint/2010/main" val="3952856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Proposed Solution</a:t>
            </a:r>
            <a:endParaRPr lang="en-US" sz="2200" dirty="0"/>
          </a:p>
        </p:txBody>
      </p:sp>
      <p:sp>
        <p:nvSpPr>
          <p:cNvPr id="5" name="Shape 3"/>
          <p:cNvSpPr/>
          <p:nvPr/>
        </p:nvSpPr>
        <p:spPr>
          <a:xfrm>
            <a:off x="0" y="4983480"/>
            <a:ext cx="9144000" cy="160020"/>
          </a:xfrm>
          <a:prstGeom prst="rect">
            <a:avLst/>
          </a:prstGeom>
          <a:solidFill>
            <a:srgbClr val="1B3A8A"/>
          </a:solidFill>
          <a:ln/>
        </p:spPr>
      </p:sp>
      <p:sp>
        <p:nvSpPr>
          <p:cNvPr id="14" name="Text 12"/>
          <p:cNvSpPr/>
          <p:nvPr/>
        </p:nvSpPr>
        <p:spPr>
          <a:xfrm>
            <a:off x="457200" y="1234440"/>
            <a:ext cx="8092440" cy="3474720"/>
          </a:xfrm>
          <a:prstGeom prst="rect">
            <a:avLst/>
          </a:prstGeom>
          <a:noFill/>
          <a:ln/>
        </p:spPr>
        <p:txBody>
          <a:bodyPr wrap="square" rtlCol="0" anchor="t"/>
          <a:lstStyle/>
          <a:p>
            <a:pPr marL="342900" indent="-342900">
              <a:buFont typeface="Arial" panose="020B0604020202020204" pitchFamily="34" charset="0"/>
              <a:buChar char="•"/>
            </a:pPr>
            <a:r>
              <a:rPr lang="en-US" sz="2000" dirty="0">
                <a:solidFill>
                  <a:srgbClr val="1A1A2E"/>
                </a:solidFill>
                <a:latin typeface="Calibri" pitchFamily="34" charset="0"/>
                <a:ea typeface="Calibri" pitchFamily="34" charset="-122"/>
                <a:cs typeface="Calibri" pitchFamily="34" charset="-120"/>
              </a:rPr>
              <a:t>Develop a data‑driven analytical dashboard to evaluate e‑learning adoption using the Technology Acceptance Model (TAM)Collect student responses through a structured survey covering BEL, PUE, PEE, PSE, and BIE</a:t>
            </a:r>
          </a:p>
          <a:p>
            <a:pPr marL="342900" indent="-342900">
              <a:buFont typeface="Arial" panose="020B0604020202020204" pitchFamily="34" charset="0"/>
              <a:buChar char="•"/>
            </a:pPr>
            <a:r>
              <a:rPr lang="en-US" sz="2000" dirty="0">
                <a:solidFill>
                  <a:srgbClr val="1A1A2E"/>
                </a:solidFill>
                <a:latin typeface="Calibri" pitchFamily="34" charset="0"/>
                <a:ea typeface="Calibri" pitchFamily="34" charset="-122"/>
                <a:cs typeface="Calibri" pitchFamily="34" charset="-120"/>
              </a:rPr>
              <a:t>Use Excel and Power BI to clean, process, and analyze survey data</a:t>
            </a:r>
          </a:p>
          <a:p>
            <a:pPr marL="342900" indent="-342900">
              <a:buFont typeface="Arial" panose="020B0604020202020204" pitchFamily="34" charset="0"/>
              <a:buChar char="•"/>
            </a:pPr>
            <a:r>
              <a:rPr lang="en-US" sz="2000" dirty="0">
                <a:solidFill>
                  <a:srgbClr val="1A1A2E"/>
                </a:solidFill>
                <a:latin typeface="Calibri" pitchFamily="34" charset="0"/>
                <a:ea typeface="Calibri" pitchFamily="34" charset="-122"/>
                <a:cs typeface="Calibri" pitchFamily="34" charset="-120"/>
              </a:rPr>
              <a:t>Apply DAX measures to compute mean scores and relationships between constructs</a:t>
            </a:r>
          </a:p>
          <a:p>
            <a:pPr marL="342900" indent="-342900">
              <a:buFont typeface="Arial" panose="020B0604020202020204" pitchFamily="34" charset="0"/>
              <a:buChar char="•"/>
            </a:pPr>
            <a:r>
              <a:rPr lang="en-US" sz="2000" dirty="0">
                <a:solidFill>
                  <a:srgbClr val="1A1A2E"/>
                </a:solidFill>
                <a:latin typeface="Calibri" pitchFamily="34" charset="0"/>
                <a:ea typeface="Calibri" pitchFamily="34" charset="-122"/>
                <a:cs typeface="Calibri" pitchFamily="34" charset="-120"/>
              </a:rPr>
              <a:t>Visualize insights using interactive charts, bar graphs, and scatter plots</a:t>
            </a:r>
          </a:p>
          <a:p>
            <a:pPr marL="342900" indent="-342900">
              <a:buFont typeface="Arial" panose="020B0604020202020204" pitchFamily="34" charset="0"/>
              <a:buChar char="•"/>
            </a:pPr>
            <a:r>
              <a:rPr lang="en-US" sz="2000" dirty="0">
                <a:solidFill>
                  <a:srgbClr val="1A1A2E"/>
                </a:solidFill>
                <a:latin typeface="Calibri" pitchFamily="34" charset="0"/>
                <a:ea typeface="Calibri" pitchFamily="34" charset="-122"/>
                <a:cs typeface="Calibri" pitchFamily="34" charset="-120"/>
              </a:rPr>
              <a:t>Enable institutions to make evidence‑based decisions for improving e‑learning systems</a:t>
            </a:r>
            <a:endParaRPr lang="en-US" sz="2000" dirty="0"/>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System Architecture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274320" y="1097280"/>
            <a:ext cx="4114800" cy="384048"/>
          </a:xfrm>
          <a:prstGeom prst="rect">
            <a:avLst/>
          </a:prstGeom>
          <a:solidFill>
            <a:srgbClr val="1565C0"/>
          </a:solidFill>
          <a:ln/>
        </p:spPr>
      </p:sp>
      <p:sp>
        <p:nvSpPr>
          <p:cNvPr id="7" name="Shape 5"/>
          <p:cNvSpPr/>
          <p:nvPr/>
        </p:nvSpPr>
        <p:spPr>
          <a:xfrm>
            <a:off x="4206240" y="1097280"/>
            <a:ext cx="320040" cy="384048"/>
          </a:xfrm>
          <a:prstGeom prst="rect">
            <a:avLst/>
          </a:prstGeom>
          <a:solidFill>
            <a:srgbClr val="1B3A8A"/>
          </a:solidFill>
          <a:ln/>
        </p:spPr>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Data Input / Source</a:t>
            </a:r>
            <a:endParaRPr lang="en-US" sz="1200"/>
          </a:p>
        </p:txBody>
      </p:sp>
      <p:sp>
        <p:nvSpPr>
          <p:cNvPr id="9" name="Text 7"/>
          <p:cNvSpPr/>
          <p:nvPr/>
        </p:nvSpPr>
        <p:spPr>
          <a:xfrm>
            <a:off x="365760" y="1554480"/>
            <a:ext cx="4023360" cy="1188720"/>
          </a:xfrm>
          <a:prstGeom prst="rect">
            <a:avLst/>
          </a:prstGeom>
          <a:noFill/>
          <a:ln/>
        </p:spPr>
        <p:txBody>
          <a:bodyPr wrap="square" rtlCol="0" anchor="t"/>
          <a:lstStyle/>
          <a:p>
            <a:pPr marL="0" indent="0">
              <a:buNone/>
            </a:pPr>
            <a:r>
              <a:rPr lang="en-US" sz="1400" dirty="0">
                <a:solidFill>
                  <a:srgbClr val="1A1A2E"/>
                </a:solidFill>
                <a:latin typeface="Calibri" pitchFamily="34" charset="0"/>
                <a:ea typeface="Calibri" pitchFamily="34" charset="-122"/>
                <a:cs typeface="Calibri" pitchFamily="34" charset="-120"/>
              </a:rPr>
              <a:t>Student survey data collected via Google Forms</a:t>
            </a:r>
          </a:p>
          <a:p>
            <a:pPr marL="0" indent="0">
              <a:buNone/>
            </a:pPr>
            <a:r>
              <a:rPr lang="en-US" sz="1400" dirty="0">
                <a:solidFill>
                  <a:srgbClr val="1A1A2E"/>
                </a:solidFill>
                <a:latin typeface="Calibri" pitchFamily="34" charset="0"/>
                <a:ea typeface="Calibri" pitchFamily="34" charset="-122"/>
                <a:cs typeface="Calibri" pitchFamily="34" charset="-120"/>
              </a:rPr>
              <a:t>Responses stored in Excel (.xlsx) format </a:t>
            </a:r>
          </a:p>
          <a:p>
            <a:pPr marL="0" indent="0">
              <a:buNone/>
            </a:pPr>
            <a:r>
              <a:rPr lang="en-US" sz="1400" dirty="0">
                <a:solidFill>
                  <a:srgbClr val="1A1A2E"/>
                </a:solidFill>
                <a:latin typeface="Calibri" pitchFamily="34" charset="0"/>
                <a:ea typeface="Calibri" pitchFamily="34" charset="-122"/>
                <a:cs typeface="Calibri" pitchFamily="34" charset="-120"/>
              </a:rPr>
              <a:t>Includes demographics and TAM constructs]</a:t>
            </a:r>
            <a:endParaRPr lang="en-US" sz="1400" dirty="0"/>
          </a:p>
        </p:txBody>
      </p:sp>
      <p:sp>
        <p:nvSpPr>
          <p:cNvPr id="10" name="Shape 8"/>
          <p:cNvSpPr/>
          <p:nvPr/>
        </p:nvSpPr>
        <p:spPr>
          <a:xfrm>
            <a:off x="4709160" y="1097280"/>
            <a:ext cx="4114800" cy="384048"/>
          </a:xfrm>
          <a:prstGeom prst="rect">
            <a:avLst/>
          </a:prstGeom>
          <a:solidFill>
            <a:srgbClr val="1565C0"/>
          </a:solidFill>
          <a:ln/>
        </p:spPr>
      </p:sp>
      <p:sp>
        <p:nvSpPr>
          <p:cNvPr id="11" name="Shape 9"/>
          <p:cNvSpPr/>
          <p:nvPr/>
        </p:nvSpPr>
        <p:spPr>
          <a:xfrm>
            <a:off x="8641080" y="1097280"/>
            <a:ext cx="320040" cy="384048"/>
          </a:xfrm>
          <a:prstGeom prst="rect">
            <a:avLst/>
          </a:prstGeom>
          <a:solidFill>
            <a:srgbClr val="1B3A8A"/>
          </a:solidFill>
          <a:ln/>
        </p:spPr>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Processing / Analysis</a:t>
            </a:r>
            <a:endParaRPr lang="en-US" sz="1200"/>
          </a:p>
        </p:txBody>
      </p:sp>
      <p:sp>
        <p:nvSpPr>
          <p:cNvPr id="13" name="Text 11"/>
          <p:cNvSpPr/>
          <p:nvPr/>
        </p:nvSpPr>
        <p:spPr>
          <a:xfrm>
            <a:off x="4800600" y="1554480"/>
            <a:ext cx="4023360" cy="1188720"/>
          </a:xfrm>
          <a:prstGeom prst="rect">
            <a:avLst/>
          </a:prstGeom>
          <a:noFill/>
          <a:ln/>
        </p:spPr>
        <p:txBody>
          <a:bodyPr wrap="square" rtlCol="0" anchor="t"/>
          <a:lstStyle/>
          <a:p>
            <a:pPr marL="0" indent="0">
              <a:buNone/>
            </a:pPr>
            <a:r>
              <a:rPr lang="en-US" sz="1400" dirty="0">
                <a:solidFill>
                  <a:srgbClr val="1A1A2E"/>
                </a:solidFill>
                <a:latin typeface="Calibri" pitchFamily="34" charset="0"/>
                <a:ea typeface="Calibri" pitchFamily="34" charset="-122"/>
                <a:cs typeface="Calibri" pitchFamily="34" charset="-120"/>
              </a:rPr>
              <a:t>Data cleaned and structured</a:t>
            </a:r>
          </a:p>
          <a:p>
            <a:pPr marL="0" indent="0">
              <a:buNone/>
            </a:pPr>
            <a:r>
              <a:rPr lang="en-US" sz="1400" dirty="0">
                <a:solidFill>
                  <a:srgbClr val="1A1A2E"/>
                </a:solidFill>
                <a:latin typeface="Calibri" pitchFamily="34" charset="0"/>
                <a:ea typeface="Calibri" pitchFamily="34" charset="-122"/>
                <a:cs typeface="Calibri" pitchFamily="34" charset="-120"/>
              </a:rPr>
              <a:t>TAM constructs grouped (BEL, PUE, PEE, PSE, BIE)</a:t>
            </a:r>
          </a:p>
          <a:p>
            <a:pPr marL="0" indent="0">
              <a:buNone/>
            </a:pPr>
            <a:r>
              <a:rPr lang="en-US" sz="1400" dirty="0">
                <a:solidFill>
                  <a:srgbClr val="1A1A2E"/>
                </a:solidFill>
                <a:latin typeface="Calibri" pitchFamily="34" charset="0"/>
                <a:ea typeface="Calibri" pitchFamily="34" charset="-122"/>
                <a:cs typeface="Calibri" pitchFamily="34" charset="-120"/>
              </a:rPr>
              <a:t>Mean scores and relationships calculated using DAX</a:t>
            </a:r>
            <a:endParaRPr lang="en-US" sz="1400" dirty="0"/>
          </a:p>
        </p:txBody>
      </p:sp>
      <p:sp>
        <p:nvSpPr>
          <p:cNvPr id="14" name="Shape 12"/>
          <p:cNvSpPr/>
          <p:nvPr/>
        </p:nvSpPr>
        <p:spPr>
          <a:xfrm>
            <a:off x="274320" y="2926080"/>
            <a:ext cx="4114800" cy="384048"/>
          </a:xfrm>
          <a:prstGeom prst="rect">
            <a:avLst/>
          </a:prstGeom>
          <a:solidFill>
            <a:srgbClr val="1565C0"/>
          </a:solidFill>
          <a:ln/>
        </p:spPr>
      </p:sp>
      <p:sp>
        <p:nvSpPr>
          <p:cNvPr id="15" name="Shape 13"/>
          <p:cNvSpPr/>
          <p:nvPr/>
        </p:nvSpPr>
        <p:spPr>
          <a:xfrm>
            <a:off x="4206240" y="2926080"/>
            <a:ext cx="320040" cy="384048"/>
          </a:xfrm>
          <a:prstGeom prst="rect">
            <a:avLst/>
          </a:prstGeom>
          <a:solidFill>
            <a:srgbClr val="1B3A8A"/>
          </a:solidFill>
          <a:ln/>
        </p:spPr>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AI / Tool Integration</a:t>
            </a:r>
            <a:endParaRPr lang="en-US" sz="1200"/>
          </a:p>
        </p:txBody>
      </p:sp>
      <p:sp>
        <p:nvSpPr>
          <p:cNvPr id="17" name="Text 15"/>
          <p:cNvSpPr/>
          <p:nvPr/>
        </p:nvSpPr>
        <p:spPr>
          <a:xfrm>
            <a:off x="365760" y="3383280"/>
            <a:ext cx="4023360" cy="1188720"/>
          </a:xfrm>
          <a:prstGeom prst="rect">
            <a:avLst/>
          </a:prstGeom>
          <a:noFill/>
          <a:ln/>
        </p:spPr>
        <p:txBody>
          <a:bodyPr wrap="square" rtlCol="0" anchor="t"/>
          <a:lstStyle/>
          <a:p>
            <a:pPr marL="0" indent="0">
              <a:buNone/>
            </a:pPr>
            <a:r>
              <a:rPr lang="en-US" sz="1400" dirty="0">
                <a:solidFill>
                  <a:srgbClr val="1A1A2E"/>
                </a:solidFill>
                <a:latin typeface="Calibri" pitchFamily="34" charset="0"/>
                <a:ea typeface="Calibri" pitchFamily="34" charset="-122"/>
                <a:cs typeface="Calibri" pitchFamily="34" charset="-120"/>
              </a:rPr>
              <a:t>Excel for data validation</a:t>
            </a:r>
          </a:p>
          <a:p>
            <a:pPr marL="0" indent="0">
              <a:buNone/>
            </a:pPr>
            <a:r>
              <a:rPr lang="en-US" sz="1400" dirty="0">
                <a:solidFill>
                  <a:srgbClr val="1A1A2E"/>
                </a:solidFill>
                <a:latin typeface="Calibri" pitchFamily="34" charset="0"/>
                <a:ea typeface="Calibri" pitchFamily="34" charset="-122"/>
                <a:cs typeface="Calibri" pitchFamily="34" charset="-120"/>
              </a:rPr>
              <a:t>Power BI for modeling and visualization</a:t>
            </a:r>
          </a:p>
          <a:p>
            <a:pPr marL="0" indent="0">
              <a:buNone/>
            </a:pPr>
            <a:r>
              <a:rPr lang="en-US" sz="1400" dirty="0">
                <a:solidFill>
                  <a:srgbClr val="1A1A2E"/>
                </a:solidFill>
                <a:latin typeface="Calibri" pitchFamily="34" charset="0"/>
                <a:ea typeface="Calibri" pitchFamily="34" charset="-122"/>
                <a:cs typeface="Calibri" pitchFamily="34" charset="-120"/>
              </a:rPr>
              <a:t>DAX for calculations and analysis</a:t>
            </a:r>
          </a:p>
          <a:p>
            <a:pPr marL="0" indent="0">
              <a:buNone/>
            </a:pPr>
            <a:r>
              <a:rPr lang="en-US" sz="1400" dirty="0">
                <a:solidFill>
                  <a:srgbClr val="1A1A2E"/>
                </a:solidFill>
                <a:latin typeface="Calibri" pitchFamily="34" charset="0"/>
                <a:ea typeface="Calibri" pitchFamily="34" charset="-122"/>
                <a:cs typeface="Calibri" pitchFamily="34" charset="-120"/>
              </a:rPr>
              <a:t>AI/Copilot used for support and interpretation</a:t>
            </a:r>
            <a:endParaRPr lang="en-US" sz="1400" dirty="0"/>
          </a:p>
        </p:txBody>
      </p:sp>
      <p:sp>
        <p:nvSpPr>
          <p:cNvPr id="18" name="Shape 16"/>
          <p:cNvSpPr/>
          <p:nvPr/>
        </p:nvSpPr>
        <p:spPr>
          <a:xfrm>
            <a:off x="4709160" y="2926080"/>
            <a:ext cx="4114800" cy="384048"/>
          </a:xfrm>
          <a:prstGeom prst="rect">
            <a:avLst/>
          </a:prstGeom>
          <a:solidFill>
            <a:srgbClr val="1565C0"/>
          </a:solidFill>
          <a:ln/>
        </p:spPr>
      </p:sp>
      <p:sp>
        <p:nvSpPr>
          <p:cNvPr id="19" name="Shape 17"/>
          <p:cNvSpPr/>
          <p:nvPr/>
        </p:nvSpPr>
        <p:spPr>
          <a:xfrm>
            <a:off x="8641080" y="2926080"/>
            <a:ext cx="320040" cy="384048"/>
          </a:xfrm>
          <a:prstGeom prst="rect">
            <a:avLst/>
          </a:prstGeom>
          <a:solidFill>
            <a:srgbClr val="1B3A8A"/>
          </a:solidFill>
          <a:ln/>
        </p:spPr>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Output / Dashboard</a:t>
            </a:r>
            <a:endParaRPr lang="en-US" sz="1200"/>
          </a:p>
        </p:txBody>
      </p:sp>
      <p:sp>
        <p:nvSpPr>
          <p:cNvPr id="21" name="Text 19"/>
          <p:cNvSpPr/>
          <p:nvPr/>
        </p:nvSpPr>
        <p:spPr>
          <a:xfrm>
            <a:off x="4800600" y="3383280"/>
            <a:ext cx="4023360" cy="1188720"/>
          </a:xfrm>
          <a:prstGeom prst="rect">
            <a:avLst/>
          </a:prstGeom>
          <a:noFill/>
          <a:ln/>
        </p:spPr>
        <p:txBody>
          <a:bodyPr wrap="square" rtlCol="0" anchor="t"/>
          <a:lstStyle/>
          <a:p>
            <a:pPr marL="0" indent="0">
              <a:buNone/>
            </a:pPr>
            <a:r>
              <a:rPr lang="en-US" sz="1400" dirty="0">
                <a:solidFill>
                  <a:srgbClr val="1A1A2E"/>
                </a:solidFill>
                <a:latin typeface="Calibri" pitchFamily="34" charset="0"/>
                <a:ea typeface="Calibri" pitchFamily="34" charset="-122"/>
                <a:cs typeface="Calibri" pitchFamily="34" charset="-120"/>
              </a:rPr>
              <a:t>Interactive Power BI dashboard</a:t>
            </a:r>
          </a:p>
          <a:p>
            <a:pPr marL="0" indent="0">
              <a:buNone/>
            </a:pPr>
            <a:r>
              <a:rPr lang="en-US" sz="1400" dirty="0">
                <a:solidFill>
                  <a:srgbClr val="1A1A2E"/>
                </a:solidFill>
                <a:latin typeface="Calibri" pitchFamily="34" charset="0"/>
                <a:ea typeface="Calibri" pitchFamily="34" charset="-122"/>
                <a:cs typeface="Calibri" pitchFamily="34" charset="-120"/>
              </a:rPr>
              <a:t>Mean scores, item‑wise analysis, and scatter plots</a:t>
            </a:r>
          </a:p>
          <a:p>
            <a:pPr marL="0" indent="0">
              <a:buNone/>
            </a:pPr>
            <a:r>
              <a:rPr lang="en-US" sz="1400" dirty="0">
                <a:solidFill>
                  <a:srgbClr val="1A1A2E"/>
                </a:solidFill>
                <a:latin typeface="Calibri" pitchFamily="34" charset="0"/>
                <a:ea typeface="Calibri" pitchFamily="34" charset="-122"/>
                <a:cs typeface="Calibri" pitchFamily="34" charset="-120"/>
              </a:rPr>
              <a:t>Filters by age, gender, course, and platform</a:t>
            </a:r>
          </a:p>
          <a:p>
            <a:pPr marL="0" indent="0">
              <a:buNone/>
            </a:pPr>
            <a:r>
              <a:rPr lang="en-US" sz="1400" dirty="0">
                <a:solidFill>
                  <a:srgbClr val="1A1A2E"/>
                </a:solidFill>
                <a:latin typeface="Calibri" pitchFamily="34" charset="0"/>
                <a:ea typeface="Calibri" pitchFamily="34" charset="-122"/>
                <a:cs typeface="Calibri" pitchFamily="34" charset="-120"/>
              </a:rPr>
              <a:t>Insights into e‑learning adoption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Live Demo of Project</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0" name="Text 8"/>
          <p:cNvSpPr/>
          <p:nvPr/>
        </p:nvSpPr>
        <p:spPr>
          <a:xfrm>
            <a:off x="274320"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1</a:t>
            </a:r>
            <a:endParaRPr lang="en-US" sz="1600"/>
          </a:p>
        </p:txBody>
      </p:sp>
      <p:sp>
        <p:nvSpPr>
          <p:cNvPr id="11" name="Text 9"/>
          <p:cNvSpPr/>
          <p:nvPr/>
        </p:nvSpPr>
        <p:spPr>
          <a:xfrm>
            <a:off x="411480" y="3127248"/>
            <a:ext cx="2514600" cy="1371600"/>
          </a:xfrm>
          <a:prstGeom prst="rect">
            <a:avLst/>
          </a:prstGeom>
          <a:noFill/>
          <a:ln/>
        </p:spPr>
        <p:txBody>
          <a:bodyPr wrap="square" rtlCol="0" anchor="ctr"/>
          <a:lstStyle/>
          <a:p>
            <a:pPr marL="0" indent="0" algn="ctr">
              <a:buNone/>
            </a:pPr>
            <a:r>
              <a:rPr lang="en-US" sz="1050">
                <a:solidFill>
                  <a:srgbClr val="FFFFFF"/>
                </a:solidFill>
                <a:latin typeface="Calibri" pitchFamily="34" charset="0"/>
                <a:ea typeface="Calibri" pitchFamily="34" charset="-122"/>
                <a:cs typeface="Calibri" pitchFamily="34" charset="-120"/>
              </a:rPr>
              <a:t>[Add description of Demo 1 here — what this demo shows, key features, and results achieved.]</a:t>
            </a:r>
            <a:endParaRPr lang="en-US" sz="1050"/>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15" name="Text 13"/>
          <p:cNvSpPr/>
          <p:nvPr/>
        </p:nvSpPr>
        <p:spPr>
          <a:xfrm>
            <a:off x="3218688"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2</a:t>
            </a:r>
            <a:endParaRPr lang="en-US" sz="1600"/>
          </a:p>
        </p:txBody>
      </p:sp>
      <p:sp>
        <p:nvSpPr>
          <p:cNvPr id="16" name="Text 14"/>
          <p:cNvSpPr/>
          <p:nvPr/>
        </p:nvSpPr>
        <p:spPr>
          <a:xfrm>
            <a:off x="3355848" y="3127248"/>
            <a:ext cx="2514600" cy="1371600"/>
          </a:xfrm>
          <a:prstGeom prst="rect">
            <a:avLst/>
          </a:prstGeom>
          <a:noFill/>
          <a:ln/>
        </p:spPr>
        <p:txBody>
          <a:bodyPr wrap="square" rtlCol="0" anchor="ctr"/>
          <a:lstStyle/>
          <a:p>
            <a:pPr marL="0" indent="0" algn="ctr">
              <a:buNone/>
            </a:pPr>
            <a:r>
              <a:rPr lang="en-US" sz="1050">
                <a:solidFill>
                  <a:srgbClr val="FFFFFF"/>
                </a:solidFill>
                <a:latin typeface="Calibri" pitchFamily="34" charset="0"/>
                <a:ea typeface="Calibri" pitchFamily="34" charset="-122"/>
                <a:cs typeface="Calibri" pitchFamily="34" charset="-120"/>
              </a:rPr>
              <a:t>[Add description of Demo 2 here — what this demo shows, key features, and results achieved.]</a:t>
            </a:r>
            <a:endParaRPr lang="en-US" sz="1050"/>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2011680"/>
            <a:ext cx="2788920" cy="2651760"/>
          </a:xfrm>
          <a:prstGeom prst="rect">
            <a:avLst/>
          </a:prstGeom>
          <a:solidFill>
            <a:srgbClr val="1565C0"/>
          </a:solidFill>
          <a:ln/>
          <a:effectLst>
            <a:outerShdw blurRad="101600" dist="38100" dir="8100000" algn="bl" rotWithShape="0">
              <a:srgbClr val="000000">
                <a:alpha val="15000"/>
              </a:srgbClr>
            </a:outerShdw>
          </a:effectLst>
        </p:spPr>
      </p:sp>
      <p:sp>
        <p:nvSpPr>
          <p:cNvPr id="20" name="Text 18"/>
          <p:cNvSpPr/>
          <p:nvPr/>
        </p:nvSpPr>
        <p:spPr>
          <a:xfrm>
            <a:off x="6163056"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3</a:t>
            </a:r>
            <a:endParaRPr lang="en-US" sz="1600"/>
          </a:p>
        </p:txBody>
      </p:sp>
      <p:sp>
        <p:nvSpPr>
          <p:cNvPr id="21" name="Text 19"/>
          <p:cNvSpPr/>
          <p:nvPr/>
        </p:nvSpPr>
        <p:spPr>
          <a:xfrm>
            <a:off x="6300216" y="3127248"/>
            <a:ext cx="2514600" cy="1371600"/>
          </a:xfrm>
          <a:prstGeom prst="rect">
            <a:avLst/>
          </a:prstGeom>
          <a:noFill/>
          <a:ln/>
        </p:spPr>
        <p:txBody>
          <a:bodyPr wrap="square" rtlCol="0" anchor="ctr"/>
          <a:lstStyle/>
          <a:p>
            <a:pPr marL="0" indent="0" algn="ctr">
              <a:buNone/>
            </a:pPr>
            <a:r>
              <a:rPr lang="en-US" sz="1050">
                <a:solidFill>
                  <a:srgbClr val="FFFFFF"/>
                </a:solidFill>
                <a:latin typeface="Calibri" pitchFamily="34" charset="0"/>
                <a:ea typeface="Calibri" pitchFamily="34" charset="-122"/>
                <a:cs typeface="Calibri" pitchFamily="34" charset="-120"/>
              </a:rPr>
              <a:t>[Add description of Demo 3 here — what this demo shows, key features, and results achieved.]</a:t>
            </a:r>
            <a:endParaRPr lang="en-US"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E190C-2B76-F70B-8D13-4F71068171B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75F9F3D-55BC-5478-C23C-2619F593FA70}"/>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3CBB1D15-CE5B-735A-70CB-49CBF15C1238}"/>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5EF652C9-685E-6E83-5D90-02F79958C8DA}"/>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Demographic Analysis</a:t>
            </a:r>
            <a:endParaRPr lang="en-US" sz="2800" dirty="0"/>
          </a:p>
        </p:txBody>
      </p:sp>
      <p:sp>
        <p:nvSpPr>
          <p:cNvPr id="5" name="Shape 3">
            <a:extLst>
              <a:ext uri="{FF2B5EF4-FFF2-40B4-BE49-F238E27FC236}">
                <a16:creationId xmlns:a16="http://schemas.microsoft.com/office/drawing/2014/main" id="{7BAC09D2-C4A1-3715-5D6F-1A8446279503}"/>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92BA356C-AAA4-0A0D-17B5-6848853631E1}"/>
              </a:ext>
            </a:extLst>
          </p:cNvPr>
          <p:cNvSpPr txBox="1"/>
          <p:nvPr/>
        </p:nvSpPr>
        <p:spPr>
          <a:xfrm>
            <a:off x="168964" y="1618489"/>
            <a:ext cx="4802820" cy="2246769"/>
          </a:xfrm>
          <a:prstGeom prst="rect">
            <a:avLst/>
          </a:prstGeom>
          <a:noFill/>
        </p:spPr>
        <p:txBody>
          <a:bodyPr wrap="square">
            <a:spAutoFit/>
          </a:bodyPr>
          <a:lstStyle/>
          <a:p>
            <a:pPr marL="342900" indent="-342900">
              <a:buFont typeface="Arial" panose="020B0604020202020204" pitchFamily="34" charset="0"/>
              <a:buChar char="•"/>
            </a:pPr>
            <a:r>
              <a:rPr lang="en-US" sz="2000" dirty="0"/>
              <a:t>Male respondents: 196 (68.29%)Female respondents: 91 (31.71%) The dataset shows higher male participation, but female representation remains substantial. This distribution provides a balanced basis for analyzing e‑learning adoption across genders</a:t>
            </a:r>
          </a:p>
        </p:txBody>
      </p:sp>
      <p:pic>
        <p:nvPicPr>
          <p:cNvPr id="8" name="Picture 7">
            <a:extLst>
              <a:ext uri="{FF2B5EF4-FFF2-40B4-BE49-F238E27FC236}">
                <a16:creationId xmlns:a16="http://schemas.microsoft.com/office/drawing/2014/main" id="{BD000258-7A45-C04C-C8D7-387B52E7AEEE}"/>
              </a:ext>
            </a:extLst>
          </p:cNvPr>
          <p:cNvPicPr>
            <a:picLocks noChangeAspect="1"/>
          </p:cNvPicPr>
          <p:nvPr/>
        </p:nvPicPr>
        <p:blipFill>
          <a:blip r:embed="rId3"/>
          <a:stretch>
            <a:fillRect/>
          </a:stretch>
        </p:blipFill>
        <p:spPr>
          <a:xfrm>
            <a:off x="4711701" y="835920"/>
            <a:ext cx="4263335" cy="3589775"/>
          </a:xfrm>
          <a:prstGeom prst="rect">
            <a:avLst/>
          </a:prstGeom>
        </p:spPr>
      </p:pic>
    </p:spTree>
    <p:extLst>
      <p:ext uri="{BB962C8B-B14F-4D97-AF65-F5344CB8AC3E}">
        <p14:creationId xmlns:p14="http://schemas.microsoft.com/office/powerpoint/2010/main" val="75359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70F4D-FF06-C0F3-6E0B-15A1374CB9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D9567B4-A864-50A6-7D89-C6810207F7D4}"/>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355109A5-EF3E-AB34-8205-EF7BAF49B34A}"/>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4E724F37-B898-C25A-9B5F-7DF6DB5AA2C0}"/>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Demographic Analysis</a:t>
            </a:r>
            <a:endParaRPr lang="en-US" sz="2800" dirty="0"/>
          </a:p>
        </p:txBody>
      </p:sp>
      <p:sp>
        <p:nvSpPr>
          <p:cNvPr id="5" name="Shape 3">
            <a:extLst>
              <a:ext uri="{FF2B5EF4-FFF2-40B4-BE49-F238E27FC236}">
                <a16:creationId xmlns:a16="http://schemas.microsoft.com/office/drawing/2014/main" id="{B040283B-6EC8-7493-40CC-347773E7E0AB}"/>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01424DC1-4C60-6E6D-DC9B-B7A733A1EA8A}"/>
              </a:ext>
            </a:extLst>
          </p:cNvPr>
          <p:cNvSpPr txBox="1"/>
          <p:nvPr/>
        </p:nvSpPr>
        <p:spPr>
          <a:xfrm>
            <a:off x="412068" y="1879252"/>
            <a:ext cx="4112261" cy="1384995"/>
          </a:xfrm>
          <a:prstGeom prst="rect">
            <a:avLst/>
          </a:prstGeom>
          <a:noFill/>
        </p:spPr>
        <p:txBody>
          <a:bodyPr wrap="square">
            <a:spAutoFit/>
          </a:bodyPr>
          <a:lstStyle/>
          <a:p>
            <a:pPr marL="342900" indent="-342900">
              <a:buFont typeface="Arial" panose="020B0604020202020204" pitchFamily="34" charset="0"/>
              <a:buChar char="•"/>
            </a:pPr>
            <a:r>
              <a:rPr lang="en-US" sz="2800" dirty="0"/>
              <a:t>Majority respondents belong to the 15–24 age group</a:t>
            </a:r>
            <a:r>
              <a:rPr lang="en-IN" sz="2800" dirty="0"/>
              <a:t>.</a:t>
            </a:r>
            <a:endParaRPr lang="en-US" sz="2800" dirty="0"/>
          </a:p>
        </p:txBody>
      </p:sp>
      <p:pic>
        <p:nvPicPr>
          <p:cNvPr id="10" name="Picture 9">
            <a:extLst>
              <a:ext uri="{FF2B5EF4-FFF2-40B4-BE49-F238E27FC236}">
                <a16:creationId xmlns:a16="http://schemas.microsoft.com/office/drawing/2014/main" id="{FF24A292-16C4-011E-04A3-96258D36B238}"/>
              </a:ext>
            </a:extLst>
          </p:cNvPr>
          <p:cNvPicPr>
            <a:picLocks noChangeAspect="1"/>
          </p:cNvPicPr>
          <p:nvPr/>
        </p:nvPicPr>
        <p:blipFill>
          <a:blip r:embed="rId3"/>
          <a:stretch>
            <a:fillRect/>
          </a:stretch>
        </p:blipFill>
        <p:spPr>
          <a:xfrm>
            <a:off x="4906383" y="1035314"/>
            <a:ext cx="3825549" cy="3072869"/>
          </a:xfrm>
          <a:prstGeom prst="rect">
            <a:avLst/>
          </a:prstGeom>
        </p:spPr>
      </p:pic>
    </p:spTree>
    <p:extLst>
      <p:ext uri="{BB962C8B-B14F-4D97-AF65-F5344CB8AC3E}">
        <p14:creationId xmlns:p14="http://schemas.microsoft.com/office/powerpoint/2010/main" val="2064530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B8C90-6C5E-2B59-0531-4B100FF198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F49C8E-AA08-7E88-23E9-A37B27A1CA75}"/>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33008DF1-E6C2-C0AD-0561-B52D53C369CA}"/>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63361D72-6DD8-850B-2960-35856330E196}"/>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Demographic Analysis</a:t>
            </a:r>
            <a:endParaRPr lang="en-US" sz="2800" dirty="0"/>
          </a:p>
        </p:txBody>
      </p:sp>
      <p:sp>
        <p:nvSpPr>
          <p:cNvPr id="5" name="Shape 3">
            <a:extLst>
              <a:ext uri="{FF2B5EF4-FFF2-40B4-BE49-F238E27FC236}">
                <a16:creationId xmlns:a16="http://schemas.microsoft.com/office/drawing/2014/main" id="{B51FBA9F-41A6-6AA7-8D11-0DDFB432919F}"/>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1E74A837-6680-28DA-8F48-E73215B5B57A}"/>
              </a:ext>
            </a:extLst>
          </p:cNvPr>
          <p:cNvSpPr txBox="1"/>
          <p:nvPr/>
        </p:nvSpPr>
        <p:spPr>
          <a:xfrm>
            <a:off x="322579" y="1663809"/>
            <a:ext cx="4112261" cy="1815882"/>
          </a:xfrm>
          <a:prstGeom prst="rect">
            <a:avLst/>
          </a:prstGeom>
          <a:noFill/>
        </p:spPr>
        <p:txBody>
          <a:bodyPr wrap="square">
            <a:spAutoFit/>
          </a:bodyPr>
          <a:lstStyle/>
          <a:p>
            <a:pPr marL="342900" indent="-342900">
              <a:buFont typeface="Arial" panose="020B0604020202020204" pitchFamily="34" charset="0"/>
              <a:buChar char="•"/>
            </a:pPr>
            <a:r>
              <a:rPr lang="en-US" sz="2800" dirty="0"/>
              <a:t>YouTube and LMS platforms are the most commonly used e‑learning resources</a:t>
            </a:r>
          </a:p>
        </p:txBody>
      </p:sp>
      <p:pic>
        <p:nvPicPr>
          <p:cNvPr id="9" name="Picture 8">
            <a:extLst>
              <a:ext uri="{FF2B5EF4-FFF2-40B4-BE49-F238E27FC236}">
                <a16:creationId xmlns:a16="http://schemas.microsoft.com/office/drawing/2014/main" id="{5508BF0D-D2DA-604D-F378-0B8420E3D107}"/>
              </a:ext>
            </a:extLst>
          </p:cNvPr>
          <p:cNvPicPr>
            <a:picLocks noChangeAspect="1"/>
          </p:cNvPicPr>
          <p:nvPr/>
        </p:nvPicPr>
        <p:blipFill>
          <a:blip r:embed="rId3"/>
          <a:stretch>
            <a:fillRect/>
          </a:stretch>
        </p:blipFill>
        <p:spPr>
          <a:xfrm>
            <a:off x="4709163" y="718183"/>
            <a:ext cx="3903978" cy="3905405"/>
          </a:xfrm>
          <a:prstGeom prst="rect">
            <a:avLst/>
          </a:prstGeom>
        </p:spPr>
      </p:pic>
    </p:spTree>
    <p:extLst>
      <p:ext uri="{BB962C8B-B14F-4D97-AF65-F5344CB8AC3E}">
        <p14:creationId xmlns:p14="http://schemas.microsoft.com/office/powerpoint/2010/main" val="3163911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5ED4E-8D41-AA3B-E7F7-F5C68A3609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F4B1931-C8BC-14B5-B220-0913DCDF19FC}"/>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B5800743-068D-A55B-EE8F-962E4AA158B5}"/>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275F339E-11CE-B688-BDDB-C4839FD98AAB}"/>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Demographic Analysis</a:t>
            </a:r>
            <a:endParaRPr lang="en-US" sz="2800" dirty="0"/>
          </a:p>
        </p:txBody>
      </p:sp>
      <p:sp>
        <p:nvSpPr>
          <p:cNvPr id="5" name="Shape 3">
            <a:extLst>
              <a:ext uri="{FF2B5EF4-FFF2-40B4-BE49-F238E27FC236}">
                <a16:creationId xmlns:a16="http://schemas.microsoft.com/office/drawing/2014/main" id="{8C2BFAE9-288E-2D9A-4985-793A36C69806}"/>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AB2FE151-72DF-51CA-156B-B7D0B8250170}"/>
              </a:ext>
            </a:extLst>
          </p:cNvPr>
          <p:cNvSpPr txBox="1"/>
          <p:nvPr/>
        </p:nvSpPr>
        <p:spPr>
          <a:xfrm>
            <a:off x="322579" y="2059748"/>
            <a:ext cx="4112261" cy="1384995"/>
          </a:xfrm>
          <a:prstGeom prst="rect">
            <a:avLst/>
          </a:prstGeom>
          <a:noFill/>
        </p:spPr>
        <p:txBody>
          <a:bodyPr wrap="square">
            <a:spAutoFit/>
          </a:bodyPr>
          <a:lstStyle/>
          <a:p>
            <a:pPr marL="342900" indent="-342900">
              <a:buFont typeface="Arial" panose="020B0604020202020204" pitchFamily="34" charset="0"/>
              <a:buChar char="•"/>
            </a:pPr>
            <a:r>
              <a:rPr lang="en-US" sz="2800" dirty="0"/>
              <a:t>Most participants are from </a:t>
            </a:r>
            <a:r>
              <a:rPr lang="en-US" sz="2800" dirty="0" err="1"/>
              <a:t>B.Tech</a:t>
            </a:r>
            <a:r>
              <a:rPr lang="en-US" sz="2800" dirty="0"/>
              <a:t>, MBA, and MCA programs</a:t>
            </a:r>
          </a:p>
        </p:txBody>
      </p:sp>
      <p:pic>
        <p:nvPicPr>
          <p:cNvPr id="8" name="Picture 7">
            <a:extLst>
              <a:ext uri="{FF2B5EF4-FFF2-40B4-BE49-F238E27FC236}">
                <a16:creationId xmlns:a16="http://schemas.microsoft.com/office/drawing/2014/main" id="{BCD0A732-9EC7-B5C2-2BB2-6598B1291BC2}"/>
              </a:ext>
            </a:extLst>
          </p:cNvPr>
          <p:cNvPicPr>
            <a:picLocks noChangeAspect="1"/>
          </p:cNvPicPr>
          <p:nvPr/>
        </p:nvPicPr>
        <p:blipFill>
          <a:blip r:embed="rId3"/>
          <a:stretch>
            <a:fillRect/>
          </a:stretch>
        </p:blipFill>
        <p:spPr>
          <a:xfrm>
            <a:off x="4335052" y="1420596"/>
            <a:ext cx="4808948" cy="3019727"/>
          </a:xfrm>
          <a:prstGeom prst="rect">
            <a:avLst/>
          </a:prstGeom>
        </p:spPr>
      </p:pic>
    </p:spTree>
    <p:extLst>
      <p:ext uri="{BB962C8B-B14F-4D97-AF65-F5344CB8AC3E}">
        <p14:creationId xmlns:p14="http://schemas.microsoft.com/office/powerpoint/2010/main" val="447570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B930D-EFF2-B33A-3C7D-E32B635784E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D7EAE33-C69C-6CCC-E1BB-349D5ED9079F}"/>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D36D89BF-FC0D-FDA1-3D8D-229ABA9D9169}"/>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2948F7F5-DD85-D314-9843-B16CB1E4D673}"/>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Mean Scores of TAM Constructs</a:t>
            </a:r>
            <a:endParaRPr lang="en-US" sz="2800" dirty="0"/>
          </a:p>
        </p:txBody>
      </p:sp>
      <p:sp>
        <p:nvSpPr>
          <p:cNvPr id="5" name="Shape 3">
            <a:extLst>
              <a:ext uri="{FF2B5EF4-FFF2-40B4-BE49-F238E27FC236}">
                <a16:creationId xmlns:a16="http://schemas.microsoft.com/office/drawing/2014/main" id="{E44C600F-5955-A4A3-3DE9-F3AAD7779407}"/>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B6D48F20-13DB-D46F-A8A8-5F4D92F02B01}"/>
              </a:ext>
            </a:extLst>
          </p:cNvPr>
          <p:cNvSpPr txBox="1"/>
          <p:nvPr/>
        </p:nvSpPr>
        <p:spPr>
          <a:xfrm>
            <a:off x="177996" y="1179576"/>
            <a:ext cx="4953297" cy="3416320"/>
          </a:xfrm>
          <a:prstGeom prst="rect">
            <a:avLst/>
          </a:prstGeom>
          <a:noFill/>
        </p:spPr>
        <p:txBody>
          <a:bodyPr wrap="square">
            <a:spAutoFit/>
          </a:bodyPr>
          <a:lstStyle/>
          <a:p>
            <a:pPr marL="342900" indent="-342900">
              <a:buFont typeface="Arial" panose="020B0604020202020204" pitchFamily="34" charset="0"/>
              <a:buChar char="•"/>
            </a:pPr>
            <a:r>
              <a:rPr lang="en-US" sz="2400" dirty="0"/>
              <a:t>All constructs show mean values above 4.0</a:t>
            </a:r>
          </a:p>
          <a:p>
            <a:pPr marL="342900" indent="-342900">
              <a:buFont typeface="Arial" panose="020B0604020202020204" pitchFamily="34" charset="0"/>
              <a:buChar char="•"/>
            </a:pPr>
            <a:r>
              <a:rPr lang="en-US" sz="2400" dirty="0"/>
              <a:t>Perceived Usefulness (PUE) has the highest mean score</a:t>
            </a:r>
          </a:p>
          <a:p>
            <a:pPr marL="342900" indent="-342900">
              <a:buFont typeface="Arial" panose="020B0604020202020204" pitchFamily="34" charset="0"/>
              <a:buChar char="•"/>
            </a:pPr>
            <a:r>
              <a:rPr lang="en-US" sz="2400" dirty="0"/>
              <a:t>Strong behavioral intention indicates acceptance of e‑learning systems</a:t>
            </a:r>
          </a:p>
          <a:p>
            <a:pPr marL="342900" indent="-342900">
              <a:buFont typeface="Arial" panose="020B0604020202020204" pitchFamily="34" charset="0"/>
              <a:buChar char="•"/>
            </a:pPr>
            <a:r>
              <a:rPr lang="en-US" sz="2400" dirty="0"/>
              <a:t>Overall results reflect positive student attitudes</a:t>
            </a:r>
            <a:endParaRPr lang="en-IN" sz="2400" dirty="0"/>
          </a:p>
        </p:txBody>
      </p:sp>
      <p:pic>
        <p:nvPicPr>
          <p:cNvPr id="8" name="Picture 7">
            <a:extLst>
              <a:ext uri="{FF2B5EF4-FFF2-40B4-BE49-F238E27FC236}">
                <a16:creationId xmlns:a16="http://schemas.microsoft.com/office/drawing/2014/main" id="{01A277AE-09D5-5625-82E3-5110455B3FFB}"/>
              </a:ext>
            </a:extLst>
          </p:cNvPr>
          <p:cNvPicPr>
            <a:picLocks noChangeAspect="1"/>
          </p:cNvPicPr>
          <p:nvPr/>
        </p:nvPicPr>
        <p:blipFill>
          <a:blip r:embed="rId3"/>
          <a:stretch>
            <a:fillRect/>
          </a:stretch>
        </p:blipFill>
        <p:spPr>
          <a:xfrm>
            <a:off x="5015883" y="1060704"/>
            <a:ext cx="4036677" cy="3877056"/>
          </a:xfrm>
          <a:prstGeom prst="rect">
            <a:avLst/>
          </a:prstGeom>
        </p:spPr>
      </p:pic>
    </p:spTree>
    <p:extLst>
      <p:ext uri="{BB962C8B-B14F-4D97-AF65-F5344CB8AC3E}">
        <p14:creationId xmlns:p14="http://schemas.microsoft.com/office/powerpoint/2010/main" val="748229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D068E-D199-28DC-0D0D-430F70B6C0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56A7D6B-1F4C-66C3-D8F0-70F9E66BA30B}"/>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2B46AB30-402D-D7BF-264C-9C8F5E215F20}"/>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A5EBF317-A7EF-F294-443C-2362AC5A01F1}"/>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BEL &amp; PEE Item‑Wise Analysis</a:t>
            </a:r>
            <a:endParaRPr lang="en-US" sz="2800" dirty="0"/>
          </a:p>
        </p:txBody>
      </p:sp>
      <p:sp>
        <p:nvSpPr>
          <p:cNvPr id="5" name="Shape 3">
            <a:extLst>
              <a:ext uri="{FF2B5EF4-FFF2-40B4-BE49-F238E27FC236}">
                <a16:creationId xmlns:a16="http://schemas.microsoft.com/office/drawing/2014/main" id="{1184A486-F3FA-0AC6-2E18-4A93E3C55F49}"/>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891E8FE2-B23A-4D7E-9549-332EC78C2EA8}"/>
              </a:ext>
            </a:extLst>
          </p:cNvPr>
          <p:cNvSpPr txBox="1"/>
          <p:nvPr/>
        </p:nvSpPr>
        <p:spPr>
          <a:xfrm>
            <a:off x="320039" y="1801733"/>
            <a:ext cx="4251961" cy="1938992"/>
          </a:xfrm>
          <a:prstGeom prst="rect">
            <a:avLst/>
          </a:prstGeom>
          <a:noFill/>
        </p:spPr>
        <p:txBody>
          <a:bodyPr wrap="square">
            <a:spAutoFit/>
          </a:bodyPr>
          <a:lstStyle/>
          <a:p>
            <a:pPr marL="342900" indent="-342900">
              <a:buFont typeface="Arial" panose="020B0604020202020204" pitchFamily="34" charset="0"/>
              <a:buChar char="•"/>
            </a:pPr>
            <a:r>
              <a:rPr lang="en-US" sz="2000" dirty="0"/>
              <a:t>BEL items highlight flexibility, accessibility, and updated learning materials</a:t>
            </a:r>
          </a:p>
          <a:p>
            <a:pPr marL="342900" indent="-342900">
              <a:buFont typeface="Arial" panose="020B0604020202020204" pitchFamily="34" charset="0"/>
              <a:buChar char="•"/>
            </a:pPr>
            <a:r>
              <a:rPr lang="en-US" sz="2000" dirty="0"/>
              <a:t>Consistent agreement across most indicators validates construct reliability</a:t>
            </a:r>
            <a:endParaRPr lang="en-IN" sz="2000" dirty="0"/>
          </a:p>
        </p:txBody>
      </p:sp>
      <p:pic>
        <p:nvPicPr>
          <p:cNvPr id="8" name="Picture 7">
            <a:extLst>
              <a:ext uri="{FF2B5EF4-FFF2-40B4-BE49-F238E27FC236}">
                <a16:creationId xmlns:a16="http://schemas.microsoft.com/office/drawing/2014/main" id="{E1831147-4553-DF7D-0B4B-B1B5DDC87FB0}"/>
              </a:ext>
            </a:extLst>
          </p:cNvPr>
          <p:cNvPicPr>
            <a:picLocks noChangeAspect="1"/>
          </p:cNvPicPr>
          <p:nvPr/>
        </p:nvPicPr>
        <p:blipFill>
          <a:blip r:embed="rId3"/>
          <a:stretch>
            <a:fillRect/>
          </a:stretch>
        </p:blipFill>
        <p:spPr>
          <a:xfrm>
            <a:off x="4977266" y="1004645"/>
            <a:ext cx="3572374" cy="3477110"/>
          </a:xfrm>
          <a:prstGeom prst="rect">
            <a:avLst/>
          </a:prstGeom>
        </p:spPr>
      </p:pic>
    </p:spTree>
    <p:extLst>
      <p:ext uri="{BB962C8B-B14F-4D97-AF65-F5344CB8AC3E}">
        <p14:creationId xmlns:p14="http://schemas.microsoft.com/office/powerpoint/2010/main" val="2784547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CAE92-3768-8759-02E2-D52FC1DB57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B0CAE57-AA5F-489C-DD3E-EB3685980869}"/>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E2A1AF19-2F47-0F20-576E-632E0C0C9253}"/>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4515AB83-AD2A-0F92-89B2-D3D0BB4CC183}"/>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BEL &amp; PEE Item‑Wise Analysis</a:t>
            </a:r>
            <a:endParaRPr lang="en-US" sz="2800" dirty="0"/>
          </a:p>
        </p:txBody>
      </p:sp>
      <p:sp>
        <p:nvSpPr>
          <p:cNvPr id="5" name="Shape 3">
            <a:extLst>
              <a:ext uri="{FF2B5EF4-FFF2-40B4-BE49-F238E27FC236}">
                <a16:creationId xmlns:a16="http://schemas.microsoft.com/office/drawing/2014/main" id="{0034F0BB-3DFE-255F-9ABA-8B62D2BA99F7}"/>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B4246FFC-D473-9129-69D1-F32E0802E509}"/>
              </a:ext>
            </a:extLst>
          </p:cNvPr>
          <p:cNvSpPr txBox="1"/>
          <p:nvPr/>
        </p:nvSpPr>
        <p:spPr>
          <a:xfrm>
            <a:off x="320039" y="1618488"/>
            <a:ext cx="4251961" cy="1938992"/>
          </a:xfrm>
          <a:prstGeom prst="rect">
            <a:avLst/>
          </a:prstGeom>
          <a:noFill/>
        </p:spPr>
        <p:txBody>
          <a:bodyPr wrap="square">
            <a:spAutoFit/>
          </a:bodyPr>
          <a:lstStyle/>
          <a:p>
            <a:pPr marL="342900" indent="-342900">
              <a:buFont typeface="Arial" panose="020B0604020202020204" pitchFamily="34" charset="0"/>
              <a:buChar char="•"/>
            </a:pPr>
            <a:r>
              <a:rPr lang="en-US" sz="2000" dirty="0"/>
              <a:t>PEE items indicate that platforms are user‑friendly and easy to navigate</a:t>
            </a:r>
          </a:p>
          <a:p>
            <a:pPr marL="342900" indent="-342900">
              <a:buFont typeface="Arial" panose="020B0604020202020204" pitchFamily="34" charset="0"/>
              <a:buChar char="•"/>
            </a:pPr>
            <a:r>
              <a:rPr lang="en-US" sz="2000" dirty="0"/>
              <a:t>Consistent agreement across most indicators validates construct reliability</a:t>
            </a:r>
            <a:endParaRPr lang="en-IN" sz="2000" dirty="0"/>
          </a:p>
        </p:txBody>
      </p:sp>
      <p:pic>
        <p:nvPicPr>
          <p:cNvPr id="9" name="Picture 8">
            <a:extLst>
              <a:ext uri="{FF2B5EF4-FFF2-40B4-BE49-F238E27FC236}">
                <a16:creationId xmlns:a16="http://schemas.microsoft.com/office/drawing/2014/main" id="{0C00873F-8322-F775-A02E-B1A0B74C5B52}"/>
              </a:ext>
            </a:extLst>
          </p:cNvPr>
          <p:cNvPicPr>
            <a:picLocks noChangeAspect="1"/>
          </p:cNvPicPr>
          <p:nvPr/>
        </p:nvPicPr>
        <p:blipFill>
          <a:blip r:embed="rId3"/>
          <a:stretch>
            <a:fillRect/>
          </a:stretch>
        </p:blipFill>
        <p:spPr>
          <a:xfrm>
            <a:off x="5362113" y="1303443"/>
            <a:ext cx="3187527" cy="3122253"/>
          </a:xfrm>
          <a:prstGeom prst="rect">
            <a:avLst/>
          </a:prstGeom>
        </p:spPr>
      </p:pic>
    </p:spTree>
    <p:extLst>
      <p:ext uri="{BB962C8B-B14F-4D97-AF65-F5344CB8AC3E}">
        <p14:creationId xmlns:p14="http://schemas.microsoft.com/office/powerpoint/2010/main" val="78771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69699-2C12-0A82-35ED-12354EFD86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2608369-9D83-B644-449E-91ECFABDFB46}"/>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733963FE-B4D8-22C3-20B9-4E07D2A594DB}"/>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5BF083C0-2AF5-514F-6E92-A3BA6083861B}"/>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Relationship Between PUE, PEE, and BIE</a:t>
            </a:r>
            <a:endParaRPr lang="en-US" sz="2800" dirty="0"/>
          </a:p>
        </p:txBody>
      </p:sp>
      <p:sp>
        <p:nvSpPr>
          <p:cNvPr id="5" name="Shape 3">
            <a:extLst>
              <a:ext uri="{FF2B5EF4-FFF2-40B4-BE49-F238E27FC236}">
                <a16:creationId xmlns:a16="http://schemas.microsoft.com/office/drawing/2014/main" id="{E924B891-443E-9697-7838-8FAFC72EEDAA}"/>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FCE9BDC5-BBCB-220B-729E-5E590D5411BF}"/>
              </a:ext>
            </a:extLst>
          </p:cNvPr>
          <p:cNvSpPr txBox="1"/>
          <p:nvPr/>
        </p:nvSpPr>
        <p:spPr>
          <a:xfrm>
            <a:off x="320039" y="1420596"/>
            <a:ext cx="3887977" cy="2308324"/>
          </a:xfrm>
          <a:prstGeom prst="rect">
            <a:avLst/>
          </a:prstGeom>
          <a:noFill/>
        </p:spPr>
        <p:txBody>
          <a:bodyPr wrap="square">
            <a:spAutoFit/>
          </a:bodyPr>
          <a:lstStyle/>
          <a:p>
            <a:r>
              <a:rPr lang="en-US" dirty="0"/>
              <a:t>Scatter Chart Analysis:</a:t>
            </a:r>
          </a:p>
          <a:p>
            <a:pPr marL="342900" indent="-342900">
              <a:buFont typeface="Arial" panose="020B0604020202020204" pitchFamily="34" charset="0"/>
              <a:buChar char="•"/>
            </a:pPr>
            <a:r>
              <a:rPr lang="en-US" dirty="0"/>
              <a:t>Positive relationship observed between PUE and PEE</a:t>
            </a:r>
          </a:p>
          <a:p>
            <a:pPr marL="342900" indent="-342900">
              <a:buFont typeface="Arial" panose="020B0604020202020204" pitchFamily="34" charset="0"/>
              <a:buChar char="•"/>
            </a:pPr>
            <a:r>
              <a:rPr lang="en-US" dirty="0"/>
              <a:t>Higher perceived usefulness and ease of use lead to higher behavioral intention</a:t>
            </a:r>
          </a:p>
          <a:p>
            <a:pPr marL="342900" indent="-342900">
              <a:buFont typeface="Arial" panose="020B0604020202020204" pitchFamily="34" charset="0"/>
              <a:buChar char="•"/>
            </a:pPr>
            <a:r>
              <a:rPr lang="en-US" dirty="0"/>
              <a:t>Results strongly support TAM hypotheses</a:t>
            </a:r>
            <a:endParaRPr lang="en-IN" dirty="0"/>
          </a:p>
        </p:txBody>
      </p:sp>
      <p:pic>
        <p:nvPicPr>
          <p:cNvPr id="8" name="Picture 7">
            <a:extLst>
              <a:ext uri="{FF2B5EF4-FFF2-40B4-BE49-F238E27FC236}">
                <a16:creationId xmlns:a16="http://schemas.microsoft.com/office/drawing/2014/main" id="{C184840F-5587-F59E-D629-A0CED15BE822}"/>
              </a:ext>
            </a:extLst>
          </p:cNvPr>
          <p:cNvPicPr>
            <a:picLocks noChangeAspect="1"/>
          </p:cNvPicPr>
          <p:nvPr/>
        </p:nvPicPr>
        <p:blipFill>
          <a:blip r:embed="rId3"/>
          <a:stretch>
            <a:fillRect/>
          </a:stretch>
        </p:blipFill>
        <p:spPr>
          <a:xfrm>
            <a:off x="5033639" y="1179576"/>
            <a:ext cx="3378841" cy="3566555"/>
          </a:xfrm>
          <a:prstGeom prst="rect">
            <a:avLst/>
          </a:prstGeom>
        </p:spPr>
      </p:pic>
    </p:spTree>
    <p:extLst>
      <p:ext uri="{BB962C8B-B14F-4D97-AF65-F5344CB8AC3E}">
        <p14:creationId xmlns:p14="http://schemas.microsoft.com/office/powerpoint/2010/main" val="422929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80AD2-98A7-8153-5D91-BD7F214C45D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5309212-DA4B-0BE3-1D06-33C0B908637F}"/>
              </a:ext>
            </a:extLst>
          </p:cNvPr>
          <p:cNvSpPr/>
          <p:nvPr/>
        </p:nvSpPr>
        <p:spPr>
          <a:xfrm>
            <a:off x="0" y="0"/>
            <a:ext cx="9144000" cy="502920"/>
          </a:xfrm>
          <a:prstGeom prst="rect">
            <a:avLst/>
          </a:prstGeom>
          <a:solidFill>
            <a:srgbClr val="1B3A8A"/>
          </a:solidFill>
          <a:ln/>
        </p:spPr>
      </p:sp>
      <p:sp>
        <p:nvSpPr>
          <p:cNvPr id="3" name="Text 1">
            <a:extLst>
              <a:ext uri="{FF2B5EF4-FFF2-40B4-BE49-F238E27FC236}">
                <a16:creationId xmlns:a16="http://schemas.microsoft.com/office/drawing/2014/main" id="{F7D95022-6110-4A9B-CB87-054A1078293C}"/>
              </a:ext>
            </a:extLst>
          </p:cNvPr>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a:extLst>
              <a:ext uri="{FF2B5EF4-FFF2-40B4-BE49-F238E27FC236}">
                <a16:creationId xmlns:a16="http://schemas.microsoft.com/office/drawing/2014/main" id="{7BAE19C0-3533-BC88-57EE-87C83C525803}"/>
              </a:ext>
            </a:extLst>
          </p:cNvPr>
          <p:cNvSpPr/>
          <p:nvPr/>
        </p:nvSpPr>
        <p:spPr>
          <a:xfrm>
            <a:off x="320040" y="621792"/>
            <a:ext cx="8229600" cy="438912"/>
          </a:xfrm>
          <a:prstGeom prst="rect">
            <a:avLst/>
          </a:prstGeom>
          <a:noFill/>
          <a:ln/>
        </p:spPr>
        <p:txBody>
          <a:bodyPr wrap="square" rtlCol="0" anchor="ctr"/>
          <a:lstStyle/>
          <a:p>
            <a:pPr marL="0" indent="0">
              <a:buNone/>
            </a:pPr>
            <a:r>
              <a:rPr lang="en-US" sz="2800" b="1" dirty="0">
                <a:solidFill>
                  <a:srgbClr val="1B3A8A"/>
                </a:solidFill>
                <a:latin typeface="Calibri" pitchFamily="34" charset="0"/>
                <a:ea typeface="Calibri" pitchFamily="34" charset="-122"/>
                <a:cs typeface="Calibri" pitchFamily="34" charset="-120"/>
              </a:rPr>
              <a:t>Dashboard Overview</a:t>
            </a:r>
            <a:endParaRPr lang="en-US" sz="2800" dirty="0"/>
          </a:p>
        </p:txBody>
      </p:sp>
      <p:sp>
        <p:nvSpPr>
          <p:cNvPr id="5" name="Shape 3">
            <a:extLst>
              <a:ext uri="{FF2B5EF4-FFF2-40B4-BE49-F238E27FC236}">
                <a16:creationId xmlns:a16="http://schemas.microsoft.com/office/drawing/2014/main" id="{2F057C80-5535-74B9-E47C-5770D9073C52}"/>
              </a:ext>
            </a:extLst>
          </p:cNvPr>
          <p:cNvSpPr/>
          <p:nvPr/>
        </p:nvSpPr>
        <p:spPr>
          <a:xfrm>
            <a:off x="0" y="4983480"/>
            <a:ext cx="9144000" cy="160020"/>
          </a:xfrm>
          <a:prstGeom prst="rect">
            <a:avLst/>
          </a:prstGeom>
          <a:solidFill>
            <a:srgbClr val="1B3A8A"/>
          </a:solidFill>
          <a:ln/>
        </p:spPr>
      </p:sp>
      <p:sp>
        <p:nvSpPr>
          <p:cNvPr id="7" name="TextBox 6">
            <a:extLst>
              <a:ext uri="{FF2B5EF4-FFF2-40B4-BE49-F238E27FC236}">
                <a16:creationId xmlns:a16="http://schemas.microsoft.com/office/drawing/2014/main" id="{8B84F6E7-7C35-1BEB-2423-339071AB7015}"/>
              </a:ext>
            </a:extLst>
          </p:cNvPr>
          <p:cNvSpPr txBox="1"/>
          <p:nvPr/>
        </p:nvSpPr>
        <p:spPr>
          <a:xfrm>
            <a:off x="320039" y="1420596"/>
            <a:ext cx="8571297" cy="2246769"/>
          </a:xfrm>
          <a:prstGeom prst="rect">
            <a:avLst/>
          </a:prstGeom>
          <a:noFill/>
        </p:spPr>
        <p:txBody>
          <a:bodyPr wrap="square">
            <a:spAutoFit/>
          </a:bodyPr>
          <a:lstStyle/>
          <a:p>
            <a:r>
              <a:rPr lang="en-US" sz="2800" dirty="0"/>
              <a:t>Power BI Dashboard:</a:t>
            </a:r>
          </a:p>
          <a:p>
            <a:r>
              <a:rPr lang="en-US" sz="2800" dirty="0"/>
              <a:t>Interactive filters for gender, age, and course</a:t>
            </a:r>
          </a:p>
          <a:p>
            <a:r>
              <a:rPr lang="en-US" sz="2800" dirty="0"/>
              <a:t>Dynamic charts for TAM constructs</a:t>
            </a:r>
          </a:p>
          <a:p>
            <a:r>
              <a:rPr lang="en-US" sz="2800" dirty="0"/>
              <a:t>Enables quick insights for academic decision‑making</a:t>
            </a:r>
          </a:p>
          <a:p>
            <a:r>
              <a:rPr lang="en-US" sz="2800" dirty="0"/>
              <a:t>Supports exploratory and comparative analysis</a:t>
            </a:r>
            <a:endParaRPr lang="en-IN" sz="2800" dirty="0"/>
          </a:p>
        </p:txBody>
      </p:sp>
    </p:spTree>
    <p:extLst>
      <p:ext uri="{BB962C8B-B14F-4D97-AF65-F5344CB8AC3E}">
        <p14:creationId xmlns:p14="http://schemas.microsoft.com/office/powerpoint/2010/main" val="24983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sp>
      <p:sp>
        <p:nvSpPr>
          <p:cNvPr id="7" name="Shape 5"/>
          <p:cNvSpPr/>
          <p:nvPr/>
        </p:nvSpPr>
        <p:spPr>
          <a:xfrm>
            <a:off x="365760" y="685800"/>
            <a:ext cx="8412480" cy="384048"/>
          </a:xfrm>
          <a:prstGeom prst="rect">
            <a:avLst/>
          </a:prstGeom>
          <a:solidFill>
            <a:srgbClr val="E0E0E0"/>
          </a:solidFill>
          <a:ln/>
        </p:spPr>
      </p:sp>
      <p:sp>
        <p:nvSpPr>
          <p:cNvPr id="8" name="Shape 6"/>
          <p:cNvSpPr/>
          <p:nvPr/>
        </p:nvSpPr>
        <p:spPr>
          <a:xfrm>
            <a:off x="502920" y="777240"/>
            <a:ext cx="164592" cy="164592"/>
          </a:xfrm>
          <a:prstGeom prst="ellipse">
            <a:avLst/>
          </a:prstGeom>
          <a:solidFill>
            <a:srgbClr val="FF5F57"/>
          </a:solidFill>
          <a:ln/>
        </p:spPr>
      </p:sp>
      <p:sp>
        <p:nvSpPr>
          <p:cNvPr id="9" name="Shape 7"/>
          <p:cNvSpPr/>
          <p:nvPr/>
        </p:nvSpPr>
        <p:spPr>
          <a:xfrm>
            <a:off x="731520" y="777240"/>
            <a:ext cx="164592" cy="164592"/>
          </a:xfrm>
          <a:prstGeom prst="ellipse">
            <a:avLst/>
          </a:prstGeom>
          <a:solidFill>
            <a:srgbClr val="FEBC2E"/>
          </a:solidFill>
          <a:ln/>
        </p:spPr>
      </p:sp>
      <p:sp>
        <p:nvSpPr>
          <p:cNvPr id="10" name="Shape 8"/>
          <p:cNvSpPr/>
          <p:nvPr/>
        </p:nvSpPr>
        <p:spPr>
          <a:xfrm>
            <a:off x="960120" y="777240"/>
            <a:ext cx="164592" cy="164592"/>
          </a:xfrm>
          <a:prstGeom prst="ellipse">
            <a:avLst/>
          </a:prstGeom>
          <a:solidFill>
            <a:srgbClr val="28C840"/>
          </a:solidFill>
          <a:ln/>
        </p:spPr>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[https://your-project-demo-link.com]</a:t>
            </a:r>
            <a:endParaRPr lang="en-US" sz="900"/>
          </a:p>
        </p:txBody>
      </p:sp>
      <p:sp>
        <p:nvSpPr>
          <p:cNvPr id="13" name="Shape 11"/>
          <p:cNvSpPr/>
          <p:nvPr/>
        </p:nvSpPr>
        <p:spPr>
          <a:xfrm>
            <a:off x="3749040" y="1828800"/>
            <a:ext cx="1645920" cy="1645920"/>
          </a:xfrm>
          <a:prstGeom prst="ellipse">
            <a:avLst/>
          </a:prstGeom>
          <a:solidFill>
            <a:srgbClr val="1B3A8A">
              <a:alpha val="80000"/>
            </a:srgbClr>
          </a:solidFill>
          <a:ln/>
        </p:spPr>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a:solidFill>
                  <a:srgbClr val="607D8B"/>
                </a:solidFill>
                <a:latin typeface="Calibri" pitchFamily="34" charset="0"/>
                <a:ea typeface="Calibri" pitchFamily="34" charset="-122"/>
                <a:cs typeface="Calibri" pitchFamily="34" charset="-120"/>
              </a:rPr>
              <a:t>[Insert your project demo video.</a:t>
            </a:r>
            <a:endParaRPr lang="en-US" sz="1100"/>
          </a:p>
          <a:p>
            <a:pPr marL="0" indent="0" algn="ctr">
              <a:buNone/>
            </a:pPr>
            <a:r>
              <a:rPr lang="en-US" sz="1100" i="1">
                <a:solidFill>
                  <a:srgbClr val="607D8B"/>
                </a:solidFill>
                <a:latin typeface="Calibri" pitchFamily="34" charset="0"/>
                <a:ea typeface="Calibri" pitchFamily="34" charset="-122"/>
                <a:cs typeface="Calibri" pitchFamily="34" charset="-120"/>
              </a:rPr>
              <a:t>You can embed a video your live project.]</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Conclusion</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pPr marL="0" indent="0">
              <a:buNone/>
            </a:pPr>
            <a:r>
              <a:rPr lang="en-US" sz="2000" dirty="0">
                <a:solidFill>
                  <a:srgbClr val="1A1A2E"/>
                </a:solidFill>
                <a:latin typeface="Calibri" pitchFamily="34" charset="0"/>
                <a:ea typeface="Calibri" pitchFamily="34" charset="-122"/>
                <a:cs typeface="Calibri" pitchFamily="34" charset="-120"/>
              </a:rPr>
              <a:t>The study confirms that students have a positive perception of e‑learning systems. High mean scores across TAM constructs demonstrate strong acceptance and intention to use e‑learning platforms. The Power BI dashboard successfully transforms raw survey data into actionable insights, validating the effectiveness of data visualization in educational research. </a:t>
            </a:r>
            <a:endParaRPr lang="en-US" sz="20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Shape 14"/>
          <p:cNvSpPr/>
          <p:nvPr/>
        </p:nvSpPr>
        <p:spPr>
          <a:xfrm>
            <a:off x="5394960" y="1005840"/>
            <a:ext cx="2834640" cy="2834640"/>
          </a:xfrm>
          <a:prstGeom prst="ellipse">
            <a:avLst/>
          </a:prstGeom>
          <a:solidFill>
            <a:srgbClr val="1B3A8A"/>
          </a:solidFill>
          <a:ln/>
        </p:spPr>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a:solidFill>
                  <a:srgbClr val="000000"/>
                </a:solidFill>
              </a:rPr>
              <a:t>✅</a:t>
            </a:r>
            <a:endParaRPr lang="en-US" sz="6000"/>
          </a:p>
        </p:txBody>
      </p:sp>
      <p:sp>
        <p:nvSpPr>
          <p:cNvPr id="18" name="Shape 16"/>
          <p:cNvSpPr/>
          <p:nvPr/>
        </p:nvSpPr>
        <p:spPr>
          <a:xfrm>
            <a:off x="5303520" y="3474720"/>
            <a:ext cx="3017520" cy="502920"/>
          </a:xfrm>
          <a:prstGeom prst="rect">
            <a:avLst/>
          </a:prstGeom>
          <a:solidFill>
            <a:srgbClr val="1565C0"/>
          </a:solidFill>
          <a:ln/>
        </p:spPr>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a:solidFill>
                  <a:srgbClr val="FFFFFF"/>
                </a:solidFill>
                <a:latin typeface="Calibri" pitchFamily="34" charset="0"/>
                <a:ea typeface="Calibri" pitchFamily="34" charset="-122"/>
                <a:cs typeface="Calibri" pitchFamily="34" charset="-120"/>
              </a:rPr>
              <a:t>CONCLUSION</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a:ln/>
        </p:spPr>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pPr marL="0" indent="0">
              <a:buNone/>
            </a:pP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sp>
      <p:sp>
        <p:nvSpPr>
          <p:cNvPr id="16" name="Text 14"/>
          <p:cNvSpPr/>
          <p:nvPr/>
        </p:nvSpPr>
        <p:spPr>
          <a:xfrm>
            <a:off x="4846320" y="914400"/>
            <a:ext cx="3931920" cy="2926080"/>
          </a:xfrm>
          <a:prstGeom prst="rect">
            <a:avLst/>
          </a:prstGeom>
          <a:noFill/>
          <a:ln/>
        </p:spPr>
        <p:txBody>
          <a:bodyPr wrap="square" rtlCol="0" anchor="ctr"/>
          <a:lstStyle/>
          <a:p>
            <a:pPr marL="0" indent="0" algn="ctr">
              <a:buNone/>
            </a:pPr>
            <a:r>
              <a:rPr lang="en-US" sz="10000">
                <a:solidFill>
                  <a:srgbClr val="000000"/>
                </a:solidFill>
              </a:rPr>
              <a:t>🧠</a:t>
            </a:r>
            <a:endParaRPr lang="en-US" sz="10000"/>
          </a:p>
        </p:txBody>
      </p:sp>
      <p:sp>
        <p:nvSpPr>
          <p:cNvPr id="17" name="Text 15"/>
          <p:cNvSpPr/>
          <p:nvPr/>
        </p:nvSpPr>
        <p:spPr>
          <a:xfrm>
            <a:off x="4846320" y="3703320"/>
            <a:ext cx="3931920" cy="320040"/>
          </a:xfrm>
          <a:prstGeom prst="rect">
            <a:avLst/>
          </a:prstGeom>
          <a:noFill/>
          <a:ln/>
        </p:spPr>
        <p:txBody>
          <a:bodyPr wrap="square" rtlCol="0" anchor="ctr"/>
          <a:lstStyle/>
          <a:p>
            <a:pPr marL="0" indent="0" algn="ctr">
              <a:buNone/>
            </a:pPr>
            <a:r>
              <a:rPr lang="en-US" sz="1000" i="1">
                <a:solidFill>
                  <a:srgbClr val="607D8B"/>
                </a:solidFill>
                <a:latin typeface="Calibri" pitchFamily="34" charset="0"/>
                <a:ea typeface="Calibri" pitchFamily="34" charset="-122"/>
                <a:cs typeface="Calibri" pitchFamily="34" charset="-120"/>
              </a:rPr>
              <a:t>[Future ideas &amp; roadmap]</a:t>
            </a:r>
            <a:endParaRPr lang="en-US" sz="1000"/>
          </a:p>
        </p:txBody>
      </p:sp>
      <p:sp>
        <p:nvSpPr>
          <p:cNvPr id="19" name="TextBox 18">
            <a:extLst>
              <a:ext uri="{FF2B5EF4-FFF2-40B4-BE49-F238E27FC236}">
                <a16:creationId xmlns:a16="http://schemas.microsoft.com/office/drawing/2014/main" id="{53E52C99-8564-2724-C683-CEF6F2152EC5}"/>
              </a:ext>
            </a:extLst>
          </p:cNvPr>
          <p:cNvSpPr txBox="1"/>
          <p:nvPr/>
        </p:nvSpPr>
        <p:spPr>
          <a:xfrm>
            <a:off x="320040" y="1084992"/>
            <a:ext cx="4434840" cy="3416320"/>
          </a:xfrm>
          <a:prstGeom prst="rect">
            <a:avLst/>
          </a:prstGeom>
          <a:noFill/>
        </p:spPr>
        <p:txBody>
          <a:bodyPr wrap="square">
            <a:spAutoFit/>
          </a:bodyPr>
          <a:lstStyle/>
          <a:p>
            <a:pPr marL="342900" indent="-342900">
              <a:buFont typeface="Arial" panose="020B0604020202020204" pitchFamily="34" charset="0"/>
              <a:buChar char="•"/>
            </a:pPr>
            <a:r>
              <a:rPr lang="en-US" sz="2400" dirty="0"/>
              <a:t>Inclusion of faculty and administrative perspectives</a:t>
            </a:r>
          </a:p>
          <a:p>
            <a:pPr marL="342900" indent="-342900">
              <a:buFont typeface="Arial" panose="020B0604020202020204" pitchFamily="34" charset="0"/>
              <a:buChar char="•"/>
            </a:pPr>
            <a:r>
              <a:rPr lang="en-US" sz="2400" dirty="0"/>
              <a:t>Longitudinal analysis to track changes over time</a:t>
            </a:r>
          </a:p>
          <a:p>
            <a:pPr marL="342900" indent="-342900">
              <a:buFont typeface="Arial" panose="020B0604020202020204" pitchFamily="34" charset="0"/>
              <a:buChar char="•"/>
            </a:pPr>
            <a:r>
              <a:rPr lang="en-US" sz="2400" dirty="0"/>
              <a:t>Integration with LMS usage logs</a:t>
            </a:r>
          </a:p>
          <a:p>
            <a:pPr marL="342900" indent="-342900">
              <a:buFont typeface="Arial" panose="020B0604020202020204" pitchFamily="34" charset="0"/>
              <a:buChar char="•"/>
            </a:pPr>
            <a:r>
              <a:rPr lang="en-US" sz="2400" dirty="0"/>
              <a:t>Application of advanced analytics and machine learning models</a:t>
            </a:r>
            <a:endParaRPr lang="en-IN"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a:solidFill>
                  <a:srgbClr val="607D8B"/>
                </a:solidFill>
                <a:latin typeface="Calibri"/>
                <a:ea typeface="Calibri"/>
                <a:cs typeface="Calibri"/>
              </a:rPr>
              <a:t>  LinkedIn  |   Edunet Foundation</a:t>
            </a:r>
            <a:endParaRPr lang="en-US" sz="1100"/>
          </a:p>
        </p:txBody>
      </p:sp>
      <p:sp>
        <p:nvSpPr>
          <p:cNvPr id="7" name="Shape 5"/>
          <p:cNvSpPr/>
          <p:nvPr/>
        </p:nvSpPr>
        <p:spPr>
          <a:xfrm>
            <a:off x="0" y="4983480"/>
            <a:ext cx="9144000" cy="160020"/>
          </a:xfrm>
          <a:prstGeom prst="rect">
            <a:avLst/>
          </a:prstGeom>
          <a:solidFill>
            <a:srgbClr val="1B3A8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318</TotalTime>
  <Words>1193</Words>
  <Application>Microsoft Office PowerPoint</Application>
  <PresentationFormat>On-screen Show (16:9)</PresentationFormat>
  <Paragraphs>212</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preeti singh</cp:lastModifiedBy>
  <cp:revision>6</cp:revision>
  <dcterms:created xsi:type="dcterms:W3CDTF">2026-02-18T09:17:23Z</dcterms:created>
  <dcterms:modified xsi:type="dcterms:W3CDTF">2026-04-14T11:06:38Z</dcterms:modified>
</cp:coreProperties>
</file>